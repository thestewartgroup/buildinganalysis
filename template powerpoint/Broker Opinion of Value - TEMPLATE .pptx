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7315200" cy="9601200"/>
  <p:embeddedFontLst>
    <p:embeddedFont>
      <p:font typeface="Poppins"/>
      <p:regular r:id="rId18"/>
      <p:bold r:id="rId19"/>
      <p:italic r:id="rId20"/>
      <p:boldItalic r:id="rId21"/>
    </p:embeddedFont>
    <p:embeddedFont>
      <p:font typeface="Quattrocento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80">
          <p15:clr>
            <a:srgbClr val="A4A3A4"/>
          </p15:clr>
        </p15:guide>
        <p15:guide id="2" pos="2880">
          <p15:clr>
            <a:srgbClr val="A4A3A4"/>
          </p15:clr>
        </p15:guide>
        <p15:guide id="3" pos="2976">
          <p15:clr>
            <a:srgbClr val="A4A3A4"/>
          </p15:clr>
        </p15:guide>
        <p15:guide id="4" orient="horz" pos="2352">
          <p15:clr>
            <a:srgbClr val="A4A3A4"/>
          </p15:clr>
        </p15:guide>
        <p15:guide id="5" orient="horz" pos="3048">
          <p15:clr>
            <a:srgbClr val="A4A3A4"/>
          </p15:clr>
        </p15:guide>
        <p15:guide id="6" orient="horz" pos="3744">
          <p15:clr>
            <a:srgbClr val="A4A3A4"/>
          </p15:clr>
        </p15:guide>
      </p15:sldGuideLst>
    </p:ext>
    <p:ext uri="GoogleSlidesCustomDataVersion2">
      <go:slidesCustomData xmlns:go="http://customooxmlschemas.google.com/" r:id="rId26" roundtripDataSignature="AMtx7mg/c6CAGoSU8fDaP8KXh5aXvsH4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80" orient="horz"/>
        <p:guide pos="2880"/>
        <p:guide pos="2976"/>
        <p:guide pos="2352" orient="horz"/>
        <p:guide pos="3048" orient="horz"/>
        <p:guide pos="374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QuattrocentoSans-regular.fntdata"/><Relationship Id="rId21" Type="http://schemas.openxmlformats.org/officeDocument/2006/relationships/font" Target="fonts/Poppins-boldItalic.fntdata"/><Relationship Id="rId24" Type="http://schemas.openxmlformats.org/officeDocument/2006/relationships/font" Target="fonts/QuattrocentoSans-italic.fntdata"/><Relationship Id="rId23" Type="http://schemas.openxmlformats.org/officeDocument/2006/relationships/font" Target="fonts/Quattrocento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Quattrocento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1727"/>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1727"/>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12" name="Google Shape;112;p2: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2" name="Google Shape;122;p3: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31" name="Google Shape;131;p4: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0" name="Google Shape;140;p5: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70" name="Google Shape;170;p8: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79" name="Google Shape;179;p9: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98" name="Google Shape;198;p11: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7"/>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0"/>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20"/>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0"/>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2" name="Google Shape;52;p2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 name="Google Shape;53;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p:nvPr>
            <p:ph idx="2" type="pic"/>
          </p:nvPr>
        </p:nvSpPr>
        <p:spPr>
          <a:xfrm>
            <a:off x="3887391" y="987426"/>
            <a:ext cx="4629150" cy="4873625"/>
          </a:xfrm>
          <a:prstGeom prst="rect">
            <a:avLst/>
          </a:prstGeom>
          <a:noFill/>
          <a:ln>
            <a:noFill/>
          </a:ln>
        </p:spPr>
      </p:sp>
      <p:sp>
        <p:nvSpPr>
          <p:cNvPr id="58" name="Google Shape;58;p2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1" name="Shape 61"/>
        <p:cNvGrpSpPr/>
        <p:nvPr/>
      </p:nvGrpSpPr>
      <p:grpSpPr>
        <a:xfrm>
          <a:off x="0" y="0"/>
          <a:ext cx="0" cy="0"/>
          <a:chOff x="0" y="0"/>
          <a:chExt cx="0" cy="0"/>
        </a:xfrm>
      </p:grpSpPr>
      <p:sp>
        <p:nvSpPr>
          <p:cNvPr id="62" name="Google Shape;62;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5" name="Shape 75"/>
        <p:cNvGrpSpPr/>
        <p:nvPr/>
      </p:nvGrpSpPr>
      <p:grpSpPr>
        <a:xfrm>
          <a:off x="0" y="0"/>
          <a:ext cx="0" cy="0"/>
          <a:chOff x="0" y="0"/>
          <a:chExt cx="0" cy="0"/>
        </a:xfrm>
      </p:grpSpPr>
      <p:sp>
        <p:nvSpPr>
          <p:cNvPr id="76" name="Google Shape;76;p15"/>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77">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5"/>
          <p:cNvSpPr txBox="1"/>
          <p:nvPr>
            <p:ph idx="1" type="body"/>
          </p:nvPr>
        </p:nvSpPr>
        <p:spPr>
          <a:xfrm>
            <a:off x="2119239" y="3235138"/>
            <a:ext cx="4905523" cy="244362"/>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588">
                <a:solidFill>
                  <a:srgbClr val="002D5B"/>
                </a:solidFill>
                <a:latin typeface="Poppins"/>
                <a:ea typeface="Poppins"/>
                <a:cs typeface="Poppins"/>
                <a:sym typeface="Poppin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9" name="Google Shape;79;p15"/>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0" name="Shape 80"/>
        <p:cNvGrpSpPr/>
        <p:nvPr/>
      </p:nvGrpSpPr>
      <p:grpSpPr>
        <a:xfrm>
          <a:off x="0" y="0"/>
          <a:ext cx="0" cy="0"/>
          <a:chOff x="0" y="0"/>
          <a:chExt cx="0" cy="0"/>
        </a:xfrm>
      </p:grpSpPr>
      <p:sp>
        <p:nvSpPr>
          <p:cNvPr id="81" name="Google Shape;81;p16"/>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6"/>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 name="Shape 83"/>
        <p:cNvGrpSpPr/>
        <p:nvPr/>
      </p:nvGrpSpPr>
      <p:grpSpPr>
        <a:xfrm>
          <a:off x="0" y="0"/>
          <a:ext cx="0" cy="0"/>
          <a:chOff x="0" y="0"/>
          <a:chExt cx="0" cy="0"/>
        </a:xfrm>
      </p:grpSpPr>
      <p:sp>
        <p:nvSpPr>
          <p:cNvPr id="84" name="Google Shape;84;p27"/>
          <p:cNvSpPr txBox="1"/>
          <p:nvPr>
            <p:ph type="ctrTitle"/>
          </p:nvPr>
        </p:nvSpPr>
        <p:spPr>
          <a:xfrm>
            <a:off x="685800" y="2125980"/>
            <a:ext cx="7772400" cy="55399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 type="subTitle"/>
          </p:nvPr>
        </p:nvSpPr>
        <p:spPr>
          <a:xfrm>
            <a:off x="1371600" y="3840480"/>
            <a:ext cx="640080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7" name="Shape 87"/>
        <p:cNvGrpSpPr/>
        <p:nvPr/>
      </p:nvGrpSpPr>
      <p:grpSpPr>
        <a:xfrm>
          <a:off x="0" y="0"/>
          <a:ext cx="0" cy="0"/>
          <a:chOff x="0" y="0"/>
          <a:chExt cx="0" cy="0"/>
        </a:xfrm>
      </p:grpSpPr>
      <p:sp>
        <p:nvSpPr>
          <p:cNvPr id="88" name="Google Shape;88;p28"/>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77">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8"/>
          <p:cNvSpPr txBox="1"/>
          <p:nvPr>
            <p:ph idx="1" type="body"/>
          </p:nvPr>
        </p:nvSpPr>
        <p:spPr>
          <a:xfrm>
            <a:off x="457200" y="1577340"/>
            <a:ext cx="3977640"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0" name="Google Shape;90;p28"/>
          <p:cNvSpPr txBox="1"/>
          <p:nvPr>
            <p:ph idx="2" type="body"/>
          </p:nvPr>
        </p:nvSpPr>
        <p:spPr>
          <a:xfrm>
            <a:off x="5183022" y="2187192"/>
            <a:ext cx="3505776" cy="149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971">
                <a:solidFill>
                  <a:srgbClr val="002D5B"/>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1" name="Google Shape;91;p28"/>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2" name="Google Shape;92;p28"/>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3" name="Shape 93"/>
        <p:cNvGrpSpPr/>
        <p:nvPr/>
      </p:nvGrpSpPr>
      <p:grpSpPr>
        <a:xfrm>
          <a:off x="0" y="0"/>
          <a:ext cx="0" cy="0"/>
          <a:chOff x="0" y="0"/>
          <a:chExt cx="0" cy="0"/>
        </a:xfrm>
      </p:grpSpPr>
      <p:sp>
        <p:nvSpPr>
          <p:cNvPr id="94" name="Google Shape;94;p29"/>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77">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6" name="Google Shape;96;p29"/>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nvSpPr>
        <p:spPr>
          <a:xfrm>
            <a:off x="6629400" y="6497479"/>
            <a:ext cx="2103120" cy="246221"/>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1F325C"/>
              </a:buClr>
              <a:buSzPts val="1600"/>
              <a:buFont typeface="Times New Roman"/>
              <a:buNone/>
            </a:pPr>
            <a:fld id="{00000000-1234-1234-1234-123412341234}" type="slidenum">
              <a:rPr b="1" i="0" lang="en-US" sz="1600" u="none" cap="none" strike="noStrike">
                <a:solidFill>
                  <a:srgbClr val="1F325C"/>
                </a:solidFill>
                <a:latin typeface="Times New Roman"/>
                <a:ea typeface="Times New Roman"/>
                <a:cs typeface="Times New Roman"/>
                <a:sym typeface="Times New Roman"/>
              </a:rPr>
              <a:t>‹#›</a:t>
            </a:fld>
            <a:endParaRPr b="1" i="0" sz="1600" u="none" cap="none" strike="noStrike">
              <a:solidFill>
                <a:srgbClr val="1F325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5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4"/>
          <p:cNvSpPr txBox="1"/>
          <p:nvPr>
            <p:ph type="title"/>
          </p:nvPr>
        </p:nvSpPr>
        <p:spPr>
          <a:xfrm>
            <a:off x="3169551" y="2524236"/>
            <a:ext cx="2804896" cy="553998"/>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4"/>
          <p:cNvSpPr txBox="1"/>
          <p:nvPr>
            <p:ph idx="1" type="body"/>
          </p:nvPr>
        </p:nvSpPr>
        <p:spPr>
          <a:xfrm>
            <a:off x="2119239" y="3235138"/>
            <a:ext cx="4905523" cy="27699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800" u="none" cap="none" strike="noStrike">
                <a:solidFill>
                  <a:srgbClr val="002D5B"/>
                </a:solidFill>
                <a:latin typeface="Poppins"/>
                <a:ea typeface="Poppins"/>
                <a:cs typeface="Poppins"/>
                <a:sym typeface="Poppin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74" name="Google Shape;74;p14"/>
          <p:cNvSpPr txBox="1"/>
          <p:nvPr/>
        </p:nvSpPr>
        <p:spPr>
          <a:xfrm>
            <a:off x="6629400" y="6497479"/>
            <a:ext cx="2103120" cy="246221"/>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1F325C"/>
              </a:buClr>
              <a:buSzPts val="1600"/>
              <a:buFont typeface="Times New Roman"/>
              <a:buNone/>
            </a:pPr>
            <a:fld id="{00000000-1234-1234-1234-123412341234}" type="slidenum">
              <a:rPr b="1" i="0" lang="en-US" sz="1600" u="none" cap="none" strike="noStrike">
                <a:solidFill>
                  <a:srgbClr val="1F325C"/>
                </a:solidFill>
                <a:latin typeface="Times New Roman"/>
                <a:ea typeface="Times New Roman"/>
                <a:cs typeface="Times New Roman"/>
                <a:sym typeface="Times New Roman"/>
              </a:rPr>
              <a:t>‹#›</a:t>
            </a:fld>
            <a:endParaRPr b="1" i="0" sz="1600" u="none" cap="none" strike="noStrike">
              <a:solidFill>
                <a:srgbClr val="1F325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mc:AlternateContent>
    <mc:Choice Requires="p14">
      <p:transition spd="slow" p14:dur="15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p:nvPr/>
        </p:nvSpPr>
        <p:spPr>
          <a:xfrm flipH="1" rot="10800000">
            <a:off x="4345864" y="72734"/>
            <a:ext cx="370500" cy="71176"/>
          </a:xfrm>
          <a:custGeom>
            <a:rect b="b" l="l" r="r" t="t"/>
            <a:pathLst>
              <a:path extrusionOk="0" h="120000" w="402590">
                <a:moveTo>
                  <a:pt x="0" y="0"/>
                </a:moveTo>
                <a:lnTo>
                  <a:pt x="402437" y="0"/>
                </a:lnTo>
              </a:path>
            </a:pathLst>
          </a:custGeom>
          <a:noFill/>
          <a:ln cap="flat" cmpd="sng" w="2080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02" name="Google Shape;102;p1"/>
          <p:cNvSpPr txBox="1"/>
          <p:nvPr/>
        </p:nvSpPr>
        <p:spPr>
          <a:xfrm>
            <a:off x="1736451" y="268474"/>
            <a:ext cx="6149991" cy="226759"/>
          </a:xfrm>
          <a:prstGeom prst="rect">
            <a:avLst/>
          </a:prstGeom>
          <a:noFill/>
          <a:ln>
            <a:noFill/>
          </a:ln>
        </p:spPr>
        <p:txBody>
          <a:bodyPr anchorCtr="0" anchor="t" bIns="0" lIns="0" spcFirstLastPara="1" rIns="0" wrap="square" tIns="11200">
            <a:spAutoFit/>
          </a:bodyPr>
          <a:lstStyle/>
          <a:p>
            <a:pPr indent="0" lvl="0" marL="10795" marR="0" rtl="0" algn="ctr">
              <a:lnSpc>
                <a:spcPct val="100000"/>
              </a:lnSpc>
              <a:spcBef>
                <a:spcPts val="0"/>
              </a:spcBef>
              <a:spcAft>
                <a:spcPts val="0"/>
              </a:spcAft>
              <a:buClr>
                <a:srgbClr val="000000"/>
              </a:buClr>
              <a:buSzPts val="1400"/>
              <a:buFont typeface="Arial"/>
              <a:buNone/>
            </a:pPr>
            <a:r>
              <a:rPr b="0" i="0" lang="en-US" sz="1400" u="none" cap="none" strike="noStrike">
                <a:solidFill>
                  <a:srgbClr val="002D5B"/>
                </a:solidFill>
                <a:latin typeface="Times New Roman"/>
                <a:ea typeface="Times New Roman"/>
                <a:cs typeface="Times New Roman"/>
                <a:sym typeface="Times New Roman"/>
              </a:rPr>
              <a:t>BROKER OPINION OF VALUE</a:t>
            </a:r>
            <a:endParaRPr b="0" i="0" sz="1400" u="none" cap="none" strike="noStrike">
              <a:solidFill>
                <a:srgbClr val="000000"/>
              </a:solidFill>
              <a:latin typeface="Calibri"/>
              <a:ea typeface="Calibri"/>
              <a:cs typeface="Calibri"/>
              <a:sym typeface="Calibri"/>
            </a:endParaRPr>
          </a:p>
        </p:txBody>
      </p:sp>
      <p:sp>
        <p:nvSpPr>
          <p:cNvPr id="103" name="Google Shape;103;p1"/>
          <p:cNvSpPr/>
          <p:nvPr/>
        </p:nvSpPr>
        <p:spPr>
          <a:xfrm>
            <a:off x="1" y="5867400"/>
            <a:ext cx="9144000" cy="991048"/>
          </a:xfrm>
          <a:custGeom>
            <a:rect b="b" l="l" r="r" t="t"/>
            <a:pathLst>
              <a:path extrusionOk="0" h="1765300" w="7516495">
                <a:moveTo>
                  <a:pt x="7516368" y="0"/>
                </a:moveTo>
                <a:lnTo>
                  <a:pt x="0" y="0"/>
                </a:lnTo>
                <a:lnTo>
                  <a:pt x="0" y="1764792"/>
                </a:lnTo>
                <a:lnTo>
                  <a:pt x="7516368" y="1764791"/>
                </a:lnTo>
                <a:lnTo>
                  <a:pt x="7516368" y="0"/>
                </a:lnTo>
                <a:close/>
              </a:path>
            </a:pathLst>
          </a:custGeom>
          <a:solidFill>
            <a:srgbClr val="000D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pic>
        <p:nvPicPr>
          <p:cNvPr descr="A close up of a logo&#10;&#10;Description generated with very high confidence" id="104" name="Google Shape;104;p1"/>
          <p:cNvPicPr preferRelativeResize="0"/>
          <p:nvPr/>
        </p:nvPicPr>
        <p:blipFill rotWithShape="1">
          <a:blip r:embed="rId3">
            <a:alphaModFix/>
          </a:blip>
          <a:srcRect b="0" l="0" r="0" t="0"/>
          <a:stretch/>
        </p:blipFill>
        <p:spPr>
          <a:xfrm>
            <a:off x="3532726" y="5981895"/>
            <a:ext cx="2088619" cy="765302"/>
          </a:xfrm>
          <a:prstGeom prst="rect">
            <a:avLst/>
          </a:prstGeom>
          <a:noFill/>
          <a:ln>
            <a:noFill/>
          </a:ln>
        </p:spPr>
      </p:pic>
      <p:pic>
        <p:nvPicPr>
          <p:cNvPr descr="A person in a suit smiling&#10;&#10;AI-generated content may be incorrect." id="105" name="Google Shape;105;p1"/>
          <p:cNvPicPr preferRelativeResize="0"/>
          <p:nvPr/>
        </p:nvPicPr>
        <p:blipFill rotWithShape="1">
          <a:blip r:embed="rId4">
            <a:alphaModFix/>
          </a:blip>
          <a:srcRect b="0" l="0" r="0" t="0"/>
          <a:stretch/>
        </p:blipFill>
        <p:spPr>
          <a:xfrm>
            <a:off x="1469914" y="799537"/>
            <a:ext cx="2670800" cy="1934298"/>
          </a:xfrm>
          <a:prstGeom prst="rect">
            <a:avLst/>
          </a:prstGeom>
          <a:noFill/>
          <a:ln>
            <a:noFill/>
          </a:ln>
        </p:spPr>
      </p:pic>
      <p:pic>
        <p:nvPicPr>
          <p:cNvPr descr="A person in a suit smiling&#10;&#10;AI-generated content may be incorrect." id="106" name="Google Shape;106;p1"/>
          <p:cNvPicPr preferRelativeResize="0"/>
          <p:nvPr/>
        </p:nvPicPr>
        <p:blipFill rotWithShape="1">
          <a:blip r:embed="rId5">
            <a:alphaModFix/>
          </a:blip>
          <a:srcRect b="0" l="0" r="0" t="0"/>
          <a:stretch/>
        </p:blipFill>
        <p:spPr>
          <a:xfrm>
            <a:off x="5130568" y="824993"/>
            <a:ext cx="2645345" cy="1913933"/>
          </a:xfrm>
          <a:prstGeom prst="rect">
            <a:avLst/>
          </a:prstGeom>
          <a:noFill/>
          <a:ln>
            <a:noFill/>
          </a:ln>
        </p:spPr>
      </p:pic>
      <p:pic>
        <p:nvPicPr>
          <p:cNvPr descr="A person with blonde hair wearing a black suit&#10;&#10;AI-generated content may be incorrect." id="107" name="Google Shape;107;p1"/>
          <p:cNvPicPr preferRelativeResize="0"/>
          <p:nvPr/>
        </p:nvPicPr>
        <p:blipFill rotWithShape="1">
          <a:blip r:embed="rId6">
            <a:alphaModFix/>
          </a:blip>
          <a:srcRect b="0" l="0" r="0" t="0"/>
          <a:stretch/>
        </p:blipFill>
        <p:spPr>
          <a:xfrm>
            <a:off x="1469914" y="2836061"/>
            <a:ext cx="2670800" cy="1944482"/>
          </a:xfrm>
          <a:prstGeom prst="rect">
            <a:avLst/>
          </a:prstGeom>
          <a:noFill/>
          <a:ln>
            <a:noFill/>
          </a:ln>
        </p:spPr>
      </p:pic>
      <p:pic>
        <p:nvPicPr>
          <p:cNvPr descr="A person in a suit and tie&#10;&#10;AI-generated content may be incorrect." id="108" name="Google Shape;108;p1"/>
          <p:cNvPicPr preferRelativeResize="0"/>
          <p:nvPr/>
        </p:nvPicPr>
        <p:blipFill rotWithShape="1">
          <a:blip r:embed="rId7">
            <a:alphaModFix/>
          </a:blip>
          <a:srcRect b="0" l="0" r="0" t="0"/>
          <a:stretch/>
        </p:blipFill>
        <p:spPr>
          <a:xfrm>
            <a:off x="5089839" y="2830972"/>
            <a:ext cx="2686071" cy="1949570"/>
          </a:xfrm>
          <a:prstGeom prst="rect">
            <a:avLst/>
          </a:prstGeom>
          <a:noFill/>
          <a:ln>
            <a:noFill/>
          </a:ln>
        </p:spPr>
      </p:pic>
      <p:sp>
        <p:nvSpPr>
          <p:cNvPr id="109" name="Google Shape;109;p1"/>
          <p:cNvSpPr txBox="1"/>
          <p:nvPr/>
        </p:nvSpPr>
        <p:spPr>
          <a:xfrm>
            <a:off x="1502251" y="5176498"/>
            <a:ext cx="6149991" cy="806405"/>
          </a:xfrm>
          <a:prstGeom prst="rect">
            <a:avLst/>
          </a:prstGeom>
          <a:noFill/>
          <a:ln>
            <a:noFill/>
          </a:ln>
        </p:spPr>
        <p:txBody>
          <a:bodyPr anchorCtr="0" anchor="t" bIns="0" lIns="0" spcFirstLastPara="1" rIns="0" wrap="square" tIns="11200">
            <a:spAutoFit/>
          </a:bodyPr>
          <a:lstStyle/>
          <a:p>
            <a:pPr indent="0" lvl="0" marL="10795" marR="0" rtl="0" algn="ctr">
              <a:lnSpc>
                <a:spcPct val="100000"/>
              </a:lnSpc>
              <a:spcBef>
                <a:spcPts val="0"/>
              </a:spcBef>
              <a:spcAft>
                <a:spcPts val="0"/>
              </a:spcAft>
              <a:buClr>
                <a:srgbClr val="000000"/>
              </a:buClr>
              <a:buSzPts val="1800"/>
              <a:buFont typeface="Arial"/>
              <a:buNone/>
            </a:pPr>
            <a:r>
              <a:rPr b="1" i="0" lang="en-US" sz="1800" u="none" cap="none" strike="noStrike">
                <a:solidFill>
                  <a:srgbClr val="002D5B"/>
                </a:solidFill>
                <a:latin typeface="Times New Roman"/>
                <a:ea typeface="Times New Roman"/>
                <a:cs typeface="Times New Roman"/>
                <a:sym typeface="Times New Roman"/>
              </a:rPr>
              <a:t>INPUT ADDRESS</a:t>
            </a:r>
            <a:endParaRPr b="0" i="0" sz="1800" u="none" cap="none" strike="noStrike">
              <a:solidFill>
                <a:schemeClr val="dk1"/>
              </a:solidFill>
              <a:latin typeface="Calibri"/>
              <a:ea typeface="Calibri"/>
              <a:cs typeface="Calibri"/>
              <a:sym typeface="Calibri"/>
            </a:endParaRPr>
          </a:p>
          <a:p>
            <a:pPr indent="0" lvl="0" marL="10795" marR="0" rtl="0" algn="ctr">
              <a:lnSpc>
                <a:spcPct val="100000"/>
              </a:lnSpc>
              <a:spcBef>
                <a:spcPts val="88"/>
              </a:spcBef>
              <a:spcAft>
                <a:spcPts val="0"/>
              </a:spcAft>
              <a:buClr>
                <a:srgbClr val="000000"/>
              </a:buClr>
              <a:buSzPts val="1800"/>
              <a:buFont typeface="Arial"/>
              <a:buNone/>
            </a:pPr>
            <a:r>
              <a:rPr b="1" i="0" lang="en-US" sz="1800" u="none" cap="none" strike="noStrike">
                <a:solidFill>
                  <a:srgbClr val="002D5B"/>
                </a:solidFill>
                <a:latin typeface="Times New Roman"/>
                <a:ea typeface="Times New Roman"/>
                <a:cs typeface="Times New Roman"/>
                <a:sym typeface="Times New Roman"/>
              </a:rPr>
              <a:t>Owner: INPUT NAME</a:t>
            </a:r>
            <a:endParaRPr b="0" i="0" sz="1400" u="none" cap="none" strike="noStrike">
              <a:solidFill>
                <a:srgbClr val="000000"/>
              </a:solidFill>
              <a:latin typeface="Arial"/>
              <a:ea typeface="Arial"/>
              <a:cs typeface="Arial"/>
              <a:sym typeface="Arial"/>
            </a:endParaRPr>
          </a:p>
          <a:p>
            <a:pPr indent="0" lvl="0" marL="10795" marR="0" rtl="0" algn="ctr">
              <a:lnSpc>
                <a:spcPct val="100000"/>
              </a:lnSpc>
              <a:spcBef>
                <a:spcPts val="88"/>
              </a:spcBef>
              <a:spcAft>
                <a:spcPts val="0"/>
              </a:spcAft>
              <a:buClr>
                <a:srgbClr val="000000"/>
              </a:buClr>
              <a:buSzPts val="1400"/>
              <a:buFont typeface="Arial"/>
              <a:buNone/>
            </a:pPr>
            <a:r>
              <a:t/>
            </a:r>
            <a:endParaRPr b="1" i="0" sz="1400" u="none" cap="none" strike="noStrike">
              <a:solidFill>
                <a:srgbClr val="002D5B"/>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2"/>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15" name="Google Shape;115;p2"/>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SzPts val="1400"/>
              <a:buNone/>
            </a:pPr>
            <a:r>
              <a:rPr lang="en-US" sz="3200">
                <a:latin typeface="Times New Roman"/>
                <a:ea typeface="Times New Roman"/>
                <a:cs typeface="Times New Roman"/>
                <a:sym typeface="Times New Roman"/>
              </a:rPr>
              <a:t>Corporate &amp; Team Background</a:t>
            </a:r>
            <a:endParaRPr sz="3200">
              <a:latin typeface="Times New Roman"/>
              <a:ea typeface="Times New Roman"/>
              <a:cs typeface="Times New Roman"/>
              <a:sym typeface="Times New Roman"/>
            </a:endParaRPr>
          </a:p>
        </p:txBody>
      </p:sp>
      <p:pic>
        <p:nvPicPr>
          <p:cNvPr descr="A close up of a logo&#10;&#10;Description generated with very high confidence" id="116" name="Google Shape;116;p2"/>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17" name="Google Shape;117;p2"/>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18" name="Google Shape;118;p2"/>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119" name="Google Shape;119;p2"/>
          <p:cNvSpPr txBox="1"/>
          <p:nvPr/>
        </p:nvSpPr>
        <p:spPr>
          <a:xfrm>
            <a:off x="8597347" y="6438347"/>
            <a:ext cx="29817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22651"/>
                </a:solidFill>
                <a:latin typeface="Times New Roman"/>
                <a:ea typeface="Times New Roman"/>
                <a:cs typeface="Times New Roman"/>
                <a:sym typeface="Times New Roman"/>
              </a:rPr>
              <a:t>2</a:t>
            </a:r>
            <a:endParaRPr b="1" i="0" sz="1600" u="none" cap="none" strike="noStrike">
              <a:solidFill>
                <a:srgbClr val="02265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367553" y="762000"/>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pic>
        <p:nvPicPr>
          <p:cNvPr descr="A close up of a logo&#10;&#10;Description generated with very high confidence" id="125" name="Google Shape;125;p3"/>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26" name="Google Shape;126;p3"/>
          <p:cNvSpPr txBox="1"/>
          <p:nvPr/>
        </p:nvSpPr>
        <p:spPr>
          <a:xfrm>
            <a:off x="225559" y="906038"/>
            <a:ext cx="8697566" cy="5210928"/>
          </a:xfrm>
          <a:prstGeom prst="rect">
            <a:avLst/>
          </a:prstGeom>
          <a:noFill/>
          <a:ln>
            <a:noFill/>
          </a:ln>
        </p:spPr>
        <p:txBody>
          <a:bodyPr anchorCtr="0" anchor="t" bIns="0" lIns="0" spcFirstLastPara="1" rIns="0" wrap="square" tIns="24650">
            <a:spAutoFit/>
          </a:bodyPr>
          <a:lstStyle/>
          <a:p>
            <a:pPr indent="0" lvl="1" marL="342900" marR="0" rtl="0" algn="l">
              <a:lnSpc>
                <a:spcPct val="100000"/>
              </a:lnSpc>
              <a:spcBef>
                <a:spcPts val="0"/>
              </a:spcBef>
              <a:spcAft>
                <a:spcPts val="0"/>
              </a:spcAft>
              <a:buClr>
                <a:srgbClr val="ED7D31"/>
              </a:buClr>
              <a:buSzPts val="2000"/>
              <a:buFont typeface="Times New Roman"/>
              <a:buNone/>
            </a:pPr>
            <a:r>
              <a:rPr b="1" i="0" lang="en-US" sz="2000" u="sng" cap="none" strike="noStrike">
                <a:solidFill>
                  <a:srgbClr val="000000"/>
                </a:solidFill>
                <a:latin typeface="Times New Roman"/>
                <a:ea typeface="Times New Roman"/>
                <a:cs typeface="Times New Roman"/>
                <a:sym typeface="Times New Roman"/>
              </a:rPr>
              <a:t>Executive Summary</a:t>
            </a:r>
            <a:endParaRPr b="1" i="0" sz="2000" u="sng"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600"/>
              </a:spcBef>
              <a:spcAft>
                <a:spcPts val="0"/>
              </a:spcAft>
              <a:buClr>
                <a:srgbClr val="000000"/>
              </a:buClr>
              <a:buSzPts val="1700"/>
              <a:buFont typeface="Arial"/>
              <a:buNone/>
            </a:pPr>
            <a:r>
              <a:t/>
            </a:r>
            <a:endParaRPr b="1" i="0" sz="1700" u="sng"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60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'The Stewart Group' </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Investment sales team with 30+ years of experience</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125+ building sales transactions totaling $1,000,000,000+</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Our geographical focus is core Manhattan (below 96</a:t>
            </a:r>
            <a:r>
              <a:rPr b="0" baseline="30000" i="0" lang="en-US" sz="1600" u="none" cap="none" strike="noStrike">
                <a:solidFill>
                  <a:srgbClr val="000000"/>
                </a:solidFill>
                <a:latin typeface="Times New Roman"/>
                <a:ea typeface="Times New Roman"/>
                <a:cs typeface="Times New Roman"/>
                <a:sym typeface="Times New Roman"/>
              </a:rPr>
              <a:t>th</a:t>
            </a:r>
            <a:r>
              <a:rPr b="0" i="0" lang="en-US" sz="1600" u="none" cap="none" strike="noStrike">
                <a:solidFill>
                  <a:srgbClr val="000000"/>
                </a:solidFill>
                <a:latin typeface="Times New Roman"/>
                <a:ea typeface="Times New Roman"/>
                <a:cs typeface="Times New Roman"/>
                <a:sym typeface="Times New Roman"/>
              </a:rPr>
              <a:t> Street) with close tracking of all market and transaction activity in each territory/neighborhood</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Multiyear professional and transactional relationships with all building owners, users, developers and potential buyers in the Lower East Side and throughout the city</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Proprietary citywide team database of 10,000+ owners, developers, syndicators, and private/corporate/institutional investors</a:t>
            </a:r>
            <a:endParaRPr b="0" i="0" sz="1600" u="none"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1200"/>
              </a:spcBef>
              <a:spcAft>
                <a:spcPts val="0"/>
              </a:spcAft>
              <a:buClr>
                <a:srgbClr val="ED7D31"/>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Company</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Marcus &amp; Millichap was founded in 1971– taken public in 2013 (NYSE: MMI)</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80+ investment sales brokers in Manhattan; 2000+ brokers in 86 offices in U.S. and Canada </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6,500+ building sales transactions closed in 2024</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2,200+ 1031 exchange transactions closed in 2024</a:t>
            </a:r>
            <a:endParaRPr b="0" i="0" sz="1600" u="none" cap="none" strike="noStrike">
              <a:solidFill>
                <a:srgbClr val="000000"/>
              </a:solidFill>
              <a:latin typeface="Times New Roman"/>
              <a:ea typeface="Times New Roman"/>
              <a:cs typeface="Times New Roman"/>
              <a:sym typeface="Times New Roman"/>
            </a:endParaRPr>
          </a:p>
        </p:txBody>
      </p:sp>
      <p:sp>
        <p:nvSpPr>
          <p:cNvPr id="127" name="Google Shape;127;p3"/>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28" name="Google Shape;128;p3"/>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4"/>
          <p:cNvSpPr txBox="1"/>
          <p:nvPr/>
        </p:nvSpPr>
        <p:spPr>
          <a:xfrm>
            <a:off x="676574" y="2993327"/>
            <a:ext cx="7790852" cy="136960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Times New Roman"/>
                <a:ea typeface="Times New Roman"/>
                <a:cs typeface="Times New Roman"/>
                <a:sym typeface="Times New Roman"/>
              </a:rPr>
              <a:t>John J. Stewart is a Senior Vice President Investments and Associate Broker in Marcus &amp; Millichap’s Manhattan office where he specializes in representing multifamily and commercial real estate owners in building sales transactions in core Manhattan. Since joining M&amp;M in 2005, John has closed over $1 billion of building sales transactions and has earned multiple National Achievement Awards and Chairman’s Club honors which recognizes the top 5% of M&amp;M investment sales brokers nationally.</a:t>
            </a:r>
            <a:endParaRPr b="0" i="0" sz="1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blue and orange rectangular object&#10;&#10;AI-generated content may be incorrect." id="134" name="Google Shape;134;p4"/>
          <p:cNvPicPr preferRelativeResize="0"/>
          <p:nvPr/>
        </p:nvPicPr>
        <p:blipFill rotWithShape="1">
          <a:blip r:embed="rId3">
            <a:alphaModFix/>
          </a:blip>
          <a:srcRect b="0" l="0" r="0" t="0"/>
          <a:stretch/>
        </p:blipFill>
        <p:spPr>
          <a:xfrm>
            <a:off x="0" y="1956"/>
            <a:ext cx="9144000" cy="2917658"/>
          </a:xfrm>
          <a:prstGeom prst="rect">
            <a:avLst/>
          </a:prstGeom>
          <a:noFill/>
          <a:ln>
            <a:noFill/>
          </a:ln>
        </p:spPr>
      </p:pic>
      <p:sp>
        <p:nvSpPr>
          <p:cNvPr id="135" name="Google Shape;135;p4"/>
          <p:cNvSpPr txBox="1"/>
          <p:nvPr/>
        </p:nvSpPr>
        <p:spPr>
          <a:xfrm>
            <a:off x="1065254" y="4382881"/>
            <a:ext cx="3177847" cy="16158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Professional Affiliations: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Real Estate Board of New York</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Community Housing Improvement Program</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Small Property Owners of New York</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Rent Stabilization Association</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Certified Commercial Investment Member</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National Multi Housing Council</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Urban Land Institute</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36" name="Google Shape;136;p4"/>
          <p:cNvSpPr txBox="1"/>
          <p:nvPr/>
        </p:nvSpPr>
        <p:spPr>
          <a:xfrm>
            <a:off x="5275415" y="4666687"/>
            <a:ext cx="2849811" cy="1046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Education: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Collegiate School</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The Hotchkiss School</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Washington and Lee University</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black background with blue lines&#10;&#10;AI-generated content may be incorrect." id="137" name="Google Shape;137;p4"/>
          <p:cNvPicPr preferRelativeResize="0"/>
          <p:nvPr/>
        </p:nvPicPr>
        <p:blipFill rotWithShape="1">
          <a:blip r:embed="rId4">
            <a:alphaModFix/>
          </a:blip>
          <a:srcRect b="0" l="0" r="0" t="0"/>
          <a:stretch/>
        </p:blipFill>
        <p:spPr>
          <a:xfrm>
            <a:off x="451049" y="6127822"/>
            <a:ext cx="1465911" cy="548005"/>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43" name="Google Shape;143;p5"/>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SzPts val="1400"/>
              <a:buNone/>
            </a:pPr>
            <a:r>
              <a:rPr lang="en-US" sz="3200">
                <a:latin typeface="Times New Roman"/>
                <a:ea typeface="Times New Roman"/>
                <a:cs typeface="Times New Roman"/>
                <a:sym typeface="Times New Roman"/>
              </a:rPr>
              <a:t>Pricing Analysis &amp; Marketing Strategy</a:t>
            </a:r>
            <a:endParaRPr sz="3200">
              <a:latin typeface="Times New Roman"/>
              <a:ea typeface="Times New Roman"/>
              <a:cs typeface="Times New Roman"/>
              <a:sym typeface="Times New Roman"/>
            </a:endParaRPr>
          </a:p>
        </p:txBody>
      </p:sp>
      <p:pic>
        <p:nvPicPr>
          <p:cNvPr descr="A close up of a logo&#10;&#10;Description generated with very high confidence" id="144" name="Google Shape;144;p5"/>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45" name="Google Shape;145;p5"/>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46" name="Google Shape;146;p5"/>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p:nvPr/>
        </p:nvSpPr>
        <p:spPr>
          <a:xfrm>
            <a:off x="367553" y="815228"/>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52" name="Google Shape;152;p6"/>
          <p:cNvSpPr txBox="1"/>
          <p:nvPr/>
        </p:nvSpPr>
        <p:spPr>
          <a:xfrm>
            <a:off x="242230" y="935516"/>
            <a:ext cx="8648701" cy="394225"/>
          </a:xfrm>
          <a:prstGeom prst="rect">
            <a:avLst/>
          </a:prstGeom>
          <a:noFill/>
          <a:ln>
            <a:noFill/>
          </a:ln>
        </p:spPr>
        <p:txBody>
          <a:bodyPr anchorCtr="0" anchor="t" bIns="0" lIns="0" spcFirstLastPara="1" rIns="0" wrap="square" tIns="24650">
            <a:spAutoFit/>
          </a:bodyPr>
          <a:lstStyle/>
          <a:p>
            <a:pPr indent="0" lvl="1" marL="342900" marR="0" rtl="0" algn="l">
              <a:lnSpc>
                <a:spcPct val="100000"/>
              </a:lnSpc>
              <a:spcBef>
                <a:spcPts val="0"/>
              </a:spcBef>
              <a:spcAft>
                <a:spcPts val="0"/>
              </a:spcAft>
              <a:buClr>
                <a:srgbClr val="000000"/>
              </a:buClr>
              <a:buSzPts val="2400"/>
              <a:buFont typeface="Arial"/>
              <a:buNone/>
            </a:pPr>
            <a:r>
              <a:rPr b="1" i="0" lang="en-US" sz="2400" u="sng" cap="none" strike="noStrike">
                <a:solidFill>
                  <a:srgbClr val="000000"/>
                </a:solidFill>
                <a:latin typeface="Times New Roman"/>
                <a:ea typeface="Times New Roman"/>
                <a:cs typeface="Times New Roman"/>
                <a:sym typeface="Times New Roman"/>
              </a:rPr>
              <a:t>Key Factors Determining Value</a:t>
            </a:r>
            <a:endParaRPr b="0" i="0" sz="1800" u="none" cap="none" strike="noStrike">
              <a:solidFill>
                <a:srgbClr val="000000"/>
              </a:solidFill>
              <a:latin typeface="Calibri"/>
              <a:ea typeface="Calibri"/>
              <a:cs typeface="Calibri"/>
              <a:sym typeface="Calibri"/>
            </a:endParaRPr>
          </a:p>
        </p:txBody>
      </p:sp>
      <p:pic>
        <p:nvPicPr>
          <p:cNvPr descr="A close up of a logo&#10;&#10;Description generated with very high confidence" id="153" name="Google Shape;153;p6"/>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54" name="Google Shape;154;p6"/>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55" name="Google Shape;155;p6"/>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156" name="Google Shape;156;p6"/>
          <p:cNvSpPr txBox="1"/>
          <p:nvPr/>
        </p:nvSpPr>
        <p:spPr>
          <a:xfrm>
            <a:off x="559134" y="1561729"/>
            <a:ext cx="8027846" cy="51090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Net Operating Income </a:t>
            </a:r>
            <a:endParaRPr b="0" i="0" sz="1800" u="sng" cap="none" strike="noStrike">
              <a:solidFill>
                <a:schemeClr val="dk1"/>
              </a:solidFill>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Current NOI &amp; potential upside is the strongest driver of value</a:t>
            </a:r>
            <a:r>
              <a:rPr b="0" i="0" lang="en-US" sz="1200" u="none" cap="none" strike="noStrike">
                <a:solidFill>
                  <a:schemeClr val="dk1"/>
                </a:solidFill>
                <a:latin typeface="Times New Roman"/>
                <a:ea typeface="Times New Roman"/>
                <a:cs typeface="Times New Roman"/>
                <a:sym typeface="Times New Roman"/>
              </a:rPr>
              <a:t> for most multifamily &amp; mixed-use buildings — buyers price buildings based on current income and potential upside</a:t>
            </a:r>
            <a:endParaRPr b="0" i="0" sz="1200" u="none" cap="none" strike="noStrike">
              <a:solidFill>
                <a:schemeClr val="dk1"/>
              </a:solidFill>
              <a:latin typeface="Times New Roman"/>
              <a:ea typeface="Times New Roman"/>
              <a:cs typeface="Times New Roman"/>
              <a:sym typeface="Times New Roman"/>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Regulatory Factors</a:t>
            </a:r>
            <a:endParaRPr b="0" i="0" sz="1800" u="none" cap="none" strike="noStrike">
              <a:solidFill>
                <a:schemeClr val="dk1"/>
              </a:solidFill>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Good Cause Eviction (10+ units):</a:t>
            </a:r>
            <a:r>
              <a:rPr b="0" i="0" lang="en-US" sz="1200" u="none" cap="none" strike="noStrike">
                <a:solidFill>
                  <a:schemeClr val="dk1"/>
                </a:solidFill>
                <a:latin typeface="Times New Roman"/>
                <a:ea typeface="Times New Roman"/>
                <a:cs typeface="Times New Roman"/>
                <a:sym typeface="Times New Roman"/>
              </a:rPr>
              <a:t> Rent growth capped at </a:t>
            </a:r>
            <a:r>
              <a:rPr b="1" i="0" lang="en-US" sz="1200" u="none" cap="none" strike="noStrike">
                <a:solidFill>
                  <a:schemeClr val="dk1"/>
                </a:solidFill>
                <a:latin typeface="Times New Roman"/>
                <a:ea typeface="Times New Roman"/>
                <a:cs typeface="Times New Roman"/>
                <a:sym typeface="Times New Roman"/>
              </a:rPr>
              <a:t>5% + inflation</a:t>
            </a:r>
            <a:r>
              <a:rPr b="0" i="0" lang="en-US" sz="1200" u="none" cap="none" strike="noStrike">
                <a:solidFill>
                  <a:schemeClr val="dk1"/>
                </a:solidFill>
                <a:latin typeface="Times New Roman"/>
                <a:ea typeface="Times New Roman"/>
                <a:cs typeface="Times New Roman"/>
                <a:sym typeface="Times New Roman"/>
              </a:rPr>
              <a:t> without turnover. Need 'Good Cause' to evict tenant.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Rent‑Stabilized:</a:t>
            </a:r>
            <a:r>
              <a:rPr b="0" i="0" lang="en-US" sz="1200" u="none" cap="none" strike="noStrike">
                <a:solidFill>
                  <a:schemeClr val="dk1"/>
                </a:solidFill>
                <a:latin typeface="Times New Roman"/>
                <a:ea typeface="Times New Roman"/>
                <a:cs typeface="Times New Roman"/>
                <a:sym typeface="Times New Roman"/>
              </a:rPr>
              <a:t> Rent Guidelines Board limits annual increases → capped NOI growth. Caps are 3% for one-year leases and 4.5% fortwo-year leases.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Rent‑Controlled:</a:t>
            </a:r>
            <a:r>
              <a:rPr b="0" i="0" lang="en-US" sz="1200" u="none" cap="none" strike="noStrike">
                <a:solidFill>
                  <a:schemeClr val="dk1"/>
                </a:solidFill>
                <a:latin typeface="Times New Roman"/>
                <a:ea typeface="Times New Roman"/>
                <a:cs typeface="Times New Roman"/>
                <a:sym typeface="Times New Roman"/>
              </a:rPr>
              <a:t> Low growth during tenancy; big upside at vacancy via new first rent.</a:t>
            </a:r>
            <a:endParaRPr b="0" i="0" sz="1200" u="none" cap="none" strike="noStrike">
              <a:solidFill>
                <a:schemeClr val="dk1"/>
              </a:solidFill>
              <a:latin typeface="Calibri"/>
              <a:ea typeface="Calibri"/>
              <a:cs typeface="Calibri"/>
              <a:sym typeface="Calibri"/>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Other Contributing Factors</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Quality of Paperwork</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Clean record of leases are needed to confirm free market status</a:t>
            </a:r>
            <a:endParaRPr b="0" i="0" sz="12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Bad paperwork increases risk and lowers value.</a:t>
            </a:r>
            <a:endParaRPr b="0" i="0" sz="12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Times New Roman"/>
                <a:ea typeface="Times New Roman"/>
                <a:cs typeface="Times New Roman"/>
                <a:sym typeface="Times New Roman"/>
              </a:rPr>
              <a:t>Retail Income </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Strong, long‑term leases boost value and improve rates for any buyer applying for loan.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Weak or short leases hurt pricing and financing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Times New Roman"/>
                <a:ea typeface="Times New Roman"/>
                <a:cs typeface="Times New Roman"/>
                <a:sym typeface="Times New Roman"/>
              </a:rPr>
              <a:t>Physical &amp; Operational Factors</a:t>
            </a:r>
            <a:endParaRPr b="0" i="0" sz="1800" u="none" cap="none" strike="noStrike">
              <a:solidFill>
                <a:schemeClr val="dk1"/>
              </a:solidFill>
              <a:latin typeface="Times New Roman"/>
              <a:ea typeface="Times New Roman"/>
              <a:cs typeface="Times New Roman"/>
              <a:sym typeface="Times New Roman"/>
            </a:endParaRPr>
          </a:p>
          <a:p>
            <a:pPr indent="-171450" lvl="1" marL="6286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Location:</a:t>
            </a:r>
            <a:r>
              <a:rPr b="0" i="0" lang="en-US" sz="1200" u="none" cap="none" strike="noStrike">
                <a:solidFill>
                  <a:schemeClr val="dk1"/>
                </a:solidFill>
                <a:latin typeface="Times New Roman"/>
                <a:ea typeface="Times New Roman"/>
                <a:cs typeface="Times New Roman"/>
                <a:sym typeface="Times New Roman"/>
              </a:rPr>
              <a:t> Pricing on a PSF basis varies heavily depending on location.</a:t>
            </a:r>
            <a:endParaRPr b="0" i="0" sz="1400" u="none" cap="none" strike="noStrike">
              <a:solidFill>
                <a:srgbClr val="000000"/>
              </a:solidFill>
              <a:latin typeface="Arial"/>
              <a:ea typeface="Arial"/>
              <a:cs typeface="Arial"/>
              <a:sym typeface="Arial"/>
            </a:endParaRPr>
          </a:p>
          <a:p>
            <a:pPr indent="-171450" lvl="1" marL="6286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Condition:</a:t>
            </a:r>
            <a:r>
              <a:rPr b="0" i="0" lang="en-US" sz="1200" u="none" cap="none" strike="noStrike">
                <a:solidFill>
                  <a:schemeClr val="dk1"/>
                </a:solidFill>
                <a:latin typeface="Times New Roman"/>
                <a:ea typeface="Times New Roman"/>
                <a:cs typeface="Times New Roman"/>
                <a:sym typeface="Times New Roman"/>
              </a:rPr>
              <a:t> Finished product pricing versus pricing based more on upside potential</a:t>
            </a:r>
            <a:endParaRPr b="0" i="0" sz="1200" u="none" cap="none" strike="noStrike">
              <a:solidFill>
                <a:schemeClr val="dk1"/>
              </a:solidFill>
              <a:latin typeface="Calibri"/>
              <a:ea typeface="Calibri"/>
              <a:cs typeface="Calibri"/>
              <a:sym typeface="Calibri"/>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95250" lvl="0" marL="171450" marR="0" rtl="0" algn="l">
              <a:lnSpc>
                <a:spcPct val="100000"/>
              </a:lnSpc>
              <a:spcBef>
                <a:spcPts val="0"/>
              </a:spcBef>
              <a:spcAft>
                <a:spcPts val="0"/>
              </a:spcAft>
              <a:buClr>
                <a:schemeClr val="dk1"/>
              </a:buClr>
              <a:buSzPts val="1200"/>
              <a:buFont typeface="Noto Sans Symbols"/>
              <a:buNone/>
            </a:pPr>
            <a:r>
              <a:t/>
            </a:r>
            <a:endParaRPr b="1" i="0" sz="1200" u="none" cap="none" strike="noStrike">
              <a:solidFill>
                <a:schemeClr val="dk1"/>
              </a:solidFill>
              <a:latin typeface="Times New Roman"/>
              <a:ea typeface="Times New Roman"/>
              <a:cs typeface="Times New Roman"/>
              <a:sym typeface="Times New Roman"/>
            </a:endParaRPr>
          </a:p>
          <a:p>
            <a:pPr indent="-95250" lvl="0" marL="171450" marR="0" rtl="0" algn="l">
              <a:lnSpc>
                <a:spcPct val="100000"/>
              </a:lnSpc>
              <a:spcBef>
                <a:spcPts val="0"/>
              </a:spcBef>
              <a:spcAft>
                <a:spcPts val="0"/>
              </a:spcAft>
              <a:buClr>
                <a:schemeClr val="dk1"/>
              </a:buClr>
              <a:buSzPts val="1200"/>
              <a:buFont typeface="Noto Sans Symbols"/>
              <a:buNone/>
            </a:pPr>
            <a:r>
              <a:t/>
            </a:r>
            <a:endParaRPr b="1" i="0" sz="12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p:nvPr/>
        </p:nvSpPr>
        <p:spPr>
          <a:xfrm>
            <a:off x="367553" y="762000"/>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pic>
        <p:nvPicPr>
          <p:cNvPr descr="A close up of a logo&#10;&#10;Description generated with very high confidence" id="162" name="Google Shape;162;p7"/>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63" name="Google Shape;163;p7"/>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64" name="Google Shape;164;p7"/>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165" name="Google Shape;165;p7"/>
          <p:cNvSpPr txBox="1"/>
          <p:nvPr/>
        </p:nvSpPr>
        <p:spPr>
          <a:xfrm>
            <a:off x="485913" y="977348"/>
            <a:ext cx="342347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Times New Roman"/>
                <a:ea typeface="Times New Roman"/>
                <a:cs typeface="Times New Roman"/>
                <a:sym typeface="Times New Roman"/>
              </a:rPr>
              <a:t>Pricing Analysis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7"/>
          <p:cNvSpPr txBox="1"/>
          <p:nvPr/>
        </p:nvSpPr>
        <p:spPr>
          <a:xfrm>
            <a:off x="369954" y="1700694"/>
            <a:ext cx="5991000" cy="484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1" lang="en-US" sz="1600" u="none" cap="none" strike="noStrike">
                <a:solidFill>
                  <a:schemeClr val="dk1"/>
                </a:solidFill>
                <a:latin typeface="Times New Roman"/>
                <a:ea typeface="Times New Roman"/>
                <a:cs typeface="Times New Roman"/>
                <a:sym typeface="Times New Roman"/>
              </a:rPr>
              <a:t>Pricing range is determined based on current NOI &amp; Legal Status / Regulatory factors.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1" sz="1600" u="none" cap="none" strike="noStrike">
              <a:solidFill>
                <a:schemeClr val="dk1"/>
              </a:solidFill>
              <a:latin typeface="Times New Roman"/>
              <a:ea typeface="Times New Roman"/>
              <a:cs typeface="Times New Roman"/>
              <a:sym typeface="Times New Roman"/>
            </a:endParaRPr>
          </a:p>
          <a:p>
            <a:pPr indent="-196850" lvl="0" marL="285750" marR="0" rtl="0" algn="l">
              <a:lnSpc>
                <a:spcPct val="100000"/>
              </a:lnSpc>
              <a:spcBef>
                <a:spcPts val="0"/>
              </a:spcBef>
              <a:spcAft>
                <a:spcPts val="0"/>
              </a:spcAft>
              <a:buClr>
                <a:schemeClr val="dk1"/>
              </a:buClr>
              <a:buSzPts val="1400"/>
              <a:buFont typeface="Noto Sans Symbols"/>
              <a:buNone/>
            </a:pPr>
            <a:r>
              <a:t/>
            </a:r>
            <a:endParaRPr b="1" i="1"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Price Range</a:t>
            </a:r>
            <a:r>
              <a:rPr b="1" i="0" lang="en-US" sz="1600" u="none" cap="none" strike="noStrike">
                <a:solidFill>
                  <a:schemeClr val="dk1"/>
                </a:solidFill>
                <a:latin typeface="Calibri"/>
                <a:ea typeface="Calibri"/>
                <a:cs typeface="Calibri"/>
                <a:sym typeface="Calibri"/>
              </a:rPr>
              <a:t>      </a:t>
            </a:r>
            <a:endParaRPr b="1" i="0" sz="16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600"/>
              <a:buFont typeface="Noto Sans Symbols"/>
              <a:buChar char="⮚"/>
            </a:pPr>
            <a:r>
              <a:rPr b="1" i="0" lang="en-US" sz="1600" u="none" cap="none" strike="noStrike">
                <a:solidFill>
                  <a:schemeClr val="dk1"/>
                </a:solidFill>
                <a:latin typeface="Times New Roman"/>
                <a:ea typeface="Times New Roman"/>
                <a:cs typeface="Times New Roman"/>
                <a:sym typeface="Times New Roman"/>
              </a:rPr>
              <a:t>INPUT RANGE (HIGH TO LOW)                   </a:t>
            </a:r>
            <a:endParaRPr b="0"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Deliverables of Sales Process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Offers in Writing:</a:t>
            </a:r>
            <a:r>
              <a:rPr b="1" i="0" lang="en-US" sz="1600" u="none" cap="none" strike="noStrike">
                <a:solidFill>
                  <a:schemeClr val="dk1"/>
                </a:solidFill>
                <a:latin typeface="Times New Roman"/>
                <a:ea typeface="Times New Roman"/>
                <a:cs typeface="Times New Roman"/>
                <a:sym typeface="Times New Roman"/>
              </a:rPr>
              <a:t> 5-10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Property Tours:</a:t>
            </a:r>
            <a:r>
              <a:rPr b="1" i="0" lang="en-US" sz="1600" u="none" cap="none" strike="noStrike">
                <a:solidFill>
                  <a:schemeClr val="dk1"/>
                </a:solidFill>
                <a:latin typeface="Times New Roman"/>
                <a:ea typeface="Times New Roman"/>
                <a:cs typeface="Times New Roman"/>
                <a:sym typeface="Times New Roman"/>
              </a:rPr>
              <a:t> 10-15</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Typical Transaction Timeline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Signed Contract: </a:t>
            </a:r>
            <a:r>
              <a:rPr b="1" i="0" lang="en-US" sz="1600" u="none" cap="none" strike="noStrike">
                <a:solidFill>
                  <a:schemeClr val="dk1"/>
                </a:solidFill>
                <a:latin typeface="Times New Roman"/>
                <a:ea typeface="Times New Roman"/>
                <a:cs typeface="Times New Roman"/>
                <a:sym typeface="Times New Roman"/>
              </a:rPr>
              <a:t>2 – 4 months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Closed Sale: </a:t>
            </a:r>
            <a:r>
              <a:rPr b="1" i="0" lang="en-US" sz="1600" u="none" cap="none" strike="noStrike">
                <a:solidFill>
                  <a:schemeClr val="dk1"/>
                </a:solidFill>
                <a:latin typeface="Times New Roman"/>
                <a:ea typeface="Times New Roman"/>
                <a:cs typeface="Times New Roman"/>
                <a:sym typeface="Times New Roman"/>
              </a:rPr>
              <a:t>3 – 5 months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Completed 1031 Exchange: </a:t>
            </a:r>
            <a:r>
              <a:rPr b="1" i="0" lang="en-US" sz="1600" u="none" cap="none" strike="noStrike">
                <a:solidFill>
                  <a:schemeClr val="dk1"/>
                </a:solidFill>
                <a:latin typeface="Times New Roman"/>
                <a:ea typeface="Times New Roman"/>
                <a:cs typeface="Times New Roman"/>
                <a:sym typeface="Times New Roman"/>
              </a:rPr>
              <a:t>5 – 7 months</a:t>
            </a:r>
            <a:endParaRPr b="0" i="0" sz="1400" u="none" cap="none" strike="noStrike">
              <a:solidFill>
                <a:srgbClr val="000000"/>
              </a:solidFill>
              <a:latin typeface="Arial"/>
              <a:ea typeface="Arial"/>
              <a:cs typeface="Arial"/>
              <a:sym typeface="Arial"/>
            </a:endParaRPr>
          </a:p>
          <a:p>
            <a:pPr indent="-184150" lvl="1" marL="285750" marR="0" rtl="0" algn="l">
              <a:lnSpc>
                <a:spcPct val="100000"/>
              </a:lnSpc>
              <a:spcBef>
                <a:spcPts val="0"/>
              </a:spcBef>
              <a:spcAft>
                <a:spcPts val="0"/>
              </a:spcAft>
              <a:buClr>
                <a:schemeClr val="dk1"/>
              </a:buClr>
              <a:buSzPts val="1600"/>
              <a:buFont typeface="Noto Sans Symbols"/>
              <a:buNone/>
            </a:pPr>
            <a:r>
              <a:t/>
            </a:r>
            <a:endParaRPr b="1"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80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pic>
        <p:nvPicPr>
          <p:cNvPr descr="Empire State Building - Wikipedia" id="167" name="Google Shape;167;p7"/>
          <p:cNvPicPr preferRelativeResize="0"/>
          <p:nvPr/>
        </p:nvPicPr>
        <p:blipFill rotWithShape="1">
          <a:blip r:embed="rId4">
            <a:alphaModFix/>
          </a:blip>
          <a:srcRect b="0" l="0" r="0" t="0"/>
          <a:stretch/>
        </p:blipFill>
        <p:spPr>
          <a:xfrm>
            <a:off x="6501158" y="681868"/>
            <a:ext cx="2270814" cy="5742745"/>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73" name="Google Shape;173;p8"/>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SzPts val="1400"/>
              <a:buNone/>
            </a:pPr>
            <a:r>
              <a:rPr lang="en-US" sz="3200">
                <a:latin typeface="Times New Roman"/>
                <a:ea typeface="Times New Roman"/>
                <a:cs typeface="Times New Roman"/>
                <a:sym typeface="Times New Roman"/>
              </a:rPr>
              <a:t>Exit Strategies</a:t>
            </a:r>
            <a:endParaRPr sz="3200">
              <a:latin typeface="Times New Roman"/>
              <a:ea typeface="Times New Roman"/>
              <a:cs typeface="Times New Roman"/>
              <a:sym typeface="Times New Roman"/>
            </a:endParaRPr>
          </a:p>
        </p:txBody>
      </p:sp>
      <p:pic>
        <p:nvPicPr>
          <p:cNvPr descr="A close up of a logo&#10;&#10;Description generated with very high confidence" id="174" name="Google Shape;174;p8"/>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75" name="Google Shape;175;p8"/>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76" name="Google Shape;176;p8"/>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367553" y="815228"/>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82" name="Google Shape;182;p9"/>
          <p:cNvSpPr/>
          <p:nvPr/>
        </p:nvSpPr>
        <p:spPr>
          <a:xfrm>
            <a:off x="0" y="1117871"/>
            <a:ext cx="9055227" cy="4950073"/>
          </a:xfrm>
          <a:prstGeom prst="rect">
            <a:avLst/>
          </a:prstGeom>
          <a:noFill/>
          <a:ln>
            <a:noFill/>
          </a:ln>
        </p:spPr>
        <p:txBody>
          <a:bodyPr anchorCtr="0" anchor="t" bIns="45700" lIns="91425" spcFirstLastPara="1" rIns="91425" wrap="square" tIns="45700">
            <a:spAutoFit/>
          </a:bodyPr>
          <a:lstStyle/>
          <a:p>
            <a:pPr indent="0" lvl="1" marL="34290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Exit Strategy #1:  </a:t>
            </a:r>
            <a:r>
              <a:rPr b="0" i="0" lang="en-US" sz="1600" u="none" cap="none" strike="noStrike">
                <a:solidFill>
                  <a:schemeClr val="dk1"/>
                </a:solidFill>
                <a:latin typeface="Times New Roman"/>
                <a:ea typeface="Times New Roman"/>
                <a:cs typeface="Times New Roman"/>
                <a:sym typeface="Times New Roman"/>
              </a:rPr>
              <a:t>Sell  &gt;  Cash out  &gt;  Pay capital gains taxes</a:t>
            </a:r>
            <a:endParaRPr b="0" i="0" sz="1600" u="none" cap="none" strike="noStrike">
              <a:solidFill>
                <a:schemeClr val="dk1"/>
              </a:solidFill>
              <a:latin typeface="Times New Roman"/>
              <a:ea typeface="Times New Roman"/>
              <a:cs typeface="Times New Roman"/>
              <a:sym typeface="Times New Roman"/>
            </a:endParaRPr>
          </a:p>
          <a:p>
            <a:pPr indent="-342900" lvl="1" marL="685800" marR="0" rtl="0" algn="l">
              <a:lnSpc>
                <a:spcPct val="100000"/>
              </a:lnSpc>
              <a:spcBef>
                <a:spcPts val="180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Will refer in house legal advisors to price out potential cash out based on property's current cost basis.</a:t>
            </a:r>
            <a:endParaRPr b="0" i="0" sz="1400" u="none" cap="none" strike="noStrike">
              <a:solidFill>
                <a:srgbClr val="000000"/>
              </a:solidFill>
              <a:latin typeface="Arial"/>
              <a:ea typeface="Arial"/>
              <a:cs typeface="Arial"/>
              <a:sym typeface="Arial"/>
            </a:endParaRPr>
          </a:p>
          <a:p>
            <a:pPr indent="0" lvl="1" marL="342900" marR="0" rtl="0" algn="l">
              <a:lnSpc>
                <a:spcPct val="100000"/>
              </a:lnSpc>
              <a:spcBef>
                <a:spcPts val="120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Exit Strategy #2:  </a:t>
            </a:r>
            <a:r>
              <a:rPr b="0" i="0" lang="en-US" sz="1600" u="none" cap="none" strike="noStrike">
                <a:solidFill>
                  <a:schemeClr val="dk1"/>
                </a:solidFill>
                <a:latin typeface="Times New Roman"/>
                <a:ea typeface="Times New Roman"/>
                <a:cs typeface="Times New Roman"/>
                <a:sym typeface="Times New Roman"/>
              </a:rPr>
              <a:t>Sell  &gt;  1031 Exchange  &gt; Reinvest &amp; defer capital gains taxes</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20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one property or more than one property. </a:t>
            </a:r>
            <a:endParaRPr b="0" i="0" sz="1600" u="none" cap="none" strike="noStrike">
              <a:solidFill>
                <a:schemeClr val="dk1"/>
              </a:solidFill>
              <a:latin typeface="Times New Roman"/>
              <a:ea typeface="Times New Roman"/>
              <a:cs typeface="Times New Roman"/>
              <a:sym typeface="Times New Roman"/>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a property or properties in NYC or outside NYC.</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partially into a condo, a coop or a vacation home.</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income-producing properties.</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management intensive or management-free properties (NNN properties).</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a bigger property using a mortgage.</a:t>
            </a:r>
            <a:endParaRPr b="0" i="0" sz="1400" u="none" cap="none" strike="noStrike">
              <a:solidFill>
                <a:srgbClr val="000000"/>
              </a:solidFill>
              <a:latin typeface="Arial"/>
              <a:ea typeface="Arial"/>
              <a:cs typeface="Arial"/>
              <a:sym typeface="Arial"/>
            </a:endParaRPr>
          </a:p>
          <a:p>
            <a:pPr indent="-184150" lvl="1" marL="628650" marR="0" rtl="0" algn="l">
              <a:lnSpc>
                <a:spcPct val="100000"/>
              </a:lnSpc>
              <a:spcBef>
                <a:spcPts val="1200"/>
              </a:spcBef>
              <a:spcAft>
                <a:spcPts val="0"/>
              </a:spcAft>
              <a:buClr>
                <a:srgbClr val="ED7D3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1" marL="342900" marR="0" rtl="0" algn="ctr">
              <a:lnSpc>
                <a:spcPct val="100000"/>
              </a:lnSpc>
              <a:spcBef>
                <a:spcPts val="1200"/>
              </a:spcBef>
              <a:spcAft>
                <a:spcPts val="0"/>
              </a:spcAft>
              <a:buClr>
                <a:srgbClr val="000000"/>
              </a:buClr>
              <a:buSzPts val="1400"/>
              <a:buFont typeface="Arial"/>
              <a:buNone/>
            </a:pPr>
            <a:r>
              <a:rPr b="0" i="1" lang="en-US" sz="1400" u="none" cap="none" strike="noStrike">
                <a:solidFill>
                  <a:schemeClr val="dk1"/>
                </a:solidFill>
                <a:latin typeface="Times New Roman"/>
                <a:ea typeface="Times New Roman"/>
                <a:cs typeface="Times New Roman"/>
                <a:sym typeface="Times New Roman"/>
              </a:rPr>
              <a:t>If a 1031 exchange is pursued, we work in concert with 1031 and NNN specialists to manage the process through to completion. NNN specialists will find properties around the country that best fit client specifications.</a:t>
            </a:r>
            <a:endParaRPr b="0" i="0" sz="1400" u="none" cap="none" strike="noStrike">
              <a:solidFill>
                <a:srgbClr val="000000"/>
              </a:solidFill>
              <a:latin typeface="Arial"/>
              <a:ea typeface="Arial"/>
              <a:cs typeface="Arial"/>
              <a:sym typeface="Arial"/>
            </a:endParaRPr>
          </a:p>
        </p:txBody>
      </p:sp>
      <p:pic>
        <p:nvPicPr>
          <p:cNvPr descr="A close up of a logo&#10;&#10;Description generated with very high confidence" id="183" name="Google Shape;183;p9"/>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84" name="Google Shape;184;p9"/>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85" name="Google Shape;185;p9"/>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15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15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1500"/>
                                        <p:tgtEl>
                                          <p:spTgt spid="1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Effect filter="fade" transition="in">
                                      <p:cBhvr>
                                        <p:cTn dur="1500"/>
                                        <p:tgtEl>
                                          <p:spTgt spid="1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animEffect filter="fade" transition="in">
                                      <p:cBhvr>
                                        <p:cTn dur="1500"/>
                                        <p:tgtEl>
                                          <p:spTgt spid="1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5" st="5"/>
                                            </p:txEl>
                                          </p:spTgt>
                                        </p:tgtEl>
                                        <p:attrNameLst>
                                          <p:attrName>style.visibility</p:attrName>
                                        </p:attrNameLst>
                                      </p:cBhvr>
                                      <p:to>
                                        <p:strVal val="visible"/>
                                      </p:to>
                                    </p:set>
                                    <p:animEffect filter="fade" transition="in">
                                      <p:cBhvr>
                                        <p:cTn dur="1500"/>
                                        <p:tgtEl>
                                          <p:spTgt spid="1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6" st="6"/>
                                            </p:txEl>
                                          </p:spTgt>
                                        </p:tgtEl>
                                        <p:attrNameLst>
                                          <p:attrName>style.visibility</p:attrName>
                                        </p:attrNameLst>
                                      </p:cBhvr>
                                      <p:to>
                                        <p:strVal val="visible"/>
                                      </p:to>
                                    </p:set>
                                    <p:animEffect filter="fade" transition="in">
                                      <p:cBhvr>
                                        <p:cTn dur="1500"/>
                                        <p:tgtEl>
                                          <p:spTgt spid="1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7" st="7"/>
                                            </p:txEl>
                                          </p:spTgt>
                                        </p:tgtEl>
                                        <p:attrNameLst>
                                          <p:attrName>style.visibility</p:attrName>
                                        </p:attrNameLst>
                                      </p:cBhvr>
                                      <p:to>
                                        <p:strVal val="visible"/>
                                      </p:to>
                                    </p:set>
                                    <p:animEffect filter="fade" transition="in">
                                      <p:cBhvr>
                                        <p:cTn dur="1500"/>
                                        <p:tgtEl>
                                          <p:spTgt spid="18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8" st="8"/>
                                            </p:txEl>
                                          </p:spTgt>
                                        </p:tgtEl>
                                        <p:attrNameLst>
                                          <p:attrName>style.visibility</p:attrName>
                                        </p:attrNameLst>
                                      </p:cBhvr>
                                      <p:to>
                                        <p:strVal val="visible"/>
                                      </p:to>
                                    </p:set>
                                    <p:animEffect filter="fade" transition="in">
                                      <p:cBhvr>
                                        <p:cTn dur="1500"/>
                                        <p:tgtEl>
                                          <p:spTgt spid="18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9" st="9"/>
                                            </p:txEl>
                                          </p:spTgt>
                                        </p:tgtEl>
                                        <p:attrNameLst>
                                          <p:attrName>style.visibility</p:attrName>
                                        </p:attrNameLst>
                                      </p:cBhvr>
                                      <p:to>
                                        <p:strVal val="visible"/>
                                      </p:to>
                                    </p:set>
                                    <p:animEffect filter="fade" transition="in">
                                      <p:cBhvr>
                                        <p:cTn dur="1500"/>
                                        <p:tgtEl>
                                          <p:spTgt spid="18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0" st="10"/>
                                            </p:txEl>
                                          </p:spTgt>
                                        </p:tgtEl>
                                        <p:attrNameLst>
                                          <p:attrName>style.visibility</p:attrName>
                                        </p:attrNameLst>
                                      </p:cBhvr>
                                      <p:to>
                                        <p:strVal val="visible"/>
                                      </p:to>
                                    </p:set>
                                    <p:animEffect filter="fade" transition="in">
                                      <p:cBhvr>
                                        <p:cTn dur="1500"/>
                                        <p:tgtEl>
                                          <p:spTgt spid="182">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a:off x="601322" y="459146"/>
            <a:ext cx="2382383" cy="584775"/>
          </a:xfrm>
          <a:prstGeom prst="rect">
            <a:avLst/>
          </a:prstGeom>
          <a:noFill/>
          <a:ln>
            <a:noFill/>
          </a:ln>
        </p:spPr>
        <p:txBody>
          <a:bodyPr anchorCtr="0" anchor="t" bIns="45700" lIns="91425" spcFirstLastPara="1" rIns="91425" wrap="square" tIns="45700">
            <a:spAutoFit/>
          </a:bodyPr>
          <a:lstStyle/>
          <a:p>
            <a:pPr indent="-285115" lvl="0" marL="285115" marR="0" rtl="0" algn="l">
              <a:lnSpc>
                <a:spcPct val="100000"/>
              </a:lnSpc>
              <a:spcBef>
                <a:spcPts val="0"/>
              </a:spcBef>
              <a:spcAft>
                <a:spcPts val="0"/>
              </a:spcAft>
              <a:buClr>
                <a:srgbClr val="000000"/>
              </a:buClr>
              <a:buSzPts val="3200"/>
              <a:buFont typeface="Arial"/>
              <a:buNone/>
            </a:pPr>
            <a:r>
              <a:rPr b="1" i="0" lang="en-US" sz="3200" u="none" cap="small" strike="noStrike">
                <a:solidFill>
                  <a:srgbClr val="1F325C"/>
                </a:solidFill>
                <a:latin typeface="Times New Roman"/>
                <a:ea typeface="Times New Roman"/>
                <a:cs typeface="Times New Roman"/>
                <a:sym typeface="Times New Roman"/>
              </a:rPr>
              <a:t>Case Study</a:t>
            </a:r>
            <a:endParaRPr b="0" i="0" sz="1800" u="none" cap="none" strike="noStrike">
              <a:solidFill>
                <a:schemeClr val="dk1"/>
              </a:solidFill>
              <a:latin typeface="Calibri"/>
              <a:ea typeface="Calibri"/>
              <a:cs typeface="Calibri"/>
              <a:sym typeface="Calibri"/>
            </a:endParaRPr>
          </a:p>
        </p:txBody>
      </p:sp>
      <p:pic>
        <p:nvPicPr>
          <p:cNvPr descr="Several buildings in a city&#10;&#10;AI-generated content may be incorrect." id="191" name="Google Shape;191;p10"/>
          <p:cNvPicPr preferRelativeResize="0"/>
          <p:nvPr/>
        </p:nvPicPr>
        <p:blipFill rotWithShape="1">
          <a:blip r:embed="rId3">
            <a:alphaModFix/>
          </a:blip>
          <a:srcRect b="0" l="0" r="0" t="0"/>
          <a:stretch/>
        </p:blipFill>
        <p:spPr>
          <a:xfrm>
            <a:off x="437892" y="1046206"/>
            <a:ext cx="5086350" cy="2819400"/>
          </a:xfrm>
          <a:prstGeom prst="rect">
            <a:avLst/>
          </a:prstGeom>
          <a:noFill/>
          <a:ln>
            <a:noFill/>
          </a:ln>
        </p:spPr>
      </p:pic>
      <p:sp>
        <p:nvSpPr>
          <p:cNvPr id="192" name="Google Shape;192;p10"/>
          <p:cNvSpPr txBox="1"/>
          <p:nvPr/>
        </p:nvSpPr>
        <p:spPr>
          <a:xfrm>
            <a:off x="325748" y="4170530"/>
            <a:ext cx="6048881" cy="273921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decided to sell their building after thirty years of ownership.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exchanged into two Net-Lease properties in two different states.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Long-term leases and minimal to no management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reinvested all $2,300,000 that would have been owed to the IRS for capital gains taxes.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adds more than $110,000 to their annual net income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blue background with white text&#10;&#10;AI-generated content may be incorrect." id="193" name="Google Shape;193;p10"/>
          <p:cNvPicPr preferRelativeResize="0"/>
          <p:nvPr/>
        </p:nvPicPr>
        <p:blipFill rotWithShape="1">
          <a:blip r:embed="rId4">
            <a:alphaModFix/>
          </a:blip>
          <a:srcRect b="0" l="0" r="0" t="0"/>
          <a:stretch/>
        </p:blipFill>
        <p:spPr>
          <a:xfrm>
            <a:off x="6714223" y="576262"/>
            <a:ext cx="1914525" cy="5705475"/>
          </a:xfrm>
          <a:prstGeom prst="rect">
            <a:avLst/>
          </a:prstGeom>
          <a:noFill/>
          <a:ln>
            <a:noFill/>
          </a:ln>
        </p:spPr>
      </p:pic>
      <p:sp>
        <p:nvSpPr>
          <p:cNvPr id="194" name="Google Shape;194;p10"/>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95" name="Google Shape;195;p10"/>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nvSpPr>
        <p:spPr>
          <a:xfrm>
            <a:off x="8077200" y="6210300"/>
            <a:ext cx="1066800" cy="6477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close up of a logo&#10;&#10;Description generated with very high confidence" id="201" name="Google Shape;201;p11"/>
          <p:cNvPicPr preferRelativeResize="0"/>
          <p:nvPr/>
        </p:nvPicPr>
        <p:blipFill rotWithShape="1">
          <a:blip r:embed="rId3">
            <a:alphaModFix/>
          </a:blip>
          <a:srcRect b="0" l="0" r="0" t="0"/>
          <a:stretch/>
        </p:blipFill>
        <p:spPr>
          <a:xfrm>
            <a:off x="3846252" y="6214854"/>
            <a:ext cx="1454182" cy="543754"/>
          </a:xfrm>
          <a:prstGeom prst="rect">
            <a:avLst/>
          </a:prstGeom>
          <a:noFill/>
          <a:ln>
            <a:noFill/>
          </a:ln>
        </p:spPr>
      </p:pic>
      <p:sp>
        <p:nvSpPr>
          <p:cNvPr id="202" name="Google Shape;202;p11"/>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203" name="Google Shape;203;p11"/>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204" name="Google Shape;204;p11"/>
          <p:cNvSpPr/>
          <p:nvPr/>
        </p:nvSpPr>
        <p:spPr>
          <a:xfrm>
            <a:off x="0" y="1162641"/>
            <a:ext cx="9155043" cy="171860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205" name="Google Shape;205;p11"/>
          <p:cNvSpPr txBox="1"/>
          <p:nvPr/>
        </p:nvSpPr>
        <p:spPr>
          <a:xfrm>
            <a:off x="1165087" y="1342961"/>
            <a:ext cx="3194770" cy="1600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JOHN J. STEWART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Senior Vice President Investments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Associate Broker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Office: (212) 430-5152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Cell-Phone: (917) 292-7388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John.Stewart@MarcusMillichap.com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206" name="Google Shape;206;p11"/>
          <p:cNvSpPr txBox="1"/>
          <p:nvPr/>
        </p:nvSpPr>
        <p:spPr>
          <a:xfrm>
            <a:off x="4843725" y="1312183"/>
            <a:ext cx="3194770" cy="1600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DYLAN TOREY</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Senior Associate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Real Estate Salesperson</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Office: (646) 805-1444</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Cell-Phone: (203) 984-4588</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Dylan.Torey@MarcusMillichap.com</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207" name="Google Shape;207;p11"/>
          <p:cNvSpPr/>
          <p:nvPr/>
        </p:nvSpPr>
        <p:spPr>
          <a:xfrm>
            <a:off x="-22086" y="3680553"/>
            <a:ext cx="9177130" cy="175173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208" name="Google Shape;208;p11"/>
          <p:cNvSpPr txBox="1"/>
          <p:nvPr/>
        </p:nvSpPr>
        <p:spPr>
          <a:xfrm>
            <a:off x="1149683" y="3835616"/>
            <a:ext cx="3200292" cy="1600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OLIVIA SCIALLA</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Associate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Real Estate Salesperson</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Office: (212) 430 - 5187</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Cell-Phone: (973) 479 - 7505</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Olivia.Scialla@MarcusMillichap.com</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209" name="Google Shape;209;p11"/>
          <p:cNvSpPr txBox="1"/>
          <p:nvPr/>
        </p:nvSpPr>
        <p:spPr>
          <a:xfrm>
            <a:off x="4839361" y="3845632"/>
            <a:ext cx="3178206"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THOMAS WINDELS</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Associate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Real Estate Salesperson</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Office: (212) 430-5118</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Cell-Phone: (347) 563-2284</a:t>
            </a:r>
            <a:endParaRPr b="0" i="0" sz="1400" u="none" cap="none" strike="noStrike">
              <a:solidFill>
                <a:srgbClr val="000000"/>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Thomas.Windels@MarcusMillichap.com</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2016-07-25T15:17:53Z</dcterms:created>
  <dc:creator>Glaze, Margaret</dc:creator>
</cp:coreProperties>
</file>
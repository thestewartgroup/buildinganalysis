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7315200" cy="9601200"/>
  <p:embeddedFontLst>
    <p:embeddedFont>
      <p:font typeface="Poppins"/>
      <p:regular r:id="rId18"/>
      <p:bold r:id="rId19"/>
      <p:italic r:id="rId20"/>
      <p:boldItalic r:id="rId21"/>
    </p:embeddedFont>
    <p:embeddedFont>
      <p:font typeface="Quattrocento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80">
          <p15:clr>
            <a:srgbClr val="A4A3A4"/>
          </p15:clr>
        </p15:guide>
        <p15:guide id="2" pos="2880">
          <p15:clr>
            <a:srgbClr val="A4A3A4"/>
          </p15:clr>
        </p15:guide>
        <p15:guide id="3" pos="2976">
          <p15:clr>
            <a:srgbClr val="A4A3A4"/>
          </p15:clr>
        </p15:guide>
        <p15:guide id="4" orient="horz" pos="2352">
          <p15:clr>
            <a:srgbClr val="A4A3A4"/>
          </p15:clr>
        </p15:guide>
        <p15:guide id="5" orient="horz" pos="3048">
          <p15:clr>
            <a:srgbClr val="A4A3A4"/>
          </p15:clr>
        </p15:guide>
        <p15:guide id="6" orient="horz" pos="3744">
          <p15:clr>
            <a:srgbClr val="A4A3A4"/>
          </p15:clr>
        </p15:guide>
      </p15:sldGuideLst>
    </p:ext>
    <p:ext uri="GoogleSlidesCustomDataVersion2">
      <go:slidesCustomData xmlns:go="http://customooxmlschemas.google.com/" r:id="rId26" roundtripDataSignature="AMtx7mg/c6CAGoSU8fDaP8KXh5aXvsH4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80" orient="horz"/>
        <p:guide pos="2880"/>
        <p:guide pos="2976"/>
        <p:guide pos="2352" orient="horz"/>
        <p:guide pos="3048" orient="horz"/>
        <p:guide pos="374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schemas.openxmlformats.org/officeDocument/2006/relationships/font" Target="fonts/QuattrocentoSans-regular.fntdata"/><Relationship Id="rId21" Type="http://schemas.openxmlformats.org/officeDocument/2006/relationships/font" Target="fonts/Poppins-boldItalic.fntdata"/><Relationship Id="rId24" Type="http://schemas.openxmlformats.org/officeDocument/2006/relationships/font" Target="fonts/QuattrocentoSans-italic.fntdata"/><Relationship Id="rId23" Type="http://schemas.openxmlformats.org/officeDocument/2006/relationships/font" Target="fonts/QuattrocentoSans-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Quattrocento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1727"/>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1727"/>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0" name="Google Shape;170;p8: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8" name="Google Shape;188;p10: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731520" y="4620577"/>
            <a:ext cx="5852160" cy="3780473"/>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1497013" y="1200150"/>
            <a:ext cx="4321175" cy="32400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7"/>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20"/>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0"/>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20"/>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0"/>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2" name="Google Shape;52;p2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3" name="Google Shape;53;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4"/>
          <p:cNvSpPr/>
          <p:nvPr>
            <p:ph idx="2" type="pic"/>
          </p:nvPr>
        </p:nvSpPr>
        <p:spPr>
          <a:xfrm>
            <a:off x="3887391" y="987426"/>
            <a:ext cx="4629150" cy="4873625"/>
          </a:xfrm>
          <a:prstGeom prst="rect">
            <a:avLst/>
          </a:prstGeom>
          <a:noFill/>
          <a:ln>
            <a:noFill/>
          </a:ln>
        </p:spPr>
      </p:sp>
      <p:sp>
        <p:nvSpPr>
          <p:cNvPr id="58" name="Google Shape;58;p2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1" name="Shape 61"/>
        <p:cNvGrpSpPr/>
        <p:nvPr/>
      </p:nvGrpSpPr>
      <p:grpSpPr>
        <a:xfrm>
          <a:off x="0" y="0"/>
          <a:ext cx="0" cy="0"/>
          <a:chOff x="0" y="0"/>
          <a:chExt cx="0" cy="0"/>
        </a:xfrm>
      </p:grpSpPr>
      <p:sp>
        <p:nvSpPr>
          <p:cNvPr id="62" name="Google Shape;62;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26"/>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6"/>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5" name="Shape 75"/>
        <p:cNvGrpSpPr/>
        <p:nvPr/>
      </p:nvGrpSpPr>
      <p:grpSpPr>
        <a:xfrm>
          <a:off x="0" y="0"/>
          <a:ext cx="0" cy="0"/>
          <a:chOff x="0" y="0"/>
          <a:chExt cx="0" cy="0"/>
        </a:xfrm>
      </p:grpSpPr>
      <p:sp>
        <p:nvSpPr>
          <p:cNvPr id="76" name="Google Shape;76;p15"/>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177">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5"/>
          <p:cNvSpPr txBox="1"/>
          <p:nvPr>
            <p:ph idx="1" type="body"/>
          </p:nvPr>
        </p:nvSpPr>
        <p:spPr>
          <a:xfrm>
            <a:off x="2119239" y="3235138"/>
            <a:ext cx="4905523" cy="244362"/>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1588">
                <a:solidFill>
                  <a:srgbClr val="002D5B"/>
                </a:solidFill>
                <a:latin typeface="Poppins"/>
                <a:ea typeface="Poppins"/>
                <a:cs typeface="Poppins"/>
                <a:sym typeface="Poppin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8" name="Google Shape;78;p15"/>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5"/>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0" name="Shape 80"/>
        <p:cNvGrpSpPr/>
        <p:nvPr/>
      </p:nvGrpSpPr>
      <p:grpSpPr>
        <a:xfrm>
          <a:off x="0" y="0"/>
          <a:ext cx="0" cy="0"/>
          <a:chOff x="0" y="0"/>
          <a:chExt cx="0" cy="0"/>
        </a:xfrm>
      </p:grpSpPr>
      <p:sp>
        <p:nvSpPr>
          <p:cNvPr id="81" name="Google Shape;81;p16"/>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6"/>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 name="Shape 83"/>
        <p:cNvGrpSpPr/>
        <p:nvPr/>
      </p:nvGrpSpPr>
      <p:grpSpPr>
        <a:xfrm>
          <a:off x="0" y="0"/>
          <a:ext cx="0" cy="0"/>
          <a:chOff x="0" y="0"/>
          <a:chExt cx="0" cy="0"/>
        </a:xfrm>
      </p:grpSpPr>
      <p:sp>
        <p:nvSpPr>
          <p:cNvPr id="84" name="Google Shape;84;p27"/>
          <p:cNvSpPr txBox="1"/>
          <p:nvPr>
            <p:ph type="ctrTitle"/>
          </p:nvPr>
        </p:nvSpPr>
        <p:spPr>
          <a:xfrm>
            <a:off x="685800" y="2125980"/>
            <a:ext cx="7772400" cy="55399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7"/>
          <p:cNvSpPr txBox="1"/>
          <p:nvPr>
            <p:ph idx="1" type="subTitle"/>
          </p:nvPr>
        </p:nvSpPr>
        <p:spPr>
          <a:xfrm>
            <a:off x="1371600" y="3840480"/>
            <a:ext cx="6400800" cy="27699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7"/>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7" name="Shape 87"/>
        <p:cNvGrpSpPr/>
        <p:nvPr/>
      </p:nvGrpSpPr>
      <p:grpSpPr>
        <a:xfrm>
          <a:off x="0" y="0"/>
          <a:ext cx="0" cy="0"/>
          <a:chOff x="0" y="0"/>
          <a:chExt cx="0" cy="0"/>
        </a:xfrm>
      </p:grpSpPr>
      <p:sp>
        <p:nvSpPr>
          <p:cNvPr id="88" name="Google Shape;88;p28"/>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177">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8"/>
          <p:cNvSpPr txBox="1"/>
          <p:nvPr>
            <p:ph idx="1" type="body"/>
          </p:nvPr>
        </p:nvSpPr>
        <p:spPr>
          <a:xfrm>
            <a:off x="457200" y="1577340"/>
            <a:ext cx="3977640" cy="27699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28"/>
          <p:cNvSpPr txBox="1"/>
          <p:nvPr>
            <p:ph idx="2" type="body"/>
          </p:nvPr>
        </p:nvSpPr>
        <p:spPr>
          <a:xfrm>
            <a:off x="5183022" y="2187192"/>
            <a:ext cx="3505776" cy="149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971">
                <a:solidFill>
                  <a:srgbClr val="002D5B"/>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28"/>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2" name="Google Shape;92;p28"/>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3" name="Shape 93"/>
        <p:cNvGrpSpPr/>
        <p:nvPr/>
      </p:nvGrpSpPr>
      <p:grpSpPr>
        <a:xfrm>
          <a:off x="0" y="0"/>
          <a:ext cx="0" cy="0"/>
          <a:chOff x="0" y="0"/>
          <a:chExt cx="0" cy="0"/>
        </a:xfrm>
      </p:grpSpPr>
      <p:sp>
        <p:nvSpPr>
          <p:cNvPr id="94" name="Google Shape;94;p29"/>
          <p:cNvSpPr txBox="1"/>
          <p:nvPr>
            <p:ph type="title"/>
          </p:nvPr>
        </p:nvSpPr>
        <p:spPr>
          <a:xfrm>
            <a:off x="3169551" y="2524236"/>
            <a:ext cx="2804896" cy="488916"/>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177">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9"/>
          <p:cNvSpPr txBox="1"/>
          <p:nvPr>
            <p:ph idx="11" type="ftr"/>
          </p:nvPr>
        </p:nvSpPr>
        <p:spPr>
          <a:xfrm>
            <a:off x="3108960" y="6377940"/>
            <a:ext cx="2926080" cy="276999"/>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6" name="Google Shape;96;p29"/>
          <p:cNvSpPr txBox="1"/>
          <p:nvPr>
            <p:ph idx="10" type="dt"/>
          </p:nvPr>
        </p:nvSpPr>
        <p:spPr>
          <a:xfrm>
            <a:off x="6691088" y="6336973"/>
            <a:ext cx="2103120" cy="276999"/>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15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nvSpPr>
        <p:spPr>
          <a:xfrm>
            <a:off x="6629400" y="6497479"/>
            <a:ext cx="2103120" cy="246221"/>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1F325C"/>
              </a:buClr>
              <a:buSzPts val="1600"/>
              <a:buFont typeface="Times New Roman"/>
              <a:buNone/>
            </a:pPr>
            <a:fld id="{00000000-1234-1234-1234-123412341234}" type="slidenum">
              <a:rPr b="1" i="0" lang="en-US" sz="1600" u="none" cap="none" strike="noStrike">
                <a:solidFill>
                  <a:srgbClr val="1F325C"/>
                </a:solidFill>
                <a:latin typeface="Times New Roman"/>
                <a:ea typeface="Times New Roman"/>
                <a:cs typeface="Times New Roman"/>
                <a:sym typeface="Times New Roman"/>
              </a:rPr>
              <a:t>‹#›</a:t>
            </a:fld>
            <a:endParaRPr b="1" i="0" sz="1600" u="none" cap="none" strike="noStrike">
              <a:solidFill>
                <a:srgbClr val="1F325C"/>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5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4"/>
          <p:cNvSpPr txBox="1"/>
          <p:nvPr>
            <p:ph type="title"/>
          </p:nvPr>
        </p:nvSpPr>
        <p:spPr>
          <a:xfrm>
            <a:off x="3169551" y="2524236"/>
            <a:ext cx="2804896" cy="553998"/>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6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14"/>
          <p:cNvSpPr txBox="1"/>
          <p:nvPr>
            <p:ph idx="1" type="body"/>
          </p:nvPr>
        </p:nvSpPr>
        <p:spPr>
          <a:xfrm>
            <a:off x="2119239" y="3235138"/>
            <a:ext cx="4905523" cy="27699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1800" u="none" cap="none" strike="noStrike">
                <a:solidFill>
                  <a:srgbClr val="002D5B"/>
                </a:solidFill>
                <a:latin typeface="Poppins"/>
                <a:ea typeface="Poppins"/>
                <a:cs typeface="Poppins"/>
                <a:sym typeface="Poppin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74" name="Google Shape;74;p14"/>
          <p:cNvSpPr txBox="1"/>
          <p:nvPr/>
        </p:nvSpPr>
        <p:spPr>
          <a:xfrm>
            <a:off x="6629400" y="6497479"/>
            <a:ext cx="2103120" cy="246221"/>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1F325C"/>
              </a:buClr>
              <a:buSzPts val="1600"/>
              <a:buFont typeface="Times New Roman"/>
              <a:buNone/>
            </a:pPr>
            <a:fld id="{00000000-1234-1234-1234-123412341234}" type="slidenum">
              <a:rPr b="1" i="0" lang="en-US" sz="1600" u="none" cap="none" strike="noStrike">
                <a:solidFill>
                  <a:srgbClr val="1F325C"/>
                </a:solidFill>
                <a:latin typeface="Times New Roman"/>
                <a:ea typeface="Times New Roman"/>
                <a:cs typeface="Times New Roman"/>
                <a:sym typeface="Times New Roman"/>
              </a:rPr>
              <a:t>‹#›</a:t>
            </a:fld>
            <a:endParaRPr b="1" i="0" sz="1600" u="none" cap="none" strike="noStrike">
              <a:solidFill>
                <a:srgbClr val="1F325C"/>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Lst>
  <mc:AlternateContent>
    <mc:Choice Requires="p14">
      <p:transition spd="slow" p14:dur="15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p:nvPr/>
        </p:nvSpPr>
        <p:spPr>
          <a:xfrm flipH="1" rot="10800000">
            <a:off x="4345864" y="72734"/>
            <a:ext cx="370500" cy="71176"/>
          </a:xfrm>
          <a:custGeom>
            <a:rect b="b" l="l" r="r" t="t"/>
            <a:pathLst>
              <a:path extrusionOk="0" h="120000" w="402590">
                <a:moveTo>
                  <a:pt x="0" y="0"/>
                </a:moveTo>
                <a:lnTo>
                  <a:pt x="402437" y="0"/>
                </a:lnTo>
              </a:path>
            </a:pathLst>
          </a:custGeom>
          <a:noFill/>
          <a:ln cap="flat" cmpd="sng" w="2080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02" name="Google Shape;102;p1"/>
          <p:cNvSpPr txBox="1"/>
          <p:nvPr/>
        </p:nvSpPr>
        <p:spPr>
          <a:xfrm>
            <a:off x="1736451" y="268474"/>
            <a:ext cx="6149991" cy="226759"/>
          </a:xfrm>
          <a:prstGeom prst="rect">
            <a:avLst/>
          </a:prstGeom>
          <a:noFill/>
          <a:ln>
            <a:noFill/>
          </a:ln>
        </p:spPr>
        <p:txBody>
          <a:bodyPr anchorCtr="0" anchor="t" bIns="0" lIns="0" spcFirstLastPara="1" rIns="0" wrap="square" tIns="11200">
            <a:spAutoFit/>
          </a:bodyPr>
          <a:lstStyle/>
          <a:p>
            <a:pPr indent="0" lvl="0" marL="10795" marR="0" rtl="0" algn="ctr">
              <a:spcBef>
                <a:spcPts val="0"/>
              </a:spcBef>
              <a:spcAft>
                <a:spcPts val="0"/>
              </a:spcAft>
              <a:buNone/>
            </a:pPr>
            <a:r>
              <a:rPr lang="en-US" sz="1400">
                <a:solidFill>
                  <a:srgbClr val="002D5B"/>
                </a:solidFill>
                <a:latin typeface="Times New Roman"/>
                <a:ea typeface="Times New Roman"/>
                <a:cs typeface="Times New Roman"/>
                <a:sym typeface="Times New Roman"/>
              </a:rPr>
              <a:t>BROKER OPINION OF VALUE</a:t>
            </a:r>
            <a:endParaRPr sz="1400">
              <a:solidFill>
                <a:srgbClr val="000000"/>
              </a:solidFill>
              <a:latin typeface="Calibri"/>
              <a:ea typeface="Calibri"/>
              <a:cs typeface="Calibri"/>
              <a:sym typeface="Calibri"/>
            </a:endParaRPr>
          </a:p>
        </p:txBody>
      </p:sp>
      <p:sp>
        <p:nvSpPr>
          <p:cNvPr id="103" name="Google Shape;103;p1"/>
          <p:cNvSpPr/>
          <p:nvPr/>
        </p:nvSpPr>
        <p:spPr>
          <a:xfrm>
            <a:off x="1" y="5867400"/>
            <a:ext cx="9144000" cy="991048"/>
          </a:xfrm>
          <a:custGeom>
            <a:rect b="b" l="l" r="r" t="t"/>
            <a:pathLst>
              <a:path extrusionOk="0" h="1765300" w="7516495">
                <a:moveTo>
                  <a:pt x="7516368" y="0"/>
                </a:moveTo>
                <a:lnTo>
                  <a:pt x="0" y="0"/>
                </a:lnTo>
                <a:lnTo>
                  <a:pt x="0" y="1764792"/>
                </a:lnTo>
                <a:lnTo>
                  <a:pt x="7516368" y="1764791"/>
                </a:lnTo>
                <a:lnTo>
                  <a:pt x="7516368" y="0"/>
                </a:lnTo>
                <a:close/>
              </a:path>
            </a:pathLst>
          </a:custGeom>
          <a:solidFill>
            <a:srgbClr val="000D2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pic>
        <p:nvPicPr>
          <p:cNvPr descr="A close up of a logo&#10;&#10;Description generated with very high confidence" id="104" name="Google Shape;104;p1"/>
          <p:cNvPicPr preferRelativeResize="0"/>
          <p:nvPr/>
        </p:nvPicPr>
        <p:blipFill rotWithShape="1">
          <a:blip r:embed="rId3">
            <a:alphaModFix/>
          </a:blip>
          <a:srcRect b="0" l="0" r="0" t="0"/>
          <a:stretch/>
        </p:blipFill>
        <p:spPr>
          <a:xfrm>
            <a:off x="3532726" y="5981895"/>
            <a:ext cx="2088619" cy="765302"/>
          </a:xfrm>
          <a:prstGeom prst="rect">
            <a:avLst/>
          </a:prstGeom>
          <a:noFill/>
          <a:ln>
            <a:noFill/>
          </a:ln>
        </p:spPr>
      </p:pic>
      <p:pic>
        <p:nvPicPr>
          <p:cNvPr descr="A person in a suit smiling&#10;&#10;AI-generated content may be incorrect." id="105" name="Google Shape;105;p1"/>
          <p:cNvPicPr preferRelativeResize="0"/>
          <p:nvPr/>
        </p:nvPicPr>
        <p:blipFill rotWithShape="1">
          <a:blip r:embed="rId4">
            <a:alphaModFix/>
          </a:blip>
          <a:srcRect b="0" l="0" r="0" t="0"/>
          <a:stretch/>
        </p:blipFill>
        <p:spPr>
          <a:xfrm>
            <a:off x="1469914" y="799537"/>
            <a:ext cx="2670800" cy="1934298"/>
          </a:xfrm>
          <a:prstGeom prst="rect">
            <a:avLst/>
          </a:prstGeom>
          <a:noFill/>
          <a:ln>
            <a:noFill/>
          </a:ln>
        </p:spPr>
      </p:pic>
      <p:pic>
        <p:nvPicPr>
          <p:cNvPr descr="A person in a suit smiling&#10;&#10;AI-generated content may be incorrect." id="106" name="Google Shape;106;p1"/>
          <p:cNvPicPr preferRelativeResize="0"/>
          <p:nvPr/>
        </p:nvPicPr>
        <p:blipFill rotWithShape="1">
          <a:blip r:embed="rId5">
            <a:alphaModFix/>
          </a:blip>
          <a:srcRect b="0" l="0" r="0" t="0"/>
          <a:stretch/>
        </p:blipFill>
        <p:spPr>
          <a:xfrm>
            <a:off x="5130568" y="824993"/>
            <a:ext cx="2645345" cy="1913933"/>
          </a:xfrm>
          <a:prstGeom prst="rect">
            <a:avLst/>
          </a:prstGeom>
          <a:noFill/>
          <a:ln>
            <a:noFill/>
          </a:ln>
        </p:spPr>
      </p:pic>
      <p:pic>
        <p:nvPicPr>
          <p:cNvPr descr="A person with blonde hair wearing a black suit&#10;&#10;AI-generated content may be incorrect." id="107" name="Google Shape;107;p1"/>
          <p:cNvPicPr preferRelativeResize="0"/>
          <p:nvPr/>
        </p:nvPicPr>
        <p:blipFill rotWithShape="1">
          <a:blip r:embed="rId6">
            <a:alphaModFix/>
          </a:blip>
          <a:srcRect b="0" l="0" r="0" t="0"/>
          <a:stretch/>
        </p:blipFill>
        <p:spPr>
          <a:xfrm>
            <a:off x="1469914" y="2836061"/>
            <a:ext cx="2670800" cy="1944482"/>
          </a:xfrm>
          <a:prstGeom prst="rect">
            <a:avLst/>
          </a:prstGeom>
          <a:noFill/>
          <a:ln>
            <a:noFill/>
          </a:ln>
        </p:spPr>
      </p:pic>
      <p:pic>
        <p:nvPicPr>
          <p:cNvPr descr="A person in a suit and tie&#10;&#10;AI-generated content may be incorrect." id="108" name="Google Shape;108;p1"/>
          <p:cNvPicPr preferRelativeResize="0"/>
          <p:nvPr/>
        </p:nvPicPr>
        <p:blipFill rotWithShape="1">
          <a:blip r:embed="rId7">
            <a:alphaModFix/>
          </a:blip>
          <a:srcRect b="0" l="0" r="0" t="0"/>
          <a:stretch/>
        </p:blipFill>
        <p:spPr>
          <a:xfrm>
            <a:off x="5089839" y="2830972"/>
            <a:ext cx="2686071" cy="1949570"/>
          </a:xfrm>
          <a:prstGeom prst="rect">
            <a:avLst/>
          </a:prstGeom>
          <a:noFill/>
          <a:ln>
            <a:noFill/>
          </a:ln>
        </p:spPr>
      </p:pic>
      <p:sp>
        <p:nvSpPr>
          <p:cNvPr id="109" name="Google Shape;109;p1"/>
          <p:cNvSpPr txBox="1"/>
          <p:nvPr/>
        </p:nvSpPr>
        <p:spPr>
          <a:xfrm>
            <a:off x="1502251" y="5176498"/>
            <a:ext cx="6149991" cy="806405"/>
          </a:xfrm>
          <a:prstGeom prst="rect">
            <a:avLst/>
          </a:prstGeom>
          <a:noFill/>
          <a:ln>
            <a:noFill/>
          </a:ln>
        </p:spPr>
        <p:txBody>
          <a:bodyPr anchorCtr="0" anchor="t" bIns="0" lIns="0" spcFirstLastPara="1" rIns="0" wrap="square" tIns="11200">
            <a:spAutoFit/>
          </a:bodyPr>
          <a:lstStyle/>
          <a:p>
            <a:pPr indent="0" lvl="0" marL="10795" marR="0" rtl="0" algn="ctr">
              <a:spcBef>
                <a:spcPts val="0"/>
              </a:spcBef>
              <a:spcAft>
                <a:spcPts val="0"/>
              </a:spcAft>
              <a:buNone/>
            </a:pPr>
            <a:r>
              <a:rPr b="1" lang="en-US" sz="1800">
                <a:solidFill>
                  <a:srgbClr val="002D5B"/>
                </a:solidFill>
                <a:latin typeface="Times New Roman"/>
                <a:ea typeface="Times New Roman"/>
                <a:cs typeface="Times New Roman"/>
                <a:sym typeface="Times New Roman"/>
              </a:rPr>
              <a:t>INPUT ADDRESS</a:t>
            </a:r>
            <a:endParaRPr sz="1800">
              <a:solidFill>
                <a:schemeClr val="dk1"/>
              </a:solidFill>
              <a:latin typeface="Calibri"/>
              <a:ea typeface="Calibri"/>
              <a:cs typeface="Calibri"/>
              <a:sym typeface="Calibri"/>
            </a:endParaRPr>
          </a:p>
          <a:p>
            <a:pPr indent="0" lvl="0" marL="10795" marR="0" rtl="0" algn="ctr">
              <a:spcBef>
                <a:spcPts val="88"/>
              </a:spcBef>
              <a:spcAft>
                <a:spcPts val="0"/>
              </a:spcAft>
              <a:buNone/>
            </a:pPr>
            <a:r>
              <a:rPr b="1" lang="en-US" sz="1800">
                <a:solidFill>
                  <a:srgbClr val="002D5B"/>
                </a:solidFill>
                <a:latin typeface="Times New Roman"/>
                <a:ea typeface="Times New Roman"/>
                <a:cs typeface="Times New Roman"/>
                <a:sym typeface="Times New Roman"/>
              </a:rPr>
              <a:t>Owner: INPUT NAME</a:t>
            </a:r>
            <a:endParaRPr/>
          </a:p>
          <a:p>
            <a:pPr indent="0" lvl="0" marL="10795" marR="0" rtl="0" algn="ctr">
              <a:spcBef>
                <a:spcPts val="88"/>
              </a:spcBef>
              <a:spcAft>
                <a:spcPts val="0"/>
              </a:spcAft>
              <a:buNone/>
            </a:pPr>
            <a:r>
              <a:t/>
            </a:r>
            <a:endParaRPr b="1" sz="1400">
              <a:solidFill>
                <a:srgbClr val="002D5B"/>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sp>
        <p:nvSpPr>
          <p:cNvPr id="114" name="Google Shape;114;p2"/>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90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15" name="Google Shape;115;p2"/>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None/>
            </a:pPr>
            <a:r>
              <a:rPr lang="en-US" sz="3200">
                <a:latin typeface="Times New Roman"/>
                <a:ea typeface="Times New Roman"/>
                <a:cs typeface="Times New Roman"/>
                <a:sym typeface="Times New Roman"/>
              </a:rPr>
              <a:t>Corporate &amp; Team Background</a:t>
            </a:r>
            <a:endParaRPr sz="3200">
              <a:latin typeface="Times New Roman"/>
              <a:ea typeface="Times New Roman"/>
              <a:cs typeface="Times New Roman"/>
              <a:sym typeface="Times New Roman"/>
            </a:endParaRPr>
          </a:p>
        </p:txBody>
      </p:sp>
      <p:pic>
        <p:nvPicPr>
          <p:cNvPr descr="A close up of a logo&#10;&#10;Description generated with very high confidence" id="116" name="Google Shape;116;p2"/>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17" name="Google Shape;117;p2"/>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18" name="Google Shape;118;p2"/>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
        <p:nvSpPr>
          <p:cNvPr id="119" name="Google Shape;119;p2"/>
          <p:cNvSpPr txBox="1"/>
          <p:nvPr/>
        </p:nvSpPr>
        <p:spPr>
          <a:xfrm>
            <a:off x="8597347" y="6438347"/>
            <a:ext cx="29817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22651"/>
                </a:solidFill>
                <a:latin typeface="Times New Roman"/>
                <a:ea typeface="Times New Roman"/>
                <a:cs typeface="Times New Roman"/>
                <a:sym typeface="Times New Roman"/>
              </a:rPr>
              <a:t>2</a:t>
            </a:r>
            <a:endParaRPr b="1" sz="1600">
              <a:solidFill>
                <a:srgbClr val="02265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367553" y="762000"/>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pic>
        <p:nvPicPr>
          <p:cNvPr descr="A close up of a logo&#10;&#10;Description generated with very high confidence" id="125" name="Google Shape;125;p3"/>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26" name="Google Shape;126;p3"/>
          <p:cNvSpPr txBox="1"/>
          <p:nvPr/>
        </p:nvSpPr>
        <p:spPr>
          <a:xfrm>
            <a:off x="225559" y="906038"/>
            <a:ext cx="8697566" cy="5210928"/>
          </a:xfrm>
          <a:prstGeom prst="rect">
            <a:avLst/>
          </a:prstGeom>
          <a:noFill/>
          <a:ln>
            <a:noFill/>
          </a:ln>
        </p:spPr>
        <p:txBody>
          <a:bodyPr anchorCtr="0" anchor="t" bIns="0" lIns="0" spcFirstLastPara="1" rIns="0" wrap="square" tIns="24650">
            <a:spAutoFit/>
          </a:bodyPr>
          <a:lstStyle/>
          <a:p>
            <a:pPr indent="0" lvl="1" marL="342900" marR="0" rtl="0" algn="l">
              <a:lnSpc>
                <a:spcPct val="100000"/>
              </a:lnSpc>
              <a:spcBef>
                <a:spcPts val="0"/>
              </a:spcBef>
              <a:spcAft>
                <a:spcPts val="0"/>
              </a:spcAft>
              <a:buClr>
                <a:srgbClr val="ED7D31"/>
              </a:buClr>
              <a:buSzPts val="2000"/>
              <a:buFont typeface="Times New Roman"/>
              <a:buNone/>
            </a:pPr>
            <a:r>
              <a:rPr b="1" i="0" lang="en-US" sz="2000" u="sng" cap="none" strike="noStrike">
                <a:solidFill>
                  <a:srgbClr val="000000"/>
                </a:solidFill>
                <a:latin typeface="Times New Roman"/>
                <a:ea typeface="Times New Roman"/>
                <a:cs typeface="Times New Roman"/>
                <a:sym typeface="Times New Roman"/>
              </a:rPr>
              <a:t>Executive Summary</a:t>
            </a:r>
            <a:endParaRPr b="1" i="0" sz="2000" u="sng" cap="none" strike="noStrike">
              <a:solidFill>
                <a:srgbClr val="000000"/>
              </a:solidFill>
              <a:latin typeface="Times New Roman"/>
              <a:ea typeface="Times New Roman"/>
              <a:cs typeface="Times New Roman"/>
              <a:sym typeface="Times New Roman"/>
            </a:endParaRPr>
          </a:p>
          <a:p>
            <a:pPr indent="0" lvl="1" marL="342900" marR="0" rtl="0" algn="l">
              <a:spcBef>
                <a:spcPts val="600"/>
              </a:spcBef>
              <a:spcAft>
                <a:spcPts val="0"/>
              </a:spcAft>
              <a:buNone/>
            </a:pPr>
            <a:r>
              <a:t/>
            </a:r>
            <a:endParaRPr b="1" i="0" sz="1700" u="sng" cap="none" strike="noStrike">
              <a:solidFill>
                <a:srgbClr val="000000"/>
              </a:solidFill>
              <a:latin typeface="Times New Roman"/>
              <a:ea typeface="Times New Roman"/>
              <a:cs typeface="Times New Roman"/>
              <a:sym typeface="Times New Roman"/>
            </a:endParaRPr>
          </a:p>
          <a:p>
            <a:pPr indent="0" lvl="1" marL="342900" marR="0" rtl="0" algn="l">
              <a:spcBef>
                <a:spcPts val="600"/>
              </a:spcBef>
              <a:spcAft>
                <a:spcPts val="0"/>
              </a:spcAft>
              <a:buNone/>
            </a:pPr>
            <a:r>
              <a:rPr b="1" i="0" lang="en-US" sz="1600" u="none" cap="none" strike="noStrike">
                <a:solidFill>
                  <a:srgbClr val="000000"/>
                </a:solidFill>
                <a:latin typeface="Times New Roman"/>
                <a:ea typeface="Times New Roman"/>
                <a:cs typeface="Times New Roman"/>
                <a:sym typeface="Times New Roman"/>
              </a:rPr>
              <a:t>'The Stewart Group' </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Investment sales team with 30+ years of experience</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125+ building sales transactions totaling $1,000,000,000+</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Our geographical focus is core Manhattan (below 96</a:t>
            </a:r>
            <a:r>
              <a:rPr b="0" baseline="30000" i="0" lang="en-US" sz="1600" u="none" cap="none" strike="noStrike">
                <a:solidFill>
                  <a:srgbClr val="000000"/>
                </a:solidFill>
                <a:latin typeface="Times New Roman"/>
                <a:ea typeface="Times New Roman"/>
                <a:cs typeface="Times New Roman"/>
                <a:sym typeface="Times New Roman"/>
              </a:rPr>
              <a:t>th</a:t>
            </a:r>
            <a:r>
              <a:rPr b="0" i="0" lang="en-US" sz="1600" u="none" cap="none" strike="noStrike">
                <a:solidFill>
                  <a:srgbClr val="000000"/>
                </a:solidFill>
                <a:latin typeface="Times New Roman"/>
                <a:ea typeface="Times New Roman"/>
                <a:cs typeface="Times New Roman"/>
                <a:sym typeface="Times New Roman"/>
              </a:rPr>
              <a:t> Street) with close tracking of all market and transaction activity in each territory/neighborhood</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Multiyear professional and transactional relationships with all building owners, users, developers and potential buyers in the Lower East Side and throughout the city</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Proprietary citywide team database of 10,000+ owners, developers, syndicators, and private/corporate/institutional investors</a:t>
            </a:r>
            <a:endParaRPr b="0" i="0" sz="1600" u="none" cap="none" strike="noStrike">
              <a:solidFill>
                <a:srgbClr val="000000"/>
              </a:solidFill>
              <a:latin typeface="Times New Roman"/>
              <a:ea typeface="Times New Roman"/>
              <a:cs typeface="Times New Roman"/>
              <a:sym typeface="Times New Roman"/>
            </a:endParaRPr>
          </a:p>
          <a:p>
            <a:pPr indent="0" lvl="1" marL="342900" marR="0" rtl="0" algn="l">
              <a:lnSpc>
                <a:spcPct val="100000"/>
              </a:lnSpc>
              <a:spcBef>
                <a:spcPts val="1200"/>
              </a:spcBef>
              <a:spcAft>
                <a:spcPts val="0"/>
              </a:spcAft>
              <a:buClr>
                <a:srgbClr val="ED7D31"/>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Company</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Marcus &amp; Millichap was founded in 1971– taken public in 2013 (NYSE: MMI)</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80+ investment sales brokers in Manhattan; 2000+ brokers in 86 offices in U.S. and Canada </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6,500+ building sales transactions closed in 2024</a:t>
            </a:r>
            <a:endParaRPr b="0" i="0" sz="1600" u="none" cap="none" strike="noStrike">
              <a:solidFill>
                <a:srgbClr val="000000"/>
              </a:solidFill>
              <a:latin typeface="Times New Roman"/>
              <a:ea typeface="Times New Roman"/>
              <a:cs typeface="Times New Roman"/>
              <a:sym typeface="Times New Roman"/>
            </a:endParaRPr>
          </a:p>
          <a:p>
            <a:pPr indent="-342900" lvl="1" marL="685800" marR="0" rtl="0" algn="l">
              <a:lnSpc>
                <a:spcPct val="100000"/>
              </a:lnSpc>
              <a:spcBef>
                <a:spcPts val="600"/>
              </a:spcBef>
              <a:spcAft>
                <a:spcPts val="0"/>
              </a:spcAft>
              <a:buClr>
                <a:srgbClr val="ED7D31"/>
              </a:buClr>
              <a:buSzPts val="1600"/>
              <a:buFont typeface="Noto Sans Symbols"/>
              <a:buChar char="▪"/>
            </a:pPr>
            <a:r>
              <a:rPr b="0" i="0" lang="en-US" sz="1600" u="none" cap="none" strike="noStrike">
                <a:solidFill>
                  <a:srgbClr val="000000"/>
                </a:solidFill>
                <a:latin typeface="Times New Roman"/>
                <a:ea typeface="Times New Roman"/>
                <a:cs typeface="Times New Roman"/>
                <a:sym typeface="Times New Roman"/>
              </a:rPr>
              <a:t>2,200+ 1031 exchange transactions closed in 2024</a:t>
            </a:r>
            <a:endParaRPr b="0" i="0" sz="1600" u="none" cap="none" strike="noStrike">
              <a:solidFill>
                <a:srgbClr val="000000"/>
              </a:solidFill>
              <a:latin typeface="Times New Roman"/>
              <a:ea typeface="Times New Roman"/>
              <a:cs typeface="Times New Roman"/>
              <a:sym typeface="Times New Roman"/>
            </a:endParaRPr>
          </a:p>
        </p:txBody>
      </p:sp>
      <p:sp>
        <p:nvSpPr>
          <p:cNvPr id="127" name="Google Shape;127;p3"/>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28" name="Google Shape;128;p3"/>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4"/>
          <p:cNvSpPr txBox="1"/>
          <p:nvPr/>
        </p:nvSpPr>
        <p:spPr>
          <a:xfrm>
            <a:off x="676574" y="2993327"/>
            <a:ext cx="7790852" cy="136960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300">
                <a:solidFill>
                  <a:schemeClr val="dk1"/>
                </a:solidFill>
                <a:latin typeface="Times New Roman"/>
                <a:ea typeface="Times New Roman"/>
                <a:cs typeface="Times New Roman"/>
                <a:sym typeface="Times New Roman"/>
              </a:rPr>
              <a:t>John J. Stewart is a Senior Vice President Investments and Associate Broker in Marcus &amp; Millichap’s Manhattan office where he specializes in representing multifamily and commercial real estate owners in building sales transactions in core Manhattan. Since joining M&amp;M in 2005, John has closed over $1 billion of building sales transactions and has earned multiple National Achievement Awards and Chairman’s Club honors which recognizes the top 5% of M&amp;M investment sales brokers nationally.</a:t>
            </a:r>
            <a:endParaRPr sz="13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 blue and orange rectangular object&#10;&#10;AI-generated content may be incorrect." id="134" name="Google Shape;134;p4"/>
          <p:cNvPicPr preferRelativeResize="0"/>
          <p:nvPr/>
        </p:nvPicPr>
        <p:blipFill rotWithShape="1">
          <a:blip r:embed="rId3">
            <a:alphaModFix/>
          </a:blip>
          <a:srcRect b="0" l="0" r="0" t="0"/>
          <a:stretch/>
        </p:blipFill>
        <p:spPr>
          <a:xfrm>
            <a:off x="0" y="1956"/>
            <a:ext cx="9144000" cy="2917658"/>
          </a:xfrm>
          <a:prstGeom prst="rect">
            <a:avLst/>
          </a:prstGeom>
          <a:noFill/>
          <a:ln>
            <a:noFill/>
          </a:ln>
        </p:spPr>
      </p:pic>
      <p:sp>
        <p:nvSpPr>
          <p:cNvPr id="135" name="Google Shape;135;p4"/>
          <p:cNvSpPr txBox="1"/>
          <p:nvPr/>
        </p:nvSpPr>
        <p:spPr>
          <a:xfrm>
            <a:off x="1065254" y="4382881"/>
            <a:ext cx="3177847" cy="16158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Times New Roman"/>
                <a:ea typeface="Times New Roman"/>
                <a:cs typeface="Times New Roman"/>
                <a:sym typeface="Times New Roman"/>
              </a:rPr>
              <a:t>Professional Affiliations: </a:t>
            </a:r>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Real Estate Board of New York</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Community Housing Improvement Program</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Small Property Owners of New York</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Rent Stabilization Association</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Certified Commercial Investment Member</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National Multi Housing Council</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Urban Land Institute</a:t>
            </a:r>
            <a:endParaRPr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36" name="Google Shape;136;p4"/>
          <p:cNvSpPr txBox="1"/>
          <p:nvPr/>
        </p:nvSpPr>
        <p:spPr>
          <a:xfrm>
            <a:off x="5275415" y="4666687"/>
            <a:ext cx="2849811" cy="1046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Times New Roman"/>
                <a:ea typeface="Times New Roman"/>
                <a:cs typeface="Times New Roman"/>
                <a:sym typeface="Times New Roman"/>
              </a:rPr>
              <a:t>Education: </a:t>
            </a:r>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Collegiate School</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The Hotchkiss School</a:t>
            </a:r>
            <a:endParaRPr sz="11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100"/>
              <a:buFont typeface="Arial"/>
              <a:buChar char="•"/>
            </a:pPr>
            <a:r>
              <a:rPr lang="en-US" sz="1100">
                <a:solidFill>
                  <a:schemeClr val="dk1"/>
                </a:solidFill>
                <a:latin typeface="Times New Roman"/>
                <a:ea typeface="Times New Roman"/>
                <a:cs typeface="Times New Roman"/>
                <a:sym typeface="Times New Roman"/>
              </a:rPr>
              <a:t>Washington and Lee University</a:t>
            </a:r>
            <a:endParaRPr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 black background with blue lines&#10;&#10;AI-generated content may be incorrect." id="137" name="Google Shape;137;p4"/>
          <p:cNvPicPr preferRelativeResize="0"/>
          <p:nvPr/>
        </p:nvPicPr>
        <p:blipFill rotWithShape="1">
          <a:blip r:embed="rId4">
            <a:alphaModFix/>
          </a:blip>
          <a:srcRect b="0" l="0" r="0" t="0"/>
          <a:stretch/>
        </p:blipFill>
        <p:spPr>
          <a:xfrm>
            <a:off x="451049" y="6127822"/>
            <a:ext cx="1465911" cy="548005"/>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90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43" name="Google Shape;143;p5"/>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None/>
            </a:pPr>
            <a:r>
              <a:rPr lang="en-US" sz="3200">
                <a:latin typeface="Times New Roman"/>
                <a:ea typeface="Times New Roman"/>
                <a:cs typeface="Times New Roman"/>
                <a:sym typeface="Times New Roman"/>
              </a:rPr>
              <a:t>Pricing Analysis &amp; Marketing Strategy</a:t>
            </a:r>
            <a:endParaRPr sz="3200">
              <a:latin typeface="Times New Roman"/>
              <a:ea typeface="Times New Roman"/>
              <a:cs typeface="Times New Roman"/>
              <a:sym typeface="Times New Roman"/>
            </a:endParaRPr>
          </a:p>
        </p:txBody>
      </p:sp>
      <p:pic>
        <p:nvPicPr>
          <p:cNvPr descr="A close up of a logo&#10;&#10;Description generated with very high confidence" id="144" name="Google Shape;144;p5"/>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45" name="Google Shape;145;p5"/>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46" name="Google Shape;146;p5"/>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p:nvPr/>
        </p:nvSpPr>
        <p:spPr>
          <a:xfrm>
            <a:off x="367553" y="815228"/>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52" name="Google Shape;152;p6"/>
          <p:cNvSpPr txBox="1"/>
          <p:nvPr/>
        </p:nvSpPr>
        <p:spPr>
          <a:xfrm>
            <a:off x="242230" y="935516"/>
            <a:ext cx="8648701" cy="394225"/>
          </a:xfrm>
          <a:prstGeom prst="rect">
            <a:avLst/>
          </a:prstGeom>
          <a:noFill/>
          <a:ln>
            <a:noFill/>
          </a:ln>
        </p:spPr>
        <p:txBody>
          <a:bodyPr anchorCtr="0" anchor="t" bIns="0" lIns="0" spcFirstLastPara="1" rIns="0" wrap="square" tIns="24650">
            <a:spAutoFit/>
          </a:bodyPr>
          <a:lstStyle/>
          <a:p>
            <a:pPr indent="0" lvl="1" marL="342900" marR="0" rtl="0" algn="l">
              <a:spcBef>
                <a:spcPts val="0"/>
              </a:spcBef>
              <a:spcAft>
                <a:spcPts val="0"/>
              </a:spcAft>
              <a:buNone/>
            </a:pPr>
            <a:r>
              <a:rPr b="1" i="0" lang="en-US" sz="2400" u="sng" cap="none" strike="noStrike">
                <a:solidFill>
                  <a:srgbClr val="000000"/>
                </a:solidFill>
                <a:latin typeface="Times New Roman"/>
                <a:ea typeface="Times New Roman"/>
                <a:cs typeface="Times New Roman"/>
                <a:sym typeface="Times New Roman"/>
              </a:rPr>
              <a:t>Key Factors Determining Value</a:t>
            </a:r>
            <a:endParaRPr b="0" i="0" sz="1800" u="none" cap="none" strike="noStrike">
              <a:solidFill>
                <a:srgbClr val="000000"/>
              </a:solidFill>
              <a:latin typeface="Calibri"/>
              <a:ea typeface="Calibri"/>
              <a:cs typeface="Calibri"/>
              <a:sym typeface="Calibri"/>
            </a:endParaRPr>
          </a:p>
        </p:txBody>
      </p:sp>
      <p:pic>
        <p:nvPicPr>
          <p:cNvPr descr="A close up of a logo&#10;&#10;Description generated with very high confidence" id="153" name="Google Shape;153;p6"/>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54" name="Google Shape;154;p6"/>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55" name="Google Shape;155;p6"/>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
        <p:nvSpPr>
          <p:cNvPr id="156" name="Google Shape;156;p6"/>
          <p:cNvSpPr txBox="1"/>
          <p:nvPr/>
        </p:nvSpPr>
        <p:spPr>
          <a:xfrm>
            <a:off x="559134" y="1561729"/>
            <a:ext cx="8027846" cy="51090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Net Operating Income </a:t>
            </a:r>
            <a:endParaRPr sz="1800" u="sng">
              <a:solidFill>
                <a:schemeClr val="dk1"/>
              </a:solidFill>
              <a:latin typeface="Times New Roman"/>
              <a:ea typeface="Times New Roman"/>
              <a:cs typeface="Times New Roman"/>
              <a:sym typeface="Times New Roman"/>
            </a:endParaRPr>
          </a:p>
          <a:p>
            <a:pPr indent="-171450" lvl="0" marL="171450" marR="0" rtl="0" algn="l">
              <a:spcBef>
                <a:spcPts val="0"/>
              </a:spcBef>
              <a:spcAft>
                <a:spcPts val="0"/>
              </a:spcAft>
              <a:buClr>
                <a:schemeClr val="dk1"/>
              </a:buClr>
              <a:buSzPts val="1200"/>
              <a:buFont typeface="Noto Sans Symbols"/>
              <a:buChar char="⮚"/>
            </a:pPr>
            <a:r>
              <a:rPr b="1" lang="en-US" sz="1200">
                <a:solidFill>
                  <a:schemeClr val="dk1"/>
                </a:solidFill>
                <a:latin typeface="Times New Roman"/>
                <a:ea typeface="Times New Roman"/>
                <a:cs typeface="Times New Roman"/>
                <a:sym typeface="Times New Roman"/>
              </a:rPr>
              <a:t>Current NOI &amp; potential upside is the strongest driver of value</a:t>
            </a:r>
            <a:r>
              <a:rPr lang="en-US" sz="1200">
                <a:solidFill>
                  <a:schemeClr val="dk1"/>
                </a:solidFill>
                <a:latin typeface="Times New Roman"/>
                <a:ea typeface="Times New Roman"/>
                <a:cs typeface="Times New Roman"/>
                <a:sym typeface="Times New Roman"/>
              </a:rPr>
              <a:t> for most multifamily &amp; mixed-use buildings — buyers price buildings based on current income and potential upside</a:t>
            </a:r>
            <a:endParaRPr sz="1200">
              <a:solidFill>
                <a:schemeClr val="dk1"/>
              </a:solidFill>
              <a:latin typeface="Times New Roman"/>
              <a:ea typeface="Times New Roman"/>
              <a:cs typeface="Times New Roman"/>
              <a:sym typeface="Times New Roman"/>
            </a:endParaRPr>
          </a:p>
          <a:p>
            <a:pPr indent="-101600" lvl="0" marL="171450" marR="0" rtl="0" algn="l">
              <a:spcBef>
                <a:spcPts val="0"/>
              </a:spcBef>
              <a:spcAft>
                <a:spcPts val="0"/>
              </a:spcAft>
              <a:buClr>
                <a:schemeClr val="dk1"/>
              </a:buClr>
              <a:buSzPts val="1100"/>
              <a:buFont typeface="Noto Sans Symbols"/>
              <a:buNone/>
            </a:pPr>
            <a:r>
              <a:t/>
            </a:r>
            <a:endParaRPr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Regulatory Factors</a:t>
            </a:r>
            <a:endParaRPr sz="1800">
              <a:solidFill>
                <a:schemeClr val="dk1"/>
              </a:solidFill>
              <a:latin typeface="Times New Roman"/>
              <a:ea typeface="Times New Roman"/>
              <a:cs typeface="Times New Roman"/>
              <a:sym typeface="Times New Roman"/>
            </a:endParaRPr>
          </a:p>
          <a:p>
            <a:pPr indent="-171450" lvl="0" marL="171450" marR="0" rtl="0" algn="l">
              <a:spcBef>
                <a:spcPts val="0"/>
              </a:spcBef>
              <a:spcAft>
                <a:spcPts val="0"/>
              </a:spcAft>
              <a:buClr>
                <a:schemeClr val="dk1"/>
              </a:buClr>
              <a:buSzPts val="1200"/>
              <a:buFont typeface="Noto Sans Symbols"/>
              <a:buChar char="⮚"/>
            </a:pPr>
            <a:r>
              <a:rPr b="1" lang="en-US" sz="1200">
                <a:solidFill>
                  <a:schemeClr val="dk1"/>
                </a:solidFill>
                <a:latin typeface="Times New Roman"/>
                <a:ea typeface="Times New Roman"/>
                <a:cs typeface="Times New Roman"/>
                <a:sym typeface="Times New Roman"/>
              </a:rPr>
              <a:t>Good Cause Eviction (10+ units):</a:t>
            </a:r>
            <a:r>
              <a:rPr lang="en-US" sz="1200">
                <a:solidFill>
                  <a:schemeClr val="dk1"/>
                </a:solidFill>
                <a:latin typeface="Times New Roman"/>
                <a:ea typeface="Times New Roman"/>
                <a:cs typeface="Times New Roman"/>
                <a:sym typeface="Times New Roman"/>
              </a:rPr>
              <a:t> Rent growth capped at </a:t>
            </a:r>
            <a:r>
              <a:rPr b="1" lang="en-US" sz="1200">
                <a:solidFill>
                  <a:schemeClr val="dk1"/>
                </a:solidFill>
                <a:latin typeface="Times New Roman"/>
                <a:ea typeface="Times New Roman"/>
                <a:cs typeface="Times New Roman"/>
                <a:sym typeface="Times New Roman"/>
              </a:rPr>
              <a:t>5% + inflation</a:t>
            </a:r>
            <a:r>
              <a:rPr lang="en-US" sz="1200">
                <a:solidFill>
                  <a:schemeClr val="dk1"/>
                </a:solidFill>
                <a:latin typeface="Times New Roman"/>
                <a:ea typeface="Times New Roman"/>
                <a:cs typeface="Times New Roman"/>
                <a:sym typeface="Times New Roman"/>
              </a:rPr>
              <a:t> without turnover. Need 'Good Cause' to evict tenant.</a:t>
            </a:r>
            <a:endParaRPr/>
          </a:p>
          <a:p>
            <a:pPr indent="-171450" lvl="0" marL="171450" marR="0" rtl="0" algn="l">
              <a:spcBef>
                <a:spcPts val="0"/>
              </a:spcBef>
              <a:spcAft>
                <a:spcPts val="0"/>
              </a:spcAft>
              <a:buClr>
                <a:schemeClr val="dk1"/>
              </a:buClr>
              <a:buSzPts val="1200"/>
              <a:buFont typeface="Noto Sans Symbols"/>
              <a:buChar char="⮚"/>
            </a:pPr>
            <a:r>
              <a:rPr b="1" lang="en-US" sz="1200">
                <a:solidFill>
                  <a:schemeClr val="dk1"/>
                </a:solidFill>
                <a:latin typeface="Times New Roman"/>
                <a:ea typeface="Times New Roman"/>
                <a:cs typeface="Times New Roman"/>
                <a:sym typeface="Times New Roman"/>
              </a:rPr>
              <a:t>Rent‑Stabilized:</a:t>
            </a:r>
            <a:r>
              <a:rPr lang="en-US" sz="1200">
                <a:solidFill>
                  <a:schemeClr val="dk1"/>
                </a:solidFill>
                <a:latin typeface="Times New Roman"/>
                <a:ea typeface="Times New Roman"/>
                <a:cs typeface="Times New Roman"/>
                <a:sym typeface="Times New Roman"/>
              </a:rPr>
              <a:t> Rent Guidelines Board limits annual increases → capped NOI growth. Caps are 3% for one-year leases and 4.5% fortwo-year leases.</a:t>
            </a:r>
            <a:endParaRPr/>
          </a:p>
          <a:p>
            <a:pPr indent="-171450" lvl="0" marL="171450" marR="0" rtl="0" algn="l">
              <a:spcBef>
                <a:spcPts val="0"/>
              </a:spcBef>
              <a:spcAft>
                <a:spcPts val="0"/>
              </a:spcAft>
              <a:buClr>
                <a:schemeClr val="dk1"/>
              </a:buClr>
              <a:buSzPts val="1200"/>
              <a:buFont typeface="Noto Sans Symbols"/>
              <a:buChar char="⮚"/>
            </a:pPr>
            <a:r>
              <a:rPr b="1" lang="en-US" sz="1200">
                <a:solidFill>
                  <a:schemeClr val="dk1"/>
                </a:solidFill>
                <a:latin typeface="Times New Roman"/>
                <a:ea typeface="Times New Roman"/>
                <a:cs typeface="Times New Roman"/>
                <a:sym typeface="Times New Roman"/>
              </a:rPr>
              <a:t>Rent‑Controlled:</a:t>
            </a:r>
            <a:r>
              <a:rPr lang="en-US" sz="1200">
                <a:solidFill>
                  <a:schemeClr val="dk1"/>
                </a:solidFill>
                <a:latin typeface="Times New Roman"/>
                <a:ea typeface="Times New Roman"/>
                <a:cs typeface="Times New Roman"/>
                <a:sym typeface="Times New Roman"/>
              </a:rPr>
              <a:t> Low growth during tenancy; big upside at vacancy via new first rent.</a:t>
            </a:r>
            <a:endParaRPr sz="1200">
              <a:solidFill>
                <a:schemeClr val="dk1"/>
              </a:solidFill>
              <a:latin typeface="Calibri"/>
              <a:ea typeface="Calibri"/>
              <a:cs typeface="Calibri"/>
              <a:sym typeface="Calibri"/>
            </a:endParaRPr>
          </a:p>
          <a:p>
            <a:pPr indent="-101600" lvl="0" marL="171450" marR="0" rtl="0" algn="l">
              <a:spcBef>
                <a:spcPts val="0"/>
              </a:spcBef>
              <a:spcAft>
                <a:spcPts val="0"/>
              </a:spcAft>
              <a:buClr>
                <a:schemeClr val="dk1"/>
              </a:buClr>
              <a:buSzPts val="1100"/>
              <a:buFont typeface="Noto Sans Symbols"/>
              <a:buNone/>
            </a:pPr>
            <a:r>
              <a:t/>
            </a:r>
            <a:endParaRPr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Other Contributing Factors</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400"/>
              <a:buFont typeface="Noto Sans Symbols"/>
              <a:buChar char="⮚"/>
            </a:pPr>
            <a:r>
              <a:rPr b="1" lang="en-US" sz="1400">
                <a:solidFill>
                  <a:schemeClr val="dk1"/>
                </a:solidFill>
                <a:latin typeface="Times New Roman"/>
                <a:ea typeface="Times New Roman"/>
                <a:cs typeface="Times New Roman"/>
                <a:sym typeface="Times New Roman"/>
              </a:rPr>
              <a:t>Quality of Paperwork</a:t>
            </a:r>
            <a:endParaRPr sz="1800">
              <a:solidFill>
                <a:schemeClr val="dk1"/>
              </a:solidFill>
              <a:latin typeface="Times New Roman"/>
              <a:ea typeface="Times New Roman"/>
              <a:cs typeface="Times New Roman"/>
              <a:sym typeface="Times New Roman"/>
            </a:endParaRPr>
          </a:p>
          <a:p>
            <a:pPr indent="-285750" lvl="1" marL="742950" marR="0" rtl="0" algn="l">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Clean record of leases are needed to confirm free market status</a:t>
            </a:r>
            <a:endParaRPr b="0" i="0" sz="1200" u="none" cap="none" strike="noStrike">
              <a:solidFill>
                <a:schemeClr val="dk1"/>
              </a:solidFill>
              <a:latin typeface="Times New Roman"/>
              <a:ea typeface="Times New Roman"/>
              <a:cs typeface="Times New Roman"/>
              <a:sym typeface="Times New Roman"/>
            </a:endParaRPr>
          </a:p>
          <a:p>
            <a:pPr indent="-285750" lvl="1" marL="742950" marR="0" rtl="0" algn="l">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Bad paperwork increases risk and lowers value.</a:t>
            </a:r>
            <a:endParaRPr b="0" i="0" sz="12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Times New Roman"/>
                <a:ea typeface="Times New Roman"/>
                <a:cs typeface="Times New Roman"/>
                <a:sym typeface="Times New Roman"/>
              </a:rPr>
              <a:t>Retail Income </a:t>
            </a:r>
            <a:endParaRPr sz="1800">
              <a:solidFill>
                <a:schemeClr val="dk1"/>
              </a:solidFill>
              <a:latin typeface="Times New Roman"/>
              <a:ea typeface="Times New Roman"/>
              <a:cs typeface="Times New Roman"/>
              <a:sym typeface="Times New Roman"/>
            </a:endParaRPr>
          </a:p>
          <a:p>
            <a:pPr indent="-285750" lvl="1" marL="742950" marR="0" rtl="0" algn="l">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Strong, long‑term leases boost value and improve rates for any buyer applying for loan.</a:t>
            </a:r>
            <a:endParaRPr/>
          </a:p>
          <a:p>
            <a:pPr indent="-285750" lvl="1" marL="742950" marR="0" rtl="0" algn="l">
              <a:spcBef>
                <a:spcPts val="0"/>
              </a:spcBef>
              <a:spcAft>
                <a:spcPts val="0"/>
              </a:spcAft>
              <a:buClr>
                <a:schemeClr val="dk1"/>
              </a:buClr>
              <a:buSzPts val="1200"/>
              <a:buFont typeface="Noto Sans Symbols"/>
              <a:buChar char="⮚"/>
            </a:pPr>
            <a:r>
              <a:rPr b="0" i="0" lang="en-US" sz="1200" u="none" cap="none" strike="noStrike">
                <a:solidFill>
                  <a:schemeClr val="dk1"/>
                </a:solidFill>
                <a:latin typeface="Times New Roman"/>
                <a:ea typeface="Times New Roman"/>
                <a:cs typeface="Times New Roman"/>
                <a:sym typeface="Times New Roman"/>
              </a:rPr>
              <a:t>Weak or short leases hurt pricing and financing</a:t>
            </a:r>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Times New Roman"/>
                <a:ea typeface="Times New Roman"/>
                <a:cs typeface="Times New Roman"/>
                <a:sym typeface="Times New Roman"/>
              </a:rPr>
              <a:t>Physical &amp; Operational Factors</a:t>
            </a:r>
            <a:endParaRPr sz="1800">
              <a:solidFill>
                <a:schemeClr val="dk1"/>
              </a:solidFill>
              <a:latin typeface="Times New Roman"/>
              <a:ea typeface="Times New Roman"/>
              <a:cs typeface="Times New Roman"/>
              <a:sym typeface="Times New Roman"/>
            </a:endParaRPr>
          </a:p>
          <a:p>
            <a:pPr indent="-171450" lvl="1" marL="628650" marR="0" rtl="0" algn="l">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Location:</a:t>
            </a:r>
            <a:r>
              <a:rPr b="0" i="0" lang="en-US" sz="1200" u="none" cap="none" strike="noStrike">
                <a:solidFill>
                  <a:schemeClr val="dk1"/>
                </a:solidFill>
                <a:latin typeface="Times New Roman"/>
                <a:ea typeface="Times New Roman"/>
                <a:cs typeface="Times New Roman"/>
                <a:sym typeface="Times New Roman"/>
              </a:rPr>
              <a:t> Pricing on a PSF basis varies heavily depending on location.</a:t>
            </a:r>
            <a:endParaRPr/>
          </a:p>
          <a:p>
            <a:pPr indent="-171450" lvl="1" marL="628650" marR="0" rtl="0" algn="l">
              <a:spcBef>
                <a:spcPts val="0"/>
              </a:spcBef>
              <a:spcAft>
                <a:spcPts val="0"/>
              </a:spcAft>
              <a:buClr>
                <a:schemeClr val="dk1"/>
              </a:buClr>
              <a:buSzPts val="1200"/>
              <a:buFont typeface="Noto Sans Symbols"/>
              <a:buChar char="⮚"/>
            </a:pPr>
            <a:r>
              <a:rPr b="1" i="0" lang="en-US" sz="1200" u="none" cap="none" strike="noStrike">
                <a:solidFill>
                  <a:schemeClr val="dk1"/>
                </a:solidFill>
                <a:latin typeface="Times New Roman"/>
                <a:ea typeface="Times New Roman"/>
                <a:cs typeface="Times New Roman"/>
                <a:sym typeface="Times New Roman"/>
              </a:rPr>
              <a:t>Condition:</a:t>
            </a:r>
            <a:r>
              <a:rPr b="0" i="0" lang="en-US" sz="1200" u="none" cap="none" strike="noStrike">
                <a:solidFill>
                  <a:schemeClr val="dk1"/>
                </a:solidFill>
                <a:latin typeface="Times New Roman"/>
                <a:ea typeface="Times New Roman"/>
                <a:cs typeface="Times New Roman"/>
                <a:sym typeface="Times New Roman"/>
              </a:rPr>
              <a:t> Finished product pricing versus pricing based more on upside potential</a:t>
            </a:r>
            <a:endParaRPr b="0" i="0" sz="1200" u="none" cap="none" strike="noStrike">
              <a:solidFill>
                <a:schemeClr val="dk1"/>
              </a:solidFill>
              <a:latin typeface="Calibri"/>
              <a:ea typeface="Calibri"/>
              <a:cs typeface="Calibri"/>
              <a:sym typeface="Calibri"/>
            </a:endParaRPr>
          </a:p>
          <a:p>
            <a:pPr indent="-101600" lvl="0" marL="171450" marR="0" rtl="0" algn="l">
              <a:spcBef>
                <a:spcPts val="0"/>
              </a:spcBef>
              <a:spcAft>
                <a:spcPts val="0"/>
              </a:spcAft>
              <a:buClr>
                <a:schemeClr val="dk1"/>
              </a:buClr>
              <a:buSzPts val="1100"/>
              <a:buFont typeface="Noto Sans Symbols"/>
              <a:buNone/>
            </a:pPr>
            <a:r>
              <a:t/>
            </a:r>
            <a:endParaRPr sz="1100">
              <a:solidFill>
                <a:schemeClr val="dk1"/>
              </a:solidFill>
              <a:latin typeface="Times New Roman"/>
              <a:ea typeface="Times New Roman"/>
              <a:cs typeface="Times New Roman"/>
              <a:sym typeface="Times New Roman"/>
            </a:endParaRPr>
          </a:p>
          <a:p>
            <a:pPr indent="-101600" lvl="0" marL="171450" marR="0" rtl="0" algn="l">
              <a:spcBef>
                <a:spcPts val="0"/>
              </a:spcBef>
              <a:spcAft>
                <a:spcPts val="0"/>
              </a:spcAft>
              <a:buClr>
                <a:schemeClr val="dk1"/>
              </a:buClr>
              <a:buSzPts val="1100"/>
              <a:buFont typeface="Noto Sans Symbols"/>
              <a:buNone/>
            </a:pPr>
            <a:r>
              <a:t/>
            </a:r>
            <a:endParaRPr sz="1100">
              <a:solidFill>
                <a:schemeClr val="dk1"/>
              </a:solidFill>
              <a:latin typeface="Times New Roman"/>
              <a:ea typeface="Times New Roman"/>
              <a:cs typeface="Times New Roman"/>
              <a:sym typeface="Times New Roman"/>
            </a:endParaRPr>
          </a:p>
          <a:p>
            <a:pPr indent="-95250" lvl="0" marL="171450" marR="0" rtl="0" algn="l">
              <a:spcBef>
                <a:spcPts val="0"/>
              </a:spcBef>
              <a:spcAft>
                <a:spcPts val="0"/>
              </a:spcAft>
              <a:buClr>
                <a:schemeClr val="dk1"/>
              </a:buClr>
              <a:buSzPts val="1200"/>
              <a:buFont typeface="Noto Sans Symbols"/>
              <a:buNone/>
            </a:pPr>
            <a:r>
              <a:t/>
            </a:r>
            <a:endParaRPr b="1" sz="1200">
              <a:solidFill>
                <a:schemeClr val="dk1"/>
              </a:solidFill>
              <a:latin typeface="Times New Roman"/>
              <a:ea typeface="Times New Roman"/>
              <a:cs typeface="Times New Roman"/>
              <a:sym typeface="Times New Roman"/>
            </a:endParaRPr>
          </a:p>
          <a:p>
            <a:pPr indent="-95250" lvl="0" marL="171450" marR="0" rtl="0" algn="l">
              <a:spcBef>
                <a:spcPts val="0"/>
              </a:spcBef>
              <a:spcAft>
                <a:spcPts val="0"/>
              </a:spcAft>
              <a:buClr>
                <a:schemeClr val="dk1"/>
              </a:buClr>
              <a:buSzPts val="1200"/>
              <a:buFont typeface="Noto Sans Symbols"/>
              <a:buNone/>
            </a:pPr>
            <a:r>
              <a:t/>
            </a:r>
            <a:endParaRPr b="1" sz="12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p:nvPr/>
        </p:nvSpPr>
        <p:spPr>
          <a:xfrm>
            <a:off x="367553" y="762000"/>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pic>
        <p:nvPicPr>
          <p:cNvPr descr="A close up of a logo&#10;&#10;Description generated with very high confidence" id="162" name="Google Shape;162;p7"/>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63" name="Google Shape;163;p7"/>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64" name="Google Shape;164;p7"/>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
        <p:nvSpPr>
          <p:cNvPr id="165" name="Google Shape;165;p7"/>
          <p:cNvSpPr txBox="1"/>
          <p:nvPr/>
        </p:nvSpPr>
        <p:spPr>
          <a:xfrm>
            <a:off x="485913" y="977348"/>
            <a:ext cx="3423477"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u="sng">
                <a:solidFill>
                  <a:schemeClr val="dk1"/>
                </a:solidFill>
                <a:latin typeface="Times New Roman"/>
                <a:ea typeface="Times New Roman"/>
                <a:cs typeface="Times New Roman"/>
                <a:sym typeface="Times New Roman"/>
              </a:rPr>
              <a:t>Pricing Analysis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7"/>
          <p:cNvSpPr txBox="1"/>
          <p:nvPr/>
        </p:nvSpPr>
        <p:spPr>
          <a:xfrm>
            <a:off x="369954" y="1700694"/>
            <a:ext cx="5991000" cy="484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dk1"/>
                </a:solidFill>
                <a:latin typeface="Times New Roman"/>
                <a:ea typeface="Times New Roman"/>
                <a:cs typeface="Times New Roman"/>
                <a:sym typeface="Times New Roman"/>
              </a:rPr>
              <a:t>Pricing range is determined based on current NOI &amp; Legal Status / Regulatory factors.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i="1" sz="1600">
              <a:solidFill>
                <a:schemeClr val="dk1"/>
              </a:solidFill>
              <a:latin typeface="Times New Roman"/>
              <a:ea typeface="Times New Roman"/>
              <a:cs typeface="Times New Roman"/>
              <a:sym typeface="Times New Roman"/>
            </a:endParaRPr>
          </a:p>
          <a:p>
            <a:pPr indent="-196850" lvl="0" marL="285750" marR="0" rtl="0" algn="l">
              <a:spcBef>
                <a:spcPts val="0"/>
              </a:spcBef>
              <a:spcAft>
                <a:spcPts val="0"/>
              </a:spcAft>
              <a:buClr>
                <a:schemeClr val="dk1"/>
              </a:buClr>
              <a:buSzPts val="1400"/>
              <a:buFont typeface="Noto Sans Symbols"/>
              <a:buNone/>
            </a:pPr>
            <a:r>
              <a:t/>
            </a:r>
            <a:endParaRPr b="1" i="1"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600">
                <a:solidFill>
                  <a:schemeClr val="dk1"/>
                </a:solidFill>
                <a:latin typeface="Times New Roman"/>
                <a:ea typeface="Times New Roman"/>
                <a:cs typeface="Times New Roman"/>
                <a:sym typeface="Times New Roman"/>
              </a:rPr>
              <a:t>Price Range</a:t>
            </a:r>
            <a:r>
              <a:rPr b="1" lang="en-US" sz="1600">
                <a:solidFill>
                  <a:schemeClr val="dk1"/>
                </a:solidFill>
                <a:latin typeface="Calibri"/>
                <a:ea typeface="Calibri"/>
                <a:cs typeface="Calibri"/>
                <a:sym typeface="Calibri"/>
              </a:rPr>
              <a:t>      </a:t>
            </a:r>
            <a:endParaRPr b="1" sz="16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600"/>
              <a:buFont typeface="Noto Sans Symbols"/>
              <a:buChar char="⮚"/>
            </a:pPr>
            <a:r>
              <a:rPr b="1" lang="en-US" sz="1600">
                <a:solidFill>
                  <a:schemeClr val="dk1"/>
                </a:solidFill>
                <a:latin typeface="Times New Roman"/>
                <a:ea typeface="Times New Roman"/>
                <a:cs typeface="Times New Roman"/>
                <a:sym typeface="Times New Roman"/>
              </a:rPr>
              <a:t>INPUT RANGE (HIGH TO LOW)                   </a:t>
            </a:r>
            <a:endParaRPr sz="1600">
              <a:solidFill>
                <a:schemeClr val="dk1"/>
              </a:solidFill>
              <a:latin typeface="Times New Roman"/>
              <a:ea typeface="Times New Roman"/>
              <a:cs typeface="Times New Roman"/>
              <a:sym typeface="Times New Roman"/>
            </a:endParaRPr>
          </a:p>
          <a:p>
            <a:pPr indent="-184150" lvl="0" marL="285750" marR="0" rtl="0" algn="l">
              <a:spcBef>
                <a:spcPts val="0"/>
              </a:spcBef>
              <a:spcAft>
                <a:spcPts val="0"/>
              </a:spcAft>
              <a:buClr>
                <a:schemeClr val="dk1"/>
              </a:buClr>
              <a:buSzPts val="1600"/>
              <a:buFont typeface="Noto Sans Symbols"/>
              <a:buNone/>
            </a:pPr>
            <a:r>
              <a:rPr lang="en-US" sz="1600">
                <a:solidFill>
                  <a:schemeClr val="dk1"/>
                </a:solidFill>
                <a:latin typeface="Times New Roman"/>
                <a:ea typeface="Times New Roman"/>
                <a:cs typeface="Times New Roman"/>
                <a:sym typeface="Times New Roman"/>
              </a:rPr>
              <a:t>INPUT PRICE PER SQFT</a:t>
            </a:r>
            <a:endParaRPr sz="1600">
              <a:solidFill>
                <a:schemeClr val="dk1"/>
              </a:solidFill>
              <a:latin typeface="Times New Roman"/>
              <a:ea typeface="Times New Roman"/>
              <a:cs typeface="Times New Roman"/>
              <a:sym typeface="Times New Roman"/>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600">
                <a:solidFill>
                  <a:schemeClr val="dk1"/>
                </a:solidFill>
                <a:latin typeface="Times New Roman"/>
                <a:ea typeface="Times New Roman"/>
                <a:cs typeface="Times New Roman"/>
                <a:sym typeface="Times New Roman"/>
              </a:rPr>
              <a:t>Deliverables of Sales Process</a:t>
            </a:r>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Times New Roman"/>
                <a:ea typeface="Times New Roman"/>
                <a:cs typeface="Times New Roman"/>
                <a:sym typeface="Times New Roman"/>
              </a:rPr>
              <a:t>Offers in Writing:</a:t>
            </a:r>
            <a:r>
              <a:rPr b="1" lang="en-US" sz="1600">
                <a:solidFill>
                  <a:schemeClr val="dk1"/>
                </a:solidFill>
                <a:latin typeface="Times New Roman"/>
                <a:ea typeface="Times New Roman"/>
                <a:cs typeface="Times New Roman"/>
                <a:sym typeface="Times New Roman"/>
              </a:rPr>
              <a:t> 5-10</a:t>
            </a:r>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Times New Roman"/>
                <a:ea typeface="Times New Roman"/>
                <a:cs typeface="Times New Roman"/>
                <a:sym typeface="Times New Roman"/>
              </a:rPr>
              <a:t>Property Tours:</a:t>
            </a:r>
            <a:r>
              <a:rPr b="1" lang="en-US" sz="1600">
                <a:solidFill>
                  <a:schemeClr val="dk1"/>
                </a:solidFill>
                <a:latin typeface="Times New Roman"/>
                <a:ea typeface="Times New Roman"/>
                <a:cs typeface="Times New Roman"/>
                <a:sym typeface="Times New Roman"/>
              </a:rPr>
              <a:t> 10-15</a:t>
            </a:r>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Times New Roman"/>
              <a:ea typeface="Times New Roman"/>
              <a:cs typeface="Times New Roman"/>
              <a:sym typeface="Times New Roman"/>
            </a:endParaRPr>
          </a:p>
          <a:p>
            <a:pPr indent="-184150" lvl="0" marL="285750" marR="0" rtl="0" algn="l">
              <a:spcBef>
                <a:spcPts val="0"/>
              </a:spcBef>
              <a:spcAft>
                <a:spcPts val="0"/>
              </a:spcAft>
              <a:buClr>
                <a:schemeClr val="dk1"/>
              </a:buClr>
              <a:buSzPts val="1600"/>
              <a:buFont typeface="Noto Sans Symbols"/>
              <a:buNone/>
            </a:pPr>
            <a:r>
              <a:t/>
            </a: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600">
                <a:solidFill>
                  <a:schemeClr val="dk1"/>
                </a:solidFill>
                <a:latin typeface="Times New Roman"/>
                <a:ea typeface="Times New Roman"/>
                <a:cs typeface="Times New Roman"/>
                <a:sym typeface="Times New Roman"/>
              </a:rPr>
              <a:t>Typical Transaction Timeline</a:t>
            </a:r>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Times New Roman"/>
                <a:ea typeface="Times New Roman"/>
                <a:cs typeface="Times New Roman"/>
                <a:sym typeface="Times New Roman"/>
              </a:rPr>
              <a:t>Signed Contract: </a:t>
            </a:r>
            <a:r>
              <a:rPr b="1" lang="en-US" sz="1600">
                <a:solidFill>
                  <a:schemeClr val="dk1"/>
                </a:solidFill>
                <a:latin typeface="Times New Roman"/>
                <a:ea typeface="Times New Roman"/>
                <a:cs typeface="Times New Roman"/>
                <a:sym typeface="Times New Roman"/>
              </a:rPr>
              <a:t>2 – 4 months</a:t>
            </a:r>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Times New Roman"/>
                <a:ea typeface="Times New Roman"/>
                <a:cs typeface="Times New Roman"/>
                <a:sym typeface="Times New Roman"/>
              </a:rPr>
              <a:t>Closed Sale: </a:t>
            </a:r>
            <a:r>
              <a:rPr b="1" lang="en-US" sz="1600">
                <a:solidFill>
                  <a:schemeClr val="dk1"/>
                </a:solidFill>
                <a:latin typeface="Times New Roman"/>
                <a:ea typeface="Times New Roman"/>
                <a:cs typeface="Times New Roman"/>
                <a:sym typeface="Times New Roman"/>
              </a:rPr>
              <a:t>3 – 5 months</a:t>
            </a:r>
            <a:endParaRPr/>
          </a:p>
          <a:p>
            <a:pPr indent="-285750" lvl="0" marL="285750" marR="0" rtl="0" algn="l">
              <a:spcBef>
                <a:spcPts val="0"/>
              </a:spcBef>
              <a:spcAft>
                <a:spcPts val="0"/>
              </a:spcAft>
              <a:buClr>
                <a:schemeClr val="dk1"/>
              </a:buClr>
              <a:buSzPts val="1600"/>
              <a:buFont typeface="Noto Sans Symbols"/>
              <a:buChar char="⮚"/>
            </a:pPr>
            <a:r>
              <a:rPr lang="en-US" sz="1600">
                <a:solidFill>
                  <a:schemeClr val="dk1"/>
                </a:solidFill>
                <a:latin typeface="Times New Roman"/>
                <a:ea typeface="Times New Roman"/>
                <a:cs typeface="Times New Roman"/>
                <a:sym typeface="Times New Roman"/>
              </a:rPr>
              <a:t>Completed 1031 Exchange: </a:t>
            </a:r>
            <a:r>
              <a:rPr b="1" lang="en-US" sz="1600">
                <a:solidFill>
                  <a:schemeClr val="dk1"/>
                </a:solidFill>
                <a:latin typeface="Times New Roman"/>
                <a:ea typeface="Times New Roman"/>
                <a:cs typeface="Times New Roman"/>
                <a:sym typeface="Times New Roman"/>
              </a:rPr>
              <a:t>5 – 7 months</a:t>
            </a:r>
            <a:endParaRPr/>
          </a:p>
          <a:p>
            <a:pPr indent="-184150" lvl="1" marL="285750" marR="0" rtl="0" algn="l">
              <a:spcBef>
                <a:spcPts val="0"/>
              </a:spcBef>
              <a:spcAft>
                <a:spcPts val="0"/>
              </a:spcAft>
              <a:buClr>
                <a:schemeClr val="dk1"/>
              </a:buClr>
              <a:buSzPts val="1600"/>
              <a:buFont typeface="Noto Sans Symbols"/>
              <a:buNone/>
            </a:pPr>
            <a:r>
              <a:t/>
            </a:r>
            <a:endParaRPr b="1" i="0" sz="1600" u="none" cap="none" strike="noStrike">
              <a:solidFill>
                <a:schemeClr val="dk1"/>
              </a:solidFill>
              <a:latin typeface="Times New Roman"/>
              <a:ea typeface="Times New Roman"/>
              <a:cs typeface="Times New Roman"/>
              <a:sym typeface="Times New Roman"/>
            </a:endParaRPr>
          </a:p>
          <a:p>
            <a:pPr indent="-184150" lvl="0" marL="285750" marR="0" rtl="0" algn="l">
              <a:spcBef>
                <a:spcPts val="800"/>
              </a:spcBef>
              <a:spcAft>
                <a:spcPts val="0"/>
              </a:spcAft>
              <a:buClr>
                <a:schemeClr val="dk1"/>
              </a:buClr>
              <a:buSzPts val="1600"/>
              <a:buFont typeface="Noto Sans Symbols"/>
              <a:buNone/>
            </a:pPr>
            <a:r>
              <a:t/>
            </a:r>
            <a:endParaRPr sz="1600">
              <a:solidFill>
                <a:schemeClr val="dk1"/>
              </a:solidFill>
              <a:latin typeface="Times New Roman"/>
              <a:ea typeface="Times New Roman"/>
              <a:cs typeface="Times New Roman"/>
              <a:sym typeface="Times New Roman"/>
            </a:endParaRPr>
          </a:p>
        </p:txBody>
      </p:sp>
      <p:pic>
        <p:nvPicPr>
          <p:cNvPr descr="Empire State Building - Wikipedia" id="167" name="Google Shape;167;p7"/>
          <p:cNvPicPr preferRelativeResize="0"/>
          <p:nvPr/>
        </p:nvPicPr>
        <p:blipFill rotWithShape="1">
          <a:blip r:embed="rId4">
            <a:alphaModFix/>
          </a:blip>
          <a:srcRect b="0" l="0" r="0" t="0"/>
          <a:stretch/>
        </p:blipFill>
        <p:spPr>
          <a:xfrm>
            <a:off x="6501158" y="681868"/>
            <a:ext cx="2270814" cy="5742745"/>
          </a:xfrm>
          <a:prstGeom prst="rect">
            <a:avLst/>
          </a:prstGeom>
          <a:noFill/>
          <a:ln>
            <a:noFill/>
          </a:ln>
        </p:spPr>
      </p:pic>
    </p:spTree>
  </p:cSld>
  <p:clrMapOvr>
    <a:masterClrMapping/>
  </p:clrMapOvr>
  <mc:AlternateContent>
    <mc:Choice Requires="p14">
      <p:transition spd="slow" p14:dur="15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p:nvPr/>
        </p:nvSpPr>
        <p:spPr>
          <a:xfrm>
            <a:off x="0" y="1117484"/>
            <a:ext cx="9144000" cy="368225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90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88"/>
              <a:buFont typeface="Calibri"/>
              <a:buNone/>
            </a:pPr>
            <a:r>
              <a:t/>
            </a:r>
            <a:endParaRPr b="0" i="0" sz="1588" u="none" cap="none" strike="noStrike">
              <a:solidFill>
                <a:srgbClr val="000000"/>
              </a:solidFill>
              <a:latin typeface="Times New Roman"/>
              <a:ea typeface="Times New Roman"/>
              <a:cs typeface="Times New Roman"/>
              <a:sym typeface="Times New Roman"/>
            </a:endParaRPr>
          </a:p>
        </p:txBody>
      </p:sp>
      <p:sp>
        <p:nvSpPr>
          <p:cNvPr id="173" name="Google Shape;173;p8"/>
          <p:cNvSpPr txBox="1"/>
          <p:nvPr>
            <p:ph type="title"/>
          </p:nvPr>
        </p:nvSpPr>
        <p:spPr>
          <a:xfrm>
            <a:off x="-1" y="2324100"/>
            <a:ext cx="8267701" cy="716259"/>
          </a:xfrm>
          <a:prstGeom prst="rect">
            <a:avLst/>
          </a:prstGeom>
          <a:noFill/>
          <a:ln>
            <a:noFill/>
          </a:ln>
        </p:spPr>
        <p:txBody>
          <a:bodyPr anchorCtr="0" anchor="t" bIns="0" lIns="0" spcFirstLastPara="1" rIns="0" wrap="square" tIns="14000">
            <a:spAutoFit/>
          </a:bodyPr>
          <a:lstStyle/>
          <a:p>
            <a:pPr indent="0" lvl="0" marL="1289306" rtl="0" algn="r">
              <a:lnSpc>
                <a:spcPct val="197562"/>
              </a:lnSpc>
              <a:spcBef>
                <a:spcPts val="0"/>
              </a:spcBef>
              <a:spcAft>
                <a:spcPts val="0"/>
              </a:spcAft>
              <a:buNone/>
            </a:pPr>
            <a:r>
              <a:rPr lang="en-US" sz="3200">
                <a:latin typeface="Times New Roman"/>
                <a:ea typeface="Times New Roman"/>
                <a:cs typeface="Times New Roman"/>
                <a:sym typeface="Times New Roman"/>
              </a:rPr>
              <a:t>Exit Strategies</a:t>
            </a:r>
            <a:endParaRPr sz="3200">
              <a:latin typeface="Times New Roman"/>
              <a:ea typeface="Times New Roman"/>
              <a:cs typeface="Times New Roman"/>
              <a:sym typeface="Times New Roman"/>
            </a:endParaRPr>
          </a:p>
        </p:txBody>
      </p:sp>
      <p:pic>
        <p:nvPicPr>
          <p:cNvPr descr="A close up of a logo&#10;&#10;Description generated with very high confidence" id="174" name="Google Shape;174;p8"/>
          <p:cNvPicPr preferRelativeResize="0"/>
          <p:nvPr/>
        </p:nvPicPr>
        <p:blipFill rotWithShape="1">
          <a:blip r:embed="rId3">
            <a:alphaModFix/>
          </a:blip>
          <a:srcRect b="0" l="0" r="0" t="0"/>
          <a:stretch/>
        </p:blipFill>
        <p:spPr>
          <a:xfrm>
            <a:off x="7255153" y="4250742"/>
            <a:ext cx="1491832" cy="552887"/>
          </a:xfrm>
          <a:prstGeom prst="rect">
            <a:avLst/>
          </a:prstGeom>
          <a:noFill/>
          <a:ln>
            <a:noFill/>
          </a:ln>
        </p:spPr>
      </p:pic>
      <p:sp>
        <p:nvSpPr>
          <p:cNvPr id="175" name="Google Shape;175;p8"/>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76" name="Google Shape;176;p8"/>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367553" y="815228"/>
            <a:ext cx="470647" cy="0"/>
          </a:xfrm>
          <a:custGeom>
            <a:rect b="b" l="l" r="r" t="t"/>
            <a:pathLst>
              <a:path extrusionOk="0" h="120000" w="533400">
                <a:moveTo>
                  <a:pt x="0" y="0"/>
                </a:moveTo>
                <a:lnTo>
                  <a:pt x="532853" y="0"/>
                </a:lnTo>
              </a:path>
            </a:pathLst>
          </a:custGeom>
          <a:noFill/>
          <a:ln cap="flat" cmpd="sng" w="19050">
            <a:solidFill>
              <a:srgbClr val="F3752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82" name="Google Shape;182;p9"/>
          <p:cNvSpPr/>
          <p:nvPr/>
        </p:nvSpPr>
        <p:spPr>
          <a:xfrm>
            <a:off x="0" y="1117871"/>
            <a:ext cx="9055227" cy="4950073"/>
          </a:xfrm>
          <a:prstGeom prst="rect">
            <a:avLst/>
          </a:prstGeom>
          <a:noFill/>
          <a:ln>
            <a:noFill/>
          </a:ln>
        </p:spPr>
        <p:txBody>
          <a:bodyPr anchorCtr="0" anchor="t" bIns="45700" lIns="91425" spcFirstLastPara="1" rIns="91425" wrap="square" tIns="45700">
            <a:spAutoFit/>
          </a:bodyPr>
          <a:lstStyle/>
          <a:p>
            <a:pPr indent="0" lvl="1" marL="342900" marR="0" rtl="0" algn="l">
              <a:spcBef>
                <a:spcPts val="0"/>
              </a:spcBef>
              <a:spcAft>
                <a:spcPts val="0"/>
              </a:spcAft>
              <a:buNone/>
            </a:pPr>
            <a:r>
              <a:rPr b="1" i="0" lang="en-US" sz="1600" u="none" cap="none" strike="noStrike">
                <a:solidFill>
                  <a:schemeClr val="dk1"/>
                </a:solidFill>
                <a:latin typeface="Times New Roman"/>
                <a:ea typeface="Times New Roman"/>
                <a:cs typeface="Times New Roman"/>
                <a:sym typeface="Times New Roman"/>
              </a:rPr>
              <a:t>Exit Strategy #1:  </a:t>
            </a:r>
            <a:r>
              <a:rPr b="0" i="0" lang="en-US" sz="1600" u="none" cap="none" strike="noStrike">
                <a:solidFill>
                  <a:schemeClr val="dk1"/>
                </a:solidFill>
                <a:latin typeface="Times New Roman"/>
                <a:ea typeface="Times New Roman"/>
                <a:cs typeface="Times New Roman"/>
                <a:sym typeface="Times New Roman"/>
              </a:rPr>
              <a:t>Sell  &gt;  Cash out  &gt;  Pay capital gains taxes</a:t>
            </a:r>
            <a:endParaRPr b="0" i="0" sz="1600" u="none" cap="none" strike="noStrike">
              <a:solidFill>
                <a:schemeClr val="dk1"/>
              </a:solidFill>
              <a:latin typeface="Times New Roman"/>
              <a:ea typeface="Times New Roman"/>
              <a:cs typeface="Times New Roman"/>
              <a:sym typeface="Times New Roman"/>
            </a:endParaRPr>
          </a:p>
          <a:p>
            <a:pPr indent="-342900" lvl="1" marL="685800" marR="0" rtl="0" algn="l">
              <a:spcBef>
                <a:spcPts val="180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Will refer in house legal advisors to price out potential cash out based on property's current cost basis.</a:t>
            </a:r>
            <a:endParaRPr/>
          </a:p>
          <a:p>
            <a:pPr indent="0" lvl="1" marL="342900" marR="0" rtl="0" algn="l">
              <a:spcBef>
                <a:spcPts val="1200"/>
              </a:spcBef>
              <a:spcAft>
                <a:spcPts val="0"/>
              </a:spcAft>
              <a:buNone/>
            </a:pPr>
            <a:r>
              <a:rPr b="1" i="0" lang="en-US" sz="1600" u="none" cap="none" strike="noStrike">
                <a:solidFill>
                  <a:schemeClr val="dk1"/>
                </a:solidFill>
                <a:latin typeface="Times New Roman"/>
                <a:ea typeface="Times New Roman"/>
                <a:cs typeface="Times New Roman"/>
                <a:sym typeface="Times New Roman"/>
              </a:rPr>
              <a:t>Exit Strategy #2:  </a:t>
            </a:r>
            <a:r>
              <a:rPr b="0" i="0" lang="en-US" sz="1600" u="none" cap="none" strike="noStrike">
                <a:solidFill>
                  <a:schemeClr val="dk1"/>
                </a:solidFill>
                <a:latin typeface="Times New Roman"/>
                <a:ea typeface="Times New Roman"/>
                <a:cs typeface="Times New Roman"/>
                <a:sym typeface="Times New Roman"/>
              </a:rPr>
              <a:t>Sell  &gt;  1031 Exchange  &gt; Reinvest &amp; defer capital gains taxes</a:t>
            </a:r>
            <a:endParaRPr/>
          </a:p>
          <a:p>
            <a:pPr indent="-342900" lvl="1" marL="685800" marR="0" rtl="0" algn="l">
              <a:spcBef>
                <a:spcPts val="20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one property or more than one property. </a:t>
            </a:r>
            <a:endParaRPr b="0" i="0" sz="1600" u="none" cap="none" strike="noStrike">
              <a:solidFill>
                <a:schemeClr val="dk1"/>
              </a:solidFill>
              <a:latin typeface="Times New Roman"/>
              <a:ea typeface="Times New Roman"/>
              <a:cs typeface="Times New Roman"/>
              <a:sym typeface="Times New Roman"/>
            </a:endParaRPr>
          </a:p>
          <a:p>
            <a:pPr indent="-342900" lvl="1" marL="685800" marR="0" rtl="0" algn="l">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a property or properties in NYC or outside NYC.</a:t>
            </a:r>
            <a:endParaRPr/>
          </a:p>
          <a:p>
            <a:pPr indent="-342900" lvl="1" marL="685800" marR="0" rtl="0" algn="l">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partially into a condo, a coop or a vacation home.</a:t>
            </a:r>
            <a:endParaRPr/>
          </a:p>
          <a:p>
            <a:pPr indent="-342900" lvl="1" marL="685800" marR="0" rtl="0" algn="l">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income-producing properties.</a:t>
            </a:r>
            <a:endParaRPr/>
          </a:p>
          <a:p>
            <a:pPr indent="-342900" lvl="1" marL="685800" marR="0" rtl="0" algn="l">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management intensive or management-free properties (NNN properties).</a:t>
            </a:r>
            <a:endParaRPr/>
          </a:p>
          <a:p>
            <a:pPr indent="-342900" lvl="1" marL="685800" marR="0" rtl="0" algn="l">
              <a:spcBef>
                <a:spcPts val="1200"/>
              </a:spcBef>
              <a:spcAft>
                <a:spcPts val="0"/>
              </a:spcAft>
              <a:buClr>
                <a:srgbClr val="ED7D3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Exchange into a bigger property using a mortgage.</a:t>
            </a:r>
            <a:endParaRPr/>
          </a:p>
          <a:p>
            <a:pPr indent="-184150" lvl="1" marL="628650" marR="0" rtl="0" algn="l">
              <a:spcBef>
                <a:spcPts val="1200"/>
              </a:spcBef>
              <a:spcAft>
                <a:spcPts val="0"/>
              </a:spcAft>
              <a:buClr>
                <a:srgbClr val="ED7D3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a:p>
            <a:pPr indent="0" lvl="1" marL="342900" marR="0" rtl="0" algn="ctr">
              <a:spcBef>
                <a:spcPts val="1200"/>
              </a:spcBef>
              <a:spcAft>
                <a:spcPts val="0"/>
              </a:spcAft>
              <a:buNone/>
            </a:pPr>
            <a:r>
              <a:rPr b="0" i="1" lang="en-US" sz="1400" u="none" cap="none" strike="noStrike">
                <a:solidFill>
                  <a:schemeClr val="dk1"/>
                </a:solidFill>
                <a:latin typeface="Times New Roman"/>
                <a:ea typeface="Times New Roman"/>
                <a:cs typeface="Times New Roman"/>
                <a:sym typeface="Times New Roman"/>
              </a:rPr>
              <a:t>If a 1031 exchange is pursued, we work in concert with 1031 and NNN specialists to manage the process through to completion. NNN specialists will find properties around the country that best fit client specifications.</a:t>
            </a:r>
            <a:endParaRPr/>
          </a:p>
        </p:txBody>
      </p:sp>
      <p:pic>
        <p:nvPicPr>
          <p:cNvPr descr="A close up of a logo&#10;&#10;Description generated with very high confidence" id="183" name="Google Shape;183;p9"/>
          <p:cNvPicPr preferRelativeResize="0"/>
          <p:nvPr/>
        </p:nvPicPr>
        <p:blipFill rotWithShape="1">
          <a:blip r:embed="rId3">
            <a:alphaModFix/>
          </a:blip>
          <a:srcRect b="0" l="0" r="0" t="0"/>
          <a:stretch/>
        </p:blipFill>
        <p:spPr>
          <a:xfrm>
            <a:off x="371935" y="6255136"/>
            <a:ext cx="1454182" cy="543754"/>
          </a:xfrm>
          <a:prstGeom prst="rect">
            <a:avLst/>
          </a:prstGeom>
          <a:noFill/>
          <a:ln>
            <a:noFill/>
          </a:ln>
        </p:spPr>
      </p:pic>
      <p:sp>
        <p:nvSpPr>
          <p:cNvPr id="184" name="Google Shape;184;p9"/>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85" name="Google Shape;185;p9"/>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Effect filter="fade" transition="in">
                                      <p:cBhvr>
                                        <p:cTn dur="1500"/>
                                        <p:tgtEl>
                                          <p:spTgt spid="1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Effect filter="fade" transition="in">
                                      <p:cBhvr>
                                        <p:cTn dur="1500"/>
                                        <p:tgtEl>
                                          <p:spTgt spid="1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Effect filter="fade" transition="in">
                                      <p:cBhvr>
                                        <p:cTn dur="1500"/>
                                        <p:tgtEl>
                                          <p:spTgt spid="1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Effect filter="fade" transition="in">
                                      <p:cBhvr>
                                        <p:cTn dur="1500"/>
                                        <p:tgtEl>
                                          <p:spTgt spid="1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4" st="4"/>
                                            </p:txEl>
                                          </p:spTgt>
                                        </p:tgtEl>
                                        <p:attrNameLst>
                                          <p:attrName>style.visibility</p:attrName>
                                        </p:attrNameLst>
                                      </p:cBhvr>
                                      <p:to>
                                        <p:strVal val="visible"/>
                                      </p:to>
                                    </p:set>
                                    <p:animEffect filter="fade" transition="in">
                                      <p:cBhvr>
                                        <p:cTn dur="1500"/>
                                        <p:tgtEl>
                                          <p:spTgt spid="1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5" st="5"/>
                                            </p:txEl>
                                          </p:spTgt>
                                        </p:tgtEl>
                                        <p:attrNameLst>
                                          <p:attrName>style.visibility</p:attrName>
                                        </p:attrNameLst>
                                      </p:cBhvr>
                                      <p:to>
                                        <p:strVal val="visible"/>
                                      </p:to>
                                    </p:set>
                                    <p:animEffect filter="fade" transition="in">
                                      <p:cBhvr>
                                        <p:cTn dur="1500"/>
                                        <p:tgtEl>
                                          <p:spTgt spid="1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6" st="6"/>
                                            </p:txEl>
                                          </p:spTgt>
                                        </p:tgtEl>
                                        <p:attrNameLst>
                                          <p:attrName>style.visibility</p:attrName>
                                        </p:attrNameLst>
                                      </p:cBhvr>
                                      <p:to>
                                        <p:strVal val="visible"/>
                                      </p:to>
                                    </p:set>
                                    <p:animEffect filter="fade" transition="in">
                                      <p:cBhvr>
                                        <p:cTn dur="1500"/>
                                        <p:tgtEl>
                                          <p:spTgt spid="1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7" st="7"/>
                                            </p:txEl>
                                          </p:spTgt>
                                        </p:tgtEl>
                                        <p:attrNameLst>
                                          <p:attrName>style.visibility</p:attrName>
                                        </p:attrNameLst>
                                      </p:cBhvr>
                                      <p:to>
                                        <p:strVal val="visible"/>
                                      </p:to>
                                    </p:set>
                                    <p:animEffect filter="fade" transition="in">
                                      <p:cBhvr>
                                        <p:cTn dur="1500"/>
                                        <p:tgtEl>
                                          <p:spTgt spid="18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8" st="8"/>
                                            </p:txEl>
                                          </p:spTgt>
                                        </p:tgtEl>
                                        <p:attrNameLst>
                                          <p:attrName>style.visibility</p:attrName>
                                        </p:attrNameLst>
                                      </p:cBhvr>
                                      <p:to>
                                        <p:strVal val="visible"/>
                                      </p:to>
                                    </p:set>
                                    <p:animEffect filter="fade" transition="in">
                                      <p:cBhvr>
                                        <p:cTn dur="1500"/>
                                        <p:tgtEl>
                                          <p:spTgt spid="18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9" st="9"/>
                                            </p:txEl>
                                          </p:spTgt>
                                        </p:tgtEl>
                                        <p:attrNameLst>
                                          <p:attrName>style.visibility</p:attrName>
                                        </p:attrNameLst>
                                      </p:cBhvr>
                                      <p:to>
                                        <p:strVal val="visible"/>
                                      </p:to>
                                    </p:set>
                                    <p:animEffect filter="fade" transition="in">
                                      <p:cBhvr>
                                        <p:cTn dur="1500"/>
                                        <p:tgtEl>
                                          <p:spTgt spid="18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0" st="10"/>
                                            </p:txEl>
                                          </p:spTgt>
                                        </p:tgtEl>
                                        <p:attrNameLst>
                                          <p:attrName>style.visibility</p:attrName>
                                        </p:attrNameLst>
                                      </p:cBhvr>
                                      <p:to>
                                        <p:strVal val="visible"/>
                                      </p:to>
                                    </p:set>
                                    <p:animEffect filter="fade" transition="in">
                                      <p:cBhvr>
                                        <p:cTn dur="1500"/>
                                        <p:tgtEl>
                                          <p:spTgt spid="182">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p:nvPr/>
        </p:nvSpPr>
        <p:spPr>
          <a:xfrm>
            <a:off x="601322" y="459146"/>
            <a:ext cx="2382383" cy="584775"/>
          </a:xfrm>
          <a:prstGeom prst="rect">
            <a:avLst/>
          </a:prstGeom>
          <a:noFill/>
          <a:ln>
            <a:noFill/>
          </a:ln>
        </p:spPr>
        <p:txBody>
          <a:bodyPr anchorCtr="0" anchor="t" bIns="45700" lIns="91425" spcFirstLastPara="1" rIns="91425" wrap="square" tIns="45700">
            <a:spAutoFit/>
          </a:bodyPr>
          <a:lstStyle/>
          <a:p>
            <a:pPr indent="-285115" lvl="0" marL="285115" marR="0" rtl="0" algn="l">
              <a:spcBef>
                <a:spcPts val="0"/>
              </a:spcBef>
              <a:spcAft>
                <a:spcPts val="0"/>
              </a:spcAft>
              <a:buNone/>
            </a:pPr>
            <a:r>
              <a:rPr b="1" lang="en-US" sz="3200" cap="small">
                <a:solidFill>
                  <a:srgbClr val="1F325C"/>
                </a:solidFill>
                <a:latin typeface="Times New Roman"/>
                <a:ea typeface="Times New Roman"/>
                <a:cs typeface="Times New Roman"/>
                <a:sym typeface="Times New Roman"/>
              </a:rPr>
              <a:t>Case Study</a:t>
            </a:r>
            <a:endParaRPr sz="1800">
              <a:solidFill>
                <a:schemeClr val="dk1"/>
              </a:solidFill>
              <a:latin typeface="Calibri"/>
              <a:ea typeface="Calibri"/>
              <a:cs typeface="Calibri"/>
              <a:sym typeface="Calibri"/>
            </a:endParaRPr>
          </a:p>
        </p:txBody>
      </p:sp>
      <p:pic>
        <p:nvPicPr>
          <p:cNvPr descr="Several buildings in a city&#10;&#10;AI-generated content may be incorrect." id="191" name="Google Shape;191;p10"/>
          <p:cNvPicPr preferRelativeResize="0"/>
          <p:nvPr/>
        </p:nvPicPr>
        <p:blipFill rotWithShape="1">
          <a:blip r:embed="rId3">
            <a:alphaModFix/>
          </a:blip>
          <a:srcRect b="0" l="0" r="0" t="0"/>
          <a:stretch/>
        </p:blipFill>
        <p:spPr>
          <a:xfrm>
            <a:off x="437892" y="1046206"/>
            <a:ext cx="5086350" cy="2819400"/>
          </a:xfrm>
          <a:prstGeom prst="rect">
            <a:avLst/>
          </a:prstGeom>
          <a:noFill/>
          <a:ln>
            <a:noFill/>
          </a:ln>
        </p:spPr>
      </p:pic>
      <p:sp>
        <p:nvSpPr>
          <p:cNvPr id="192" name="Google Shape;192;p10"/>
          <p:cNvSpPr txBox="1"/>
          <p:nvPr/>
        </p:nvSpPr>
        <p:spPr>
          <a:xfrm>
            <a:off x="325748" y="4170530"/>
            <a:ext cx="6048881" cy="273921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The owner decided to sell their building after thirty years of ownership.</a:t>
            </a:r>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The owner exchanged into two Net-Lease properties in two different states. </a:t>
            </a:r>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Long-term leases and minimal to no management </a:t>
            </a:r>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The owner reinvested all $2,300,000 that would have been owed to the IRS for capital gains taxes.</a:t>
            </a:r>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The owner adds more than $110,000 to their annual net income </a:t>
            </a:r>
            <a:endParaRPr/>
          </a:p>
          <a:p>
            <a:pPr indent="0" lvl="0" marL="0" marR="0" rtl="0" algn="l">
              <a:spcBef>
                <a:spcPts val="0"/>
              </a:spcBef>
              <a:spcAft>
                <a:spcPts val="0"/>
              </a:spcAft>
              <a:buNone/>
            </a:pPr>
            <a:r>
              <a:t/>
            </a:r>
            <a:endParaRPr i="1"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 blue background with white text&#10;&#10;AI-generated content may be incorrect." id="193" name="Google Shape;193;p10"/>
          <p:cNvPicPr preferRelativeResize="0"/>
          <p:nvPr/>
        </p:nvPicPr>
        <p:blipFill rotWithShape="1">
          <a:blip r:embed="rId4">
            <a:alphaModFix/>
          </a:blip>
          <a:srcRect b="0" l="0" r="0" t="0"/>
          <a:stretch/>
        </p:blipFill>
        <p:spPr>
          <a:xfrm>
            <a:off x="6714223" y="576262"/>
            <a:ext cx="1914525" cy="5705475"/>
          </a:xfrm>
          <a:prstGeom prst="rect">
            <a:avLst/>
          </a:prstGeom>
          <a:noFill/>
          <a:ln>
            <a:noFill/>
          </a:ln>
        </p:spPr>
      </p:pic>
      <p:sp>
        <p:nvSpPr>
          <p:cNvPr id="194" name="Google Shape;194;p10"/>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195" name="Google Shape;195;p10"/>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txBox="1"/>
          <p:nvPr/>
        </p:nvSpPr>
        <p:spPr>
          <a:xfrm>
            <a:off x="8077200" y="6210300"/>
            <a:ext cx="1066800" cy="6477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 close up of a logo&#10;&#10;Description generated with very high confidence" id="201" name="Google Shape;201;p11"/>
          <p:cNvPicPr preferRelativeResize="0"/>
          <p:nvPr/>
        </p:nvPicPr>
        <p:blipFill rotWithShape="1">
          <a:blip r:embed="rId3">
            <a:alphaModFix/>
          </a:blip>
          <a:srcRect b="0" l="0" r="0" t="0"/>
          <a:stretch/>
        </p:blipFill>
        <p:spPr>
          <a:xfrm>
            <a:off x="3846252" y="6214854"/>
            <a:ext cx="1454182" cy="543754"/>
          </a:xfrm>
          <a:prstGeom prst="rect">
            <a:avLst/>
          </a:prstGeom>
          <a:noFill/>
          <a:ln>
            <a:noFill/>
          </a:ln>
        </p:spPr>
      </p:pic>
      <p:sp>
        <p:nvSpPr>
          <p:cNvPr id="202" name="Google Shape;202;p11"/>
          <p:cNvSpPr/>
          <p:nvPr/>
        </p:nvSpPr>
        <p:spPr>
          <a:xfrm rot="5400000">
            <a:off x="4420161" y="-4259626"/>
            <a:ext cx="303679" cy="9144001"/>
          </a:xfrm>
          <a:custGeom>
            <a:rect b="b" l="l" r="r" t="t"/>
            <a:pathLst>
              <a:path extrusionOk="0" h="7772400" w="344170">
                <a:moveTo>
                  <a:pt x="0" y="7772400"/>
                </a:moveTo>
                <a:lnTo>
                  <a:pt x="343814" y="7772400"/>
                </a:lnTo>
                <a:lnTo>
                  <a:pt x="343814" y="0"/>
                </a:lnTo>
                <a:lnTo>
                  <a:pt x="0" y="0"/>
                </a:lnTo>
                <a:lnTo>
                  <a:pt x="0" y="7772400"/>
                </a:lnTo>
                <a:close/>
              </a:path>
            </a:pathLst>
          </a:custGeom>
          <a:solidFill>
            <a:srgbClr val="C8C8C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chemeClr val="dk1"/>
              </a:solidFill>
              <a:latin typeface="Times New Roman"/>
              <a:ea typeface="Times New Roman"/>
              <a:cs typeface="Times New Roman"/>
              <a:sym typeface="Times New Roman"/>
            </a:endParaRPr>
          </a:p>
        </p:txBody>
      </p:sp>
      <p:sp>
        <p:nvSpPr>
          <p:cNvPr id="203" name="Google Shape;203;p11"/>
          <p:cNvSpPr txBox="1"/>
          <p:nvPr/>
        </p:nvSpPr>
        <p:spPr>
          <a:xfrm>
            <a:off x="-44960" y="231583"/>
            <a:ext cx="9144002" cy="161583"/>
          </a:xfrm>
          <a:prstGeom prst="rect">
            <a:avLst/>
          </a:prstGeom>
          <a:noFill/>
          <a:ln>
            <a:noFill/>
          </a:ln>
        </p:spPr>
        <p:txBody>
          <a:bodyPr anchorCtr="0" anchor="ctr" bIns="0" lIns="0" spcFirstLastPara="1" rIns="0" wrap="square" tIns="11750">
            <a:spAutoFit/>
          </a:bodyPr>
          <a:lstStyle/>
          <a:p>
            <a:pPr indent="0" lvl="0" marL="10795" marR="0" rtl="0" algn="ctr">
              <a:spcBef>
                <a:spcPts val="0"/>
              </a:spcBef>
              <a:spcAft>
                <a:spcPts val="0"/>
              </a:spcAft>
              <a:buNone/>
            </a:pPr>
            <a:r>
              <a:rPr b="1" lang="en-US" sz="1050">
                <a:solidFill>
                  <a:srgbClr val="414042"/>
                </a:solidFill>
                <a:latin typeface="Times New Roman"/>
                <a:ea typeface="Times New Roman"/>
                <a:cs typeface="Times New Roman"/>
                <a:sym typeface="Times New Roman"/>
              </a:rPr>
              <a:t>Stewart Group at Marcus &amp; Millichap</a:t>
            </a:r>
            <a:endParaRPr b="1" sz="1050">
              <a:solidFill>
                <a:srgbClr val="414042"/>
              </a:solidFill>
              <a:latin typeface="Times New Roman"/>
              <a:ea typeface="Times New Roman"/>
              <a:cs typeface="Times New Roman"/>
              <a:sym typeface="Times New Roman"/>
            </a:endParaRPr>
          </a:p>
        </p:txBody>
      </p:sp>
      <p:sp>
        <p:nvSpPr>
          <p:cNvPr id="204" name="Google Shape;204;p11"/>
          <p:cNvSpPr/>
          <p:nvPr/>
        </p:nvSpPr>
        <p:spPr>
          <a:xfrm>
            <a:off x="0" y="1162641"/>
            <a:ext cx="9155043" cy="171860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901"/>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rgbClr val="000000"/>
              </a:solidFill>
              <a:latin typeface="Times New Roman"/>
              <a:ea typeface="Times New Roman"/>
              <a:cs typeface="Times New Roman"/>
              <a:sym typeface="Times New Roman"/>
            </a:endParaRPr>
          </a:p>
        </p:txBody>
      </p:sp>
      <p:sp>
        <p:nvSpPr>
          <p:cNvPr id="205" name="Google Shape;205;p11"/>
          <p:cNvSpPr txBox="1"/>
          <p:nvPr/>
        </p:nvSpPr>
        <p:spPr>
          <a:xfrm>
            <a:off x="1165087" y="1342961"/>
            <a:ext cx="3194770" cy="16004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F37522"/>
                </a:solidFill>
                <a:latin typeface="Times New Roman"/>
                <a:ea typeface="Times New Roman"/>
                <a:cs typeface="Times New Roman"/>
                <a:sym typeface="Times New Roman"/>
              </a:rPr>
              <a:t>JOHN J. STEWART</a:t>
            </a:r>
            <a:endParaRPr/>
          </a:p>
          <a:p>
            <a:pPr indent="0" lvl="0" marL="0" marR="0" rtl="0" algn="ctr">
              <a:spcBef>
                <a:spcPts val="0"/>
              </a:spcBef>
              <a:spcAft>
                <a:spcPts val="0"/>
              </a:spcAft>
              <a:buNone/>
            </a:pPr>
            <a:r>
              <a:rPr lang="en-US" sz="1400">
                <a:solidFill>
                  <a:schemeClr val="lt1"/>
                </a:solidFill>
                <a:latin typeface="Times New Roman"/>
                <a:ea typeface="Times New Roman"/>
                <a:cs typeface="Times New Roman"/>
                <a:sym typeface="Times New Roman"/>
              </a:rPr>
              <a:t>Senior Vice President Investments</a:t>
            </a:r>
            <a:endParaRPr/>
          </a:p>
          <a:p>
            <a:pPr indent="0" lvl="0" marL="0" marR="0" rtl="0" algn="ctr">
              <a:spcBef>
                <a:spcPts val="0"/>
              </a:spcBef>
              <a:spcAft>
                <a:spcPts val="0"/>
              </a:spcAft>
              <a:buNone/>
            </a:pPr>
            <a:r>
              <a:rPr lang="en-US" sz="1400">
                <a:solidFill>
                  <a:schemeClr val="lt1"/>
                </a:solidFill>
                <a:latin typeface="Times New Roman"/>
                <a:ea typeface="Times New Roman"/>
                <a:cs typeface="Times New Roman"/>
                <a:sym typeface="Times New Roman"/>
              </a:rPr>
              <a:t>Associate Broker</a:t>
            </a:r>
            <a:endParaRPr/>
          </a:p>
          <a:p>
            <a:pPr indent="0" lvl="0" marL="0" marR="0" rtl="0" algn="ctr">
              <a:spcBef>
                <a:spcPts val="0"/>
              </a:spcBef>
              <a:spcAft>
                <a:spcPts val="0"/>
              </a:spcAft>
              <a:buNone/>
            </a:pPr>
            <a:r>
              <a:rPr lang="en-US" sz="1400">
                <a:solidFill>
                  <a:schemeClr val="lt1"/>
                </a:solidFill>
                <a:latin typeface="Times New Roman"/>
                <a:ea typeface="Times New Roman"/>
                <a:cs typeface="Times New Roman"/>
                <a:sym typeface="Times New Roman"/>
              </a:rPr>
              <a:t>Office: (212) 430-5152</a:t>
            </a:r>
            <a:endParaRPr/>
          </a:p>
          <a:p>
            <a:pPr indent="0" lvl="0" marL="0" marR="0" rtl="0" algn="ctr">
              <a:spcBef>
                <a:spcPts val="0"/>
              </a:spcBef>
              <a:spcAft>
                <a:spcPts val="0"/>
              </a:spcAft>
              <a:buNone/>
            </a:pPr>
            <a:r>
              <a:rPr lang="en-US" sz="1400">
                <a:solidFill>
                  <a:schemeClr val="lt1"/>
                </a:solidFill>
                <a:latin typeface="Times New Roman"/>
                <a:ea typeface="Times New Roman"/>
                <a:cs typeface="Times New Roman"/>
                <a:sym typeface="Times New Roman"/>
              </a:rPr>
              <a:t>Cell-Phone: (917) 292-7388</a:t>
            </a:r>
            <a:endParaRPr/>
          </a:p>
          <a:p>
            <a:pPr indent="0" lvl="0" marL="0" marR="0" rtl="0" algn="ctr">
              <a:spcBef>
                <a:spcPts val="0"/>
              </a:spcBef>
              <a:spcAft>
                <a:spcPts val="0"/>
              </a:spcAft>
              <a:buNone/>
            </a:pPr>
            <a:r>
              <a:rPr lang="en-US" sz="1400">
                <a:solidFill>
                  <a:schemeClr val="lt1"/>
                </a:solidFill>
                <a:latin typeface="Times New Roman"/>
                <a:ea typeface="Times New Roman"/>
                <a:cs typeface="Times New Roman"/>
                <a:sym typeface="Times New Roman"/>
              </a:rPr>
              <a:t>John.Stewart@MarcusMillichap.com</a:t>
            </a:r>
            <a:endParaRPr/>
          </a:p>
          <a:p>
            <a:pPr indent="0" lvl="0" marL="0" marR="0" rtl="0" algn="ctr">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
        <p:nvSpPr>
          <p:cNvPr id="206" name="Google Shape;206;p11"/>
          <p:cNvSpPr txBox="1"/>
          <p:nvPr/>
        </p:nvSpPr>
        <p:spPr>
          <a:xfrm>
            <a:off x="4843725" y="1312183"/>
            <a:ext cx="3194770" cy="16004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strike="noStrike">
                <a:solidFill>
                  <a:srgbClr val="F37522"/>
                </a:solidFill>
                <a:latin typeface="Times New Roman"/>
                <a:ea typeface="Times New Roman"/>
                <a:cs typeface="Times New Roman"/>
                <a:sym typeface="Times New Roman"/>
              </a:rPr>
              <a:t>DYLAN TOREY</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Senior Associate</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Real Estate Salesperson</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Office: (646) 805-1444</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lang="en-US" sz="1400">
                <a:solidFill>
                  <a:srgbClr val="FFFFFF"/>
                </a:solidFill>
                <a:latin typeface="Times New Roman"/>
                <a:ea typeface="Times New Roman"/>
                <a:cs typeface="Times New Roman"/>
                <a:sym typeface="Times New Roman"/>
              </a:rPr>
              <a:t>Cell-Phone</a:t>
            </a:r>
            <a:r>
              <a:rPr b="0" i="0" lang="en-US" sz="1400" u="none" strike="noStrike">
                <a:solidFill>
                  <a:srgbClr val="FFFFFF"/>
                </a:solidFill>
                <a:latin typeface="Times New Roman"/>
                <a:ea typeface="Times New Roman"/>
                <a:cs typeface="Times New Roman"/>
                <a:sym typeface="Times New Roman"/>
              </a:rPr>
              <a:t>: (203) 984-4588</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Dylan.Torey@MarcusMillichap.com</a:t>
            </a:r>
            <a:endParaRPr sz="1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
        <p:nvSpPr>
          <p:cNvPr id="207" name="Google Shape;207;p11"/>
          <p:cNvSpPr/>
          <p:nvPr/>
        </p:nvSpPr>
        <p:spPr>
          <a:xfrm>
            <a:off x="-22086" y="3680553"/>
            <a:ext cx="9177130" cy="1751733"/>
          </a:xfrm>
          <a:custGeom>
            <a:rect b="b" l="l" r="r" t="t"/>
            <a:pathLst>
              <a:path extrusionOk="0" h="4173220" w="9317990">
                <a:moveTo>
                  <a:pt x="0" y="4172686"/>
                </a:moveTo>
                <a:lnTo>
                  <a:pt x="9317710" y="4172686"/>
                </a:lnTo>
                <a:lnTo>
                  <a:pt x="9317710" y="0"/>
                </a:lnTo>
                <a:lnTo>
                  <a:pt x="0" y="0"/>
                </a:lnTo>
                <a:lnTo>
                  <a:pt x="0" y="4172686"/>
                </a:lnTo>
                <a:close/>
              </a:path>
            </a:pathLst>
          </a:custGeom>
          <a:solidFill>
            <a:srgbClr val="000D26">
              <a:alpha val="94901"/>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588">
              <a:solidFill>
                <a:srgbClr val="000000"/>
              </a:solidFill>
              <a:latin typeface="Times New Roman"/>
              <a:ea typeface="Times New Roman"/>
              <a:cs typeface="Times New Roman"/>
              <a:sym typeface="Times New Roman"/>
            </a:endParaRPr>
          </a:p>
        </p:txBody>
      </p:sp>
      <p:sp>
        <p:nvSpPr>
          <p:cNvPr id="208" name="Google Shape;208;p11"/>
          <p:cNvSpPr txBox="1"/>
          <p:nvPr/>
        </p:nvSpPr>
        <p:spPr>
          <a:xfrm>
            <a:off x="1149683" y="3835616"/>
            <a:ext cx="3200292" cy="16004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F37522"/>
                </a:solidFill>
                <a:latin typeface="Times New Roman"/>
                <a:ea typeface="Times New Roman"/>
                <a:cs typeface="Times New Roman"/>
                <a:sym typeface="Times New Roman"/>
              </a:rPr>
              <a:t>OLIVIA SCIALLA</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Associate</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Real Estate Salesperson</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Office: (</a:t>
            </a:r>
            <a:r>
              <a:rPr lang="en-US" sz="1400">
                <a:solidFill>
                  <a:srgbClr val="FFFFFF"/>
                </a:solidFill>
                <a:latin typeface="Times New Roman"/>
                <a:ea typeface="Times New Roman"/>
                <a:cs typeface="Times New Roman"/>
                <a:sym typeface="Times New Roman"/>
              </a:rPr>
              <a:t>212) 430 - 5187</a:t>
            </a:r>
            <a:endParaRPr b="0" i="0" sz="1400" u="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400">
                <a:solidFill>
                  <a:srgbClr val="FFFFFF"/>
                </a:solidFill>
                <a:latin typeface="Times New Roman"/>
                <a:ea typeface="Times New Roman"/>
                <a:cs typeface="Times New Roman"/>
                <a:sym typeface="Times New Roman"/>
              </a:rPr>
              <a:t>Cell-Phone</a:t>
            </a:r>
            <a:r>
              <a:rPr b="0" i="0" lang="en-US" sz="1400" u="none" strike="noStrike">
                <a:solidFill>
                  <a:srgbClr val="FFFFFF"/>
                </a:solidFill>
                <a:latin typeface="Times New Roman"/>
                <a:ea typeface="Times New Roman"/>
                <a:cs typeface="Times New Roman"/>
                <a:sym typeface="Times New Roman"/>
              </a:rPr>
              <a:t>: (</a:t>
            </a:r>
            <a:r>
              <a:rPr lang="en-US" sz="1400">
                <a:solidFill>
                  <a:srgbClr val="FFFFFF"/>
                </a:solidFill>
                <a:latin typeface="Times New Roman"/>
                <a:ea typeface="Times New Roman"/>
                <a:cs typeface="Times New Roman"/>
                <a:sym typeface="Times New Roman"/>
              </a:rPr>
              <a:t>973) 479 - 7505</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lang="en-US" sz="1400">
                <a:solidFill>
                  <a:srgbClr val="FFFFFF"/>
                </a:solidFill>
                <a:latin typeface="Times New Roman"/>
                <a:ea typeface="Times New Roman"/>
                <a:cs typeface="Times New Roman"/>
                <a:sym typeface="Times New Roman"/>
              </a:rPr>
              <a:t>Olivia.Scialla@</a:t>
            </a:r>
            <a:r>
              <a:rPr b="0" i="0" lang="en-US" sz="1400" u="none" strike="noStrike">
                <a:solidFill>
                  <a:srgbClr val="FFFFFF"/>
                </a:solidFill>
                <a:latin typeface="Times New Roman"/>
                <a:ea typeface="Times New Roman"/>
                <a:cs typeface="Times New Roman"/>
                <a:sym typeface="Times New Roman"/>
              </a:rPr>
              <a:t>MarcusMillichap.com</a:t>
            </a:r>
            <a:endParaRPr sz="1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
        <p:nvSpPr>
          <p:cNvPr id="209" name="Google Shape;209;p11"/>
          <p:cNvSpPr txBox="1"/>
          <p:nvPr/>
        </p:nvSpPr>
        <p:spPr>
          <a:xfrm>
            <a:off x="4839361" y="3845632"/>
            <a:ext cx="3178206"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F37522"/>
                </a:solidFill>
                <a:latin typeface="Times New Roman"/>
                <a:ea typeface="Times New Roman"/>
                <a:cs typeface="Times New Roman"/>
                <a:sym typeface="Times New Roman"/>
              </a:rPr>
              <a:t>THOMAS WINDELS</a:t>
            </a:r>
            <a:endParaRPr b="0" i="0" sz="1400" u="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Associate</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Real Estate Salesperson</a:t>
            </a:r>
            <a:r>
              <a:rPr b="0" i="0" lang="en-US" sz="1400" u="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400" u="none" strike="noStrike">
                <a:solidFill>
                  <a:srgbClr val="FFFFFF"/>
                </a:solidFill>
                <a:latin typeface="Times New Roman"/>
                <a:ea typeface="Times New Roman"/>
                <a:cs typeface="Times New Roman"/>
                <a:sym typeface="Times New Roman"/>
              </a:rPr>
              <a:t>Office: (</a:t>
            </a:r>
            <a:r>
              <a:rPr lang="en-US" sz="1400">
                <a:solidFill>
                  <a:srgbClr val="FFFFFF"/>
                </a:solidFill>
                <a:latin typeface="Times New Roman"/>
                <a:ea typeface="Times New Roman"/>
                <a:cs typeface="Times New Roman"/>
                <a:sym typeface="Times New Roman"/>
              </a:rPr>
              <a:t>212</a:t>
            </a:r>
            <a:r>
              <a:rPr b="0" i="0" lang="en-US" sz="1400" u="none" strike="noStrike">
                <a:solidFill>
                  <a:srgbClr val="FFFFFF"/>
                </a:solidFill>
                <a:latin typeface="Times New Roman"/>
                <a:ea typeface="Times New Roman"/>
                <a:cs typeface="Times New Roman"/>
                <a:sym typeface="Times New Roman"/>
              </a:rPr>
              <a:t>) </a:t>
            </a:r>
            <a:r>
              <a:rPr lang="en-US" sz="1400">
                <a:solidFill>
                  <a:srgbClr val="FFFFFF"/>
                </a:solidFill>
                <a:latin typeface="Times New Roman"/>
                <a:ea typeface="Times New Roman"/>
                <a:cs typeface="Times New Roman"/>
                <a:sym typeface="Times New Roman"/>
              </a:rPr>
              <a:t>430-5118</a:t>
            </a:r>
            <a:endParaRPr b="0" i="0" sz="1400" u="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400">
                <a:solidFill>
                  <a:srgbClr val="FFFFFF"/>
                </a:solidFill>
                <a:latin typeface="Times New Roman"/>
                <a:ea typeface="Times New Roman"/>
                <a:cs typeface="Times New Roman"/>
                <a:sym typeface="Times New Roman"/>
              </a:rPr>
              <a:t>Cell-Phone</a:t>
            </a:r>
            <a:r>
              <a:rPr b="0" i="0" lang="en-US" sz="1400" u="none" strike="noStrike">
                <a:solidFill>
                  <a:srgbClr val="FFFFFF"/>
                </a:solidFill>
                <a:latin typeface="Times New Roman"/>
                <a:ea typeface="Times New Roman"/>
                <a:cs typeface="Times New Roman"/>
                <a:sym typeface="Times New Roman"/>
              </a:rPr>
              <a:t>: (</a:t>
            </a:r>
            <a:r>
              <a:rPr lang="en-US" sz="1400">
                <a:solidFill>
                  <a:srgbClr val="FFFFFF"/>
                </a:solidFill>
                <a:latin typeface="Times New Roman"/>
                <a:ea typeface="Times New Roman"/>
                <a:cs typeface="Times New Roman"/>
                <a:sym typeface="Times New Roman"/>
              </a:rPr>
              <a:t>347) 563-2284</a:t>
            </a:r>
            <a:endParaRPr b="0" i="0" sz="1400" u="none" strike="noStrike">
              <a:solidFill>
                <a:srgbClr val="000000"/>
              </a:solidFill>
              <a:latin typeface="Quattrocento Sans"/>
              <a:ea typeface="Quattrocento Sans"/>
              <a:cs typeface="Quattrocento Sans"/>
              <a:sym typeface="Quattrocento Sans"/>
            </a:endParaRPr>
          </a:p>
          <a:p>
            <a:pPr indent="0" lvl="0" marL="0" marR="0" rtl="0" algn="ctr">
              <a:spcBef>
                <a:spcPts val="0"/>
              </a:spcBef>
              <a:spcAft>
                <a:spcPts val="0"/>
              </a:spcAft>
              <a:buNone/>
            </a:pPr>
            <a:r>
              <a:rPr lang="en-US" sz="1400">
                <a:solidFill>
                  <a:srgbClr val="FFFFFF"/>
                </a:solidFill>
                <a:latin typeface="Times New Roman"/>
                <a:ea typeface="Times New Roman"/>
                <a:cs typeface="Times New Roman"/>
                <a:sym typeface="Times New Roman"/>
              </a:rPr>
              <a:t>Thomas.Windels@</a:t>
            </a:r>
            <a:r>
              <a:rPr b="0" i="0" lang="en-US" sz="1400" u="none" strike="noStrike">
                <a:solidFill>
                  <a:srgbClr val="FFFFFF"/>
                </a:solidFill>
                <a:latin typeface="Times New Roman"/>
                <a:ea typeface="Times New Roman"/>
                <a:cs typeface="Times New Roman"/>
                <a:sym typeface="Times New Roman"/>
              </a:rPr>
              <a:t>MarcusMillichap.com</a:t>
            </a:r>
            <a:endParaRPr sz="1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15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2016-07-25T15:17:53Z</dcterms:created>
  <dc:creator>Glaze, Margaret</dc:creator>
</cp:coreProperties>
</file>
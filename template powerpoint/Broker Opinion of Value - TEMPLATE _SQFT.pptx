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6858000" cx="9144000"/>
  <p:notesSz cx="7315200" cy="9601200"/>
  <p:embeddedFontLst>
    <p:embeddedFont>
      <p:font typeface="Poppins"/>
      <p:regular r:id="rId18"/>
      <p:bold r:id="rId19"/>
      <p:italic r:id="rId20"/>
      <p:boldItalic r:id="rId21"/>
    </p:embeddedFont>
    <p:embeddedFont>
      <p:font typeface="Quattrocento Sans"/>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80">
          <p15:clr>
            <a:srgbClr val="A4A3A4"/>
          </p15:clr>
        </p15:guide>
        <p15:guide id="2" pos="2880">
          <p15:clr>
            <a:srgbClr val="A4A3A4"/>
          </p15:clr>
        </p15:guide>
        <p15:guide id="3" pos="2976">
          <p15:clr>
            <a:srgbClr val="A4A3A4"/>
          </p15:clr>
        </p15:guide>
        <p15:guide id="4" orient="horz" pos="2352">
          <p15:clr>
            <a:srgbClr val="A4A3A4"/>
          </p15:clr>
        </p15:guide>
        <p15:guide id="5" orient="horz" pos="3048">
          <p15:clr>
            <a:srgbClr val="A4A3A4"/>
          </p15:clr>
        </p15:guide>
        <p15:guide id="6" orient="horz" pos="3744">
          <p15:clr>
            <a:srgbClr val="A4A3A4"/>
          </p15:clr>
        </p15:guide>
      </p15:sldGuideLst>
    </p:ext>
    <p:ext uri="GoogleSlidesCustomDataVersion2">
      <go:slidesCustomData xmlns:go="http://customooxmlschemas.google.com/" r:id="rId26" roundtripDataSignature="AMtx7mg/c6CAGoSU8fDaP8KXh5aXvsH4p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80" orient="horz"/>
        <p:guide pos="2880"/>
        <p:guide pos="2976"/>
        <p:guide pos="2352" orient="horz"/>
        <p:guide pos="3048" orient="horz"/>
        <p:guide pos="3744"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italic.fntdata"/><Relationship Id="rId22" Type="http://schemas.openxmlformats.org/officeDocument/2006/relationships/font" Target="fonts/QuattrocentoSans-regular.fntdata"/><Relationship Id="rId21" Type="http://schemas.openxmlformats.org/officeDocument/2006/relationships/font" Target="fonts/Poppins-boldItalic.fntdata"/><Relationship Id="rId24" Type="http://schemas.openxmlformats.org/officeDocument/2006/relationships/font" Target="fonts/QuattrocentoSans-italic.fntdata"/><Relationship Id="rId23" Type="http://schemas.openxmlformats.org/officeDocument/2006/relationships/font" Target="fonts/QuattrocentoSan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customschemas.google.com/relationships/presentationmetadata" Target="metadata"/><Relationship Id="rId25" Type="http://schemas.openxmlformats.org/officeDocument/2006/relationships/font" Target="fonts/QuattrocentoSans-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Poppins-bold.fntdata"/><Relationship Id="rId18" Type="http://schemas.openxmlformats.org/officeDocument/2006/relationships/font" Target="fonts/Poppins-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69920" cy="481727"/>
          </a:xfrm>
          <a:prstGeom prst="rect">
            <a:avLst/>
          </a:prstGeom>
          <a:noFill/>
          <a:ln>
            <a:noFill/>
          </a:ln>
        </p:spPr>
        <p:txBody>
          <a:bodyPr anchorCtr="0" anchor="t" bIns="48325" lIns="96650" spcFirstLastPara="1" rIns="96650" wrap="square" tIns="483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143587" y="0"/>
            <a:ext cx="3169920" cy="481727"/>
          </a:xfrm>
          <a:prstGeom prst="rect">
            <a:avLst/>
          </a:prstGeom>
          <a:noFill/>
          <a:ln>
            <a:noFill/>
          </a:ln>
        </p:spPr>
        <p:txBody>
          <a:bodyPr anchorCtr="0" anchor="t" bIns="48325" lIns="96650" spcFirstLastPara="1" rIns="96650" wrap="square" tIns="48325">
            <a:noAutofit/>
          </a:bodyPr>
          <a:lstStyle>
            <a:lvl1pPr lvl="0" marR="0" rtl="0" algn="r">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19474"/>
            <a:ext cx="3169920" cy="481726"/>
          </a:xfrm>
          <a:prstGeom prst="rect">
            <a:avLst/>
          </a:prstGeom>
          <a:noFill/>
          <a:ln>
            <a:noFill/>
          </a:ln>
        </p:spPr>
        <p:txBody>
          <a:bodyPr anchorCtr="0" anchor="b" bIns="48325" lIns="96650" spcFirstLastPara="1" rIns="96650" wrap="square" tIns="483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143587" y="9119474"/>
            <a:ext cx="3169920" cy="481726"/>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99" name="Google Shape;99;p1: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12" name="Google Shape;112;p2: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22" name="Google Shape;122;p3: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31" name="Google Shape;131;p4: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40" name="Google Shape;140;p5: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49" name="Google Shape;149;p6: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59" name="Google Shape;159;p7: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8: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70" name="Google Shape;170;p8: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79" name="Google Shape;179;p9: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0: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88" name="Google Shape;188;p10: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1: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SzPts val="1400"/>
              <a:buNone/>
            </a:pPr>
            <a:r>
              <a:t/>
            </a:r>
            <a:endParaRPr/>
          </a:p>
        </p:txBody>
      </p:sp>
      <p:sp>
        <p:nvSpPr>
          <p:cNvPr id="198" name="Google Shape;198;p11: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1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17"/>
          <p:cNvSpPr txBox="1"/>
          <p:nvPr>
            <p:ph type="ctrTitle"/>
          </p:nvPr>
        </p:nvSpPr>
        <p:spPr>
          <a:xfrm>
            <a:off x="685800" y="1122363"/>
            <a:ext cx="77724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7"/>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1" name="Google Shape;21;p1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8"/>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8"/>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8" name="Shape 28"/>
        <p:cNvGrpSpPr/>
        <p:nvPr/>
      </p:nvGrpSpPr>
      <p:grpSpPr>
        <a:xfrm>
          <a:off x="0" y="0"/>
          <a:ext cx="0" cy="0"/>
          <a:chOff x="0" y="0"/>
          <a:chExt cx="0" cy="0"/>
        </a:xfrm>
      </p:grpSpPr>
      <p:sp>
        <p:nvSpPr>
          <p:cNvPr id="29" name="Google Shape;29;p1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9"/>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19"/>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4" name="Shape 34"/>
        <p:cNvGrpSpPr/>
        <p:nvPr/>
      </p:nvGrpSpPr>
      <p:grpSpPr>
        <a:xfrm>
          <a:off x="0" y="0"/>
          <a:ext cx="0" cy="0"/>
          <a:chOff x="0" y="0"/>
          <a:chExt cx="0" cy="0"/>
        </a:xfrm>
      </p:grpSpPr>
      <p:sp>
        <p:nvSpPr>
          <p:cNvPr id="35" name="Google Shape;35;p20"/>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0"/>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20"/>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20"/>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0"/>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2" name="Shape 42"/>
        <p:cNvGrpSpPr/>
        <p:nvPr/>
      </p:nvGrpSpPr>
      <p:grpSpPr>
        <a:xfrm>
          <a:off x="0" y="0"/>
          <a:ext cx="0" cy="0"/>
          <a:chOff x="0" y="0"/>
          <a:chExt cx="0" cy="0"/>
        </a:xfrm>
      </p:grpSpPr>
      <p:sp>
        <p:nvSpPr>
          <p:cNvPr id="43" name="Google Shape;43;p2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2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9" name="Shape 49"/>
        <p:cNvGrpSpPr/>
        <p:nvPr/>
      </p:nvGrpSpPr>
      <p:grpSpPr>
        <a:xfrm>
          <a:off x="0" y="0"/>
          <a:ext cx="0" cy="0"/>
          <a:chOff x="0" y="0"/>
          <a:chExt cx="0" cy="0"/>
        </a:xfrm>
      </p:grpSpPr>
      <p:sp>
        <p:nvSpPr>
          <p:cNvPr id="50" name="Google Shape;50;p23"/>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3"/>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2" name="Google Shape;52;p23"/>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3" name="Google Shape;53;p2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24"/>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4"/>
          <p:cNvSpPr/>
          <p:nvPr>
            <p:ph idx="2" type="pic"/>
          </p:nvPr>
        </p:nvSpPr>
        <p:spPr>
          <a:xfrm>
            <a:off x="3887391" y="987426"/>
            <a:ext cx="4629150" cy="4873625"/>
          </a:xfrm>
          <a:prstGeom prst="rect">
            <a:avLst/>
          </a:prstGeom>
          <a:noFill/>
          <a:ln>
            <a:noFill/>
          </a:ln>
        </p:spPr>
      </p:sp>
      <p:sp>
        <p:nvSpPr>
          <p:cNvPr id="58" name="Google Shape;58;p24"/>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2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1" name="Shape 61"/>
        <p:cNvGrpSpPr/>
        <p:nvPr/>
      </p:nvGrpSpPr>
      <p:grpSpPr>
        <a:xfrm>
          <a:off x="0" y="0"/>
          <a:ext cx="0" cy="0"/>
          <a:chOff x="0" y="0"/>
          <a:chExt cx="0" cy="0"/>
        </a:xfrm>
      </p:grpSpPr>
      <p:sp>
        <p:nvSpPr>
          <p:cNvPr id="62" name="Google Shape;62;p2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2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6" name="Shape 66"/>
        <p:cNvGrpSpPr/>
        <p:nvPr/>
      </p:nvGrpSpPr>
      <p:grpSpPr>
        <a:xfrm>
          <a:off x="0" y="0"/>
          <a:ext cx="0" cy="0"/>
          <a:chOff x="0" y="0"/>
          <a:chExt cx="0" cy="0"/>
        </a:xfrm>
      </p:grpSpPr>
      <p:sp>
        <p:nvSpPr>
          <p:cNvPr id="67" name="Google Shape;67;p26"/>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6"/>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2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5" name="Shape 75"/>
        <p:cNvGrpSpPr/>
        <p:nvPr/>
      </p:nvGrpSpPr>
      <p:grpSpPr>
        <a:xfrm>
          <a:off x="0" y="0"/>
          <a:ext cx="0" cy="0"/>
          <a:chOff x="0" y="0"/>
          <a:chExt cx="0" cy="0"/>
        </a:xfrm>
      </p:grpSpPr>
      <p:sp>
        <p:nvSpPr>
          <p:cNvPr id="76" name="Google Shape;76;p15"/>
          <p:cNvSpPr txBox="1"/>
          <p:nvPr>
            <p:ph type="title"/>
          </p:nvPr>
        </p:nvSpPr>
        <p:spPr>
          <a:xfrm>
            <a:off x="3169551" y="2524236"/>
            <a:ext cx="2804896" cy="48891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177">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5"/>
          <p:cNvSpPr txBox="1"/>
          <p:nvPr>
            <p:ph idx="1" type="body"/>
          </p:nvPr>
        </p:nvSpPr>
        <p:spPr>
          <a:xfrm>
            <a:off x="2119239" y="3235138"/>
            <a:ext cx="4905523" cy="244362"/>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1" i="0" sz="1588">
                <a:solidFill>
                  <a:srgbClr val="002D5B"/>
                </a:solidFill>
                <a:latin typeface="Poppins"/>
                <a:ea typeface="Poppins"/>
                <a:cs typeface="Poppins"/>
                <a:sym typeface="Poppins"/>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78" name="Google Shape;78;p15"/>
          <p:cNvSpPr txBox="1"/>
          <p:nvPr>
            <p:ph idx="11" type="ftr"/>
          </p:nvPr>
        </p:nvSpPr>
        <p:spPr>
          <a:xfrm>
            <a:off x="3108960" y="6377940"/>
            <a:ext cx="2926080" cy="276999"/>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9" name="Google Shape;79;p15"/>
          <p:cNvSpPr txBox="1"/>
          <p:nvPr>
            <p:ph idx="10" type="dt"/>
          </p:nvPr>
        </p:nvSpPr>
        <p:spPr>
          <a:xfrm>
            <a:off x="6691088" y="6336973"/>
            <a:ext cx="2103120" cy="276999"/>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0" name="Shape 80"/>
        <p:cNvGrpSpPr/>
        <p:nvPr/>
      </p:nvGrpSpPr>
      <p:grpSpPr>
        <a:xfrm>
          <a:off x="0" y="0"/>
          <a:ext cx="0" cy="0"/>
          <a:chOff x="0" y="0"/>
          <a:chExt cx="0" cy="0"/>
        </a:xfrm>
      </p:grpSpPr>
      <p:sp>
        <p:nvSpPr>
          <p:cNvPr id="81" name="Google Shape;81;p16"/>
          <p:cNvSpPr txBox="1"/>
          <p:nvPr>
            <p:ph idx="11" type="ftr"/>
          </p:nvPr>
        </p:nvSpPr>
        <p:spPr>
          <a:xfrm>
            <a:off x="3108960" y="6377940"/>
            <a:ext cx="2926080" cy="276999"/>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6"/>
          <p:cNvSpPr txBox="1"/>
          <p:nvPr>
            <p:ph idx="10" type="dt"/>
          </p:nvPr>
        </p:nvSpPr>
        <p:spPr>
          <a:xfrm>
            <a:off x="6691088" y="6336973"/>
            <a:ext cx="2103120" cy="276999"/>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83" name="Shape 83"/>
        <p:cNvGrpSpPr/>
        <p:nvPr/>
      </p:nvGrpSpPr>
      <p:grpSpPr>
        <a:xfrm>
          <a:off x="0" y="0"/>
          <a:ext cx="0" cy="0"/>
          <a:chOff x="0" y="0"/>
          <a:chExt cx="0" cy="0"/>
        </a:xfrm>
      </p:grpSpPr>
      <p:sp>
        <p:nvSpPr>
          <p:cNvPr id="84" name="Google Shape;84;p27"/>
          <p:cNvSpPr txBox="1"/>
          <p:nvPr>
            <p:ph type="ctrTitle"/>
          </p:nvPr>
        </p:nvSpPr>
        <p:spPr>
          <a:xfrm>
            <a:off x="685800" y="2125980"/>
            <a:ext cx="7772400" cy="553998"/>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7"/>
          <p:cNvSpPr txBox="1"/>
          <p:nvPr>
            <p:ph idx="1" type="subTitle"/>
          </p:nvPr>
        </p:nvSpPr>
        <p:spPr>
          <a:xfrm>
            <a:off x="1371600" y="3840480"/>
            <a:ext cx="6400800" cy="27699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7"/>
          <p:cNvSpPr txBox="1"/>
          <p:nvPr>
            <p:ph idx="11" type="ftr"/>
          </p:nvPr>
        </p:nvSpPr>
        <p:spPr>
          <a:xfrm>
            <a:off x="3108960" y="6377940"/>
            <a:ext cx="2926080" cy="276999"/>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87" name="Shape 87"/>
        <p:cNvGrpSpPr/>
        <p:nvPr/>
      </p:nvGrpSpPr>
      <p:grpSpPr>
        <a:xfrm>
          <a:off x="0" y="0"/>
          <a:ext cx="0" cy="0"/>
          <a:chOff x="0" y="0"/>
          <a:chExt cx="0" cy="0"/>
        </a:xfrm>
      </p:grpSpPr>
      <p:sp>
        <p:nvSpPr>
          <p:cNvPr id="88" name="Google Shape;88;p28"/>
          <p:cNvSpPr txBox="1"/>
          <p:nvPr>
            <p:ph type="title"/>
          </p:nvPr>
        </p:nvSpPr>
        <p:spPr>
          <a:xfrm>
            <a:off x="3169551" y="2524236"/>
            <a:ext cx="2804896" cy="48891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177">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28"/>
          <p:cNvSpPr txBox="1"/>
          <p:nvPr>
            <p:ph idx="1" type="body"/>
          </p:nvPr>
        </p:nvSpPr>
        <p:spPr>
          <a:xfrm>
            <a:off x="457200" y="1577340"/>
            <a:ext cx="3977640" cy="276999"/>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0" name="Google Shape;90;p28"/>
          <p:cNvSpPr txBox="1"/>
          <p:nvPr>
            <p:ph idx="2" type="body"/>
          </p:nvPr>
        </p:nvSpPr>
        <p:spPr>
          <a:xfrm>
            <a:off x="5183022" y="2187192"/>
            <a:ext cx="3505776" cy="1494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971">
                <a:solidFill>
                  <a:srgbClr val="002D5B"/>
                </a:solidFill>
                <a:latin typeface="Calibri"/>
                <a:ea typeface="Calibri"/>
                <a:cs typeface="Calibri"/>
                <a:sym typeface="Calibri"/>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1" name="Google Shape;91;p28"/>
          <p:cNvSpPr txBox="1"/>
          <p:nvPr>
            <p:ph idx="11" type="ftr"/>
          </p:nvPr>
        </p:nvSpPr>
        <p:spPr>
          <a:xfrm>
            <a:off x="3108960" y="6377940"/>
            <a:ext cx="2926080" cy="276999"/>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2" name="Google Shape;92;p28"/>
          <p:cNvSpPr txBox="1"/>
          <p:nvPr>
            <p:ph idx="10" type="dt"/>
          </p:nvPr>
        </p:nvSpPr>
        <p:spPr>
          <a:xfrm>
            <a:off x="6691088" y="6336973"/>
            <a:ext cx="2103120" cy="276999"/>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93" name="Shape 93"/>
        <p:cNvGrpSpPr/>
        <p:nvPr/>
      </p:nvGrpSpPr>
      <p:grpSpPr>
        <a:xfrm>
          <a:off x="0" y="0"/>
          <a:ext cx="0" cy="0"/>
          <a:chOff x="0" y="0"/>
          <a:chExt cx="0" cy="0"/>
        </a:xfrm>
      </p:grpSpPr>
      <p:sp>
        <p:nvSpPr>
          <p:cNvPr id="94" name="Google Shape;94;p29"/>
          <p:cNvSpPr txBox="1"/>
          <p:nvPr>
            <p:ph type="title"/>
          </p:nvPr>
        </p:nvSpPr>
        <p:spPr>
          <a:xfrm>
            <a:off x="3169551" y="2524236"/>
            <a:ext cx="2804896" cy="48891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177">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29"/>
          <p:cNvSpPr txBox="1"/>
          <p:nvPr>
            <p:ph idx="11" type="ftr"/>
          </p:nvPr>
        </p:nvSpPr>
        <p:spPr>
          <a:xfrm>
            <a:off x="3108960" y="6377940"/>
            <a:ext cx="2926080" cy="276999"/>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6" name="Google Shape;96;p29"/>
          <p:cNvSpPr txBox="1"/>
          <p:nvPr>
            <p:ph idx="10" type="dt"/>
          </p:nvPr>
        </p:nvSpPr>
        <p:spPr>
          <a:xfrm>
            <a:off x="6691088" y="6336973"/>
            <a:ext cx="2103120" cy="276999"/>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2"/>
          <p:cNvSpPr txBox="1"/>
          <p:nvPr/>
        </p:nvSpPr>
        <p:spPr>
          <a:xfrm>
            <a:off x="6629400" y="6497479"/>
            <a:ext cx="2103120" cy="246221"/>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1F325C"/>
              </a:buClr>
              <a:buSzPts val="1600"/>
              <a:buFont typeface="Times New Roman"/>
              <a:buNone/>
            </a:pPr>
            <a:fld id="{00000000-1234-1234-1234-123412341234}" type="slidenum">
              <a:rPr b="1" i="0" lang="en-US" sz="1600" u="none" cap="none" strike="noStrike">
                <a:solidFill>
                  <a:srgbClr val="1F325C"/>
                </a:solidFill>
                <a:latin typeface="Times New Roman"/>
                <a:ea typeface="Times New Roman"/>
                <a:cs typeface="Times New Roman"/>
                <a:sym typeface="Times New Roman"/>
              </a:rPr>
              <a:t>‹#›</a:t>
            </a:fld>
            <a:endParaRPr b="1" i="0" sz="1600" u="none" cap="none" strike="noStrike">
              <a:solidFill>
                <a:srgbClr val="1F325C"/>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mc:Choice Requires="p14">
      <p:transition spd="slow" p14:dur="15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 name="Shape 71"/>
        <p:cNvGrpSpPr/>
        <p:nvPr/>
      </p:nvGrpSpPr>
      <p:grpSpPr>
        <a:xfrm>
          <a:off x="0" y="0"/>
          <a:ext cx="0" cy="0"/>
          <a:chOff x="0" y="0"/>
          <a:chExt cx="0" cy="0"/>
        </a:xfrm>
      </p:grpSpPr>
      <p:sp>
        <p:nvSpPr>
          <p:cNvPr id="72" name="Google Shape;72;p14"/>
          <p:cNvSpPr txBox="1"/>
          <p:nvPr>
            <p:ph type="title"/>
          </p:nvPr>
        </p:nvSpPr>
        <p:spPr>
          <a:xfrm>
            <a:off x="3169551" y="2524236"/>
            <a:ext cx="2804896" cy="553998"/>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36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4"/>
          <p:cNvSpPr txBox="1"/>
          <p:nvPr>
            <p:ph idx="1" type="body"/>
          </p:nvPr>
        </p:nvSpPr>
        <p:spPr>
          <a:xfrm>
            <a:off x="2119239" y="3235138"/>
            <a:ext cx="4905523" cy="276999"/>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1" i="0" sz="1800" u="none" cap="none" strike="noStrike">
                <a:solidFill>
                  <a:srgbClr val="002D5B"/>
                </a:solidFill>
                <a:latin typeface="Poppins"/>
                <a:ea typeface="Poppins"/>
                <a:cs typeface="Poppins"/>
                <a:sym typeface="Poppins"/>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74" name="Google Shape;74;p14"/>
          <p:cNvSpPr txBox="1"/>
          <p:nvPr/>
        </p:nvSpPr>
        <p:spPr>
          <a:xfrm>
            <a:off x="6629400" y="6497479"/>
            <a:ext cx="2103120" cy="246221"/>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1F325C"/>
              </a:buClr>
              <a:buSzPts val="1600"/>
              <a:buFont typeface="Times New Roman"/>
              <a:buNone/>
            </a:pPr>
            <a:fld id="{00000000-1234-1234-1234-123412341234}" type="slidenum">
              <a:rPr b="1" i="0" lang="en-US" sz="1600" u="none" cap="none" strike="noStrike">
                <a:solidFill>
                  <a:srgbClr val="1F325C"/>
                </a:solidFill>
                <a:latin typeface="Times New Roman"/>
                <a:ea typeface="Times New Roman"/>
                <a:cs typeface="Times New Roman"/>
                <a:sym typeface="Times New Roman"/>
              </a:rPr>
              <a:t>‹#›</a:t>
            </a:fld>
            <a:endParaRPr b="1" i="0" sz="1600" u="none" cap="none" strike="noStrike">
              <a:solidFill>
                <a:srgbClr val="1F325C"/>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Lst>
  <mc:AlternateContent>
    <mc:Choice Requires="p14">
      <p:transition spd="slow" p14:dur="15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
          <p:cNvSpPr/>
          <p:nvPr/>
        </p:nvSpPr>
        <p:spPr>
          <a:xfrm flipH="1" rot="10800000">
            <a:off x="4345864" y="72734"/>
            <a:ext cx="370500" cy="71176"/>
          </a:xfrm>
          <a:custGeom>
            <a:rect b="b" l="l" r="r" t="t"/>
            <a:pathLst>
              <a:path extrusionOk="0" h="120000" w="402590">
                <a:moveTo>
                  <a:pt x="0" y="0"/>
                </a:moveTo>
                <a:lnTo>
                  <a:pt x="402437" y="0"/>
                </a:lnTo>
              </a:path>
            </a:pathLst>
          </a:custGeom>
          <a:noFill/>
          <a:ln cap="flat" cmpd="sng" w="20800">
            <a:solidFill>
              <a:srgbClr val="F3752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8"/>
              <a:buFont typeface="Arial"/>
              <a:buNone/>
            </a:pPr>
            <a:r>
              <a:t/>
            </a:r>
            <a:endParaRPr b="0" i="0" sz="1588" u="none" cap="none" strike="noStrike">
              <a:solidFill>
                <a:schemeClr val="dk1"/>
              </a:solidFill>
              <a:latin typeface="Times New Roman"/>
              <a:ea typeface="Times New Roman"/>
              <a:cs typeface="Times New Roman"/>
              <a:sym typeface="Times New Roman"/>
            </a:endParaRPr>
          </a:p>
        </p:txBody>
      </p:sp>
      <p:sp>
        <p:nvSpPr>
          <p:cNvPr id="102" name="Google Shape;102;p1"/>
          <p:cNvSpPr txBox="1"/>
          <p:nvPr/>
        </p:nvSpPr>
        <p:spPr>
          <a:xfrm>
            <a:off x="1736451" y="268474"/>
            <a:ext cx="6149991" cy="226759"/>
          </a:xfrm>
          <a:prstGeom prst="rect">
            <a:avLst/>
          </a:prstGeom>
          <a:noFill/>
          <a:ln>
            <a:noFill/>
          </a:ln>
        </p:spPr>
        <p:txBody>
          <a:bodyPr anchorCtr="0" anchor="t" bIns="0" lIns="0" spcFirstLastPara="1" rIns="0" wrap="square" tIns="11200">
            <a:spAutoFit/>
          </a:bodyPr>
          <a:lstStyle/>
          <a:p>
            <a:pPr indent="0" lvl="0" marL="10795" marR="0" rtl="0" algn="ctr">
              <a:lnSpc>
                <a:spcPct val="100000"/>
              </a:lnSpc>
              <a:spcBef>
                <a:spcPts val="0"/>
              </a:spcBef>
              <a:spcAft>
                <a:spcPts val="0"/>
              </a:spcAft>
              <a:buClr>
                <a:srgbClr val="000000"/>
              </a:buClr>
              <a:buSzPts val="1400"/>
              <a:buFont typeface="Arial"/>
              <a:buNone/>
            </a:pPr>
            <a:r>
              <a:rPr b="0" i="0" lang="en-US" sz="1400" u="none" cap="none" strike="noStrike">
                <a:solidFill>
                  <a:srgbClr val="002D5B"/>
                </a:solidFill>
                <a:latin typeface="Times New Roman"/>
                <a:ea typeface="Times New Roman"/>
                <a:cs typeface="Times New Roman"/>
                <a:sym typeface="Times New Roman"/>
              </a:rPr>
              <a:t>BROKER OPINION OF VALUE</a:t>
            </a:r>
            <a:endParaRPr b="0" i="0" sz="1400" u="none" cap="none" strike="noStrike">
              <a:solidFill>
                <a:srgbClr val="000000"/>
              </a:solidFill>
              <a:latin typeface="Calibri"/>
              <a:ea typeface="Calibri"/>
              <a:cs typeface="Calibri"/>
              <a:sym typeface="Calibri"/>
            </a:endParaRPr>
          </a:p>
        </p:txBody>
      </p:sp>
      <p:sp>
        <p:nvSpPr>
          <p:cNvPr id="103" name="Google Shape;103;p1"/>
          <p:cNvSpPr/>
          <p:nvPr/>
        </p:nvSpPr>
        <p:spPr>
          <a:xfrm>
            <a:off x="1" y="5867400"/>
            <a:ext cx="9144000" cy="991048"/>
          </a:xfrm>
          <a:custGeom>
            <a:rect b="b" l="l" r="r" t="t"/>
            <a:pathLst>
              <a:path extrusionOk="0" h="1765300" w="7516495">
                <a:moveTo>
                  <a:pt x="7516368" y="0"/>
                </a:moveTo>
                <a:lnTo>
                  <a:pt x="0" y="0"/>
                </a:lnTo>
                <a:lnTo>
                  <a:pt x="0" y="1764792"/>
                </a:lnTo>
                <a:lnTo>
                  <a:pt x="7516368" y="1764791"/>
                </a:lnTo>
                <a:lnTo>
                  <a:pt x="7516368" y="0"/>
                </a:lnTo>
                <a:close/>
              </a:path>
            </a:pathLst>
          </a:custGeom>
          <a:solidFill>
            <a:srgbClr val="000D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8"/>
              <a:buFont typeface="Arial"/>
              <a:buNone/>
            </a:pPr>
            <a:r>
              <a:t/>
            </a:r>
            <a:endParaRPr b="0" i="0" sz="1588" u="none" cap="none" strike="noStrike">
              <a:solidFill>
                <a:schemeClr val="dk1"/>
              </a:solidFill>
              <a:latin typeface="Times New Roman"/>
              <a:ea typeface="Times New Roman"/>
              <a:cs typeface="Times New Roman"/>
              <a:sym typeface="Times New Roman"/>
            </a:endParaRPr>
          </a:p>
        </p:txBody>
      </p:sp>
      <p:pic>
        <p:nvPicPr>
          <p:cNvPr descr="A close up of a logo&#10;&#10;Description generated with very high confidence" id="104" name="Google Shape;104;p1"/>
          <p:cNvPicPr preferRelativeResize="0"/>
          <p:nvPr/>
        </p:nvPicPr>
        <p:blipFill rotWithShape="1">
          <a:blip r:embed="rId3">
            <a:alphaModFix/>
          </a:blip>
          <a:srcRect b="0" l="0" r="0" t="0"/>
          <a:stretch/>
        </p:blipFill>
        <p:spPr>
          <a:xfrm>
            <a:off x="3532726" y="5981895"/>
            <a:ext cx="2088619" cy="765302"/>
          </a:xfrm>
          <a:prstGeom prst="rect">
            <a:avLst/>
          </a:prstGeom>
          <a:noFill/>
          <a:ln>
            <a:noFill/>
          </a:ln>
        </p:spPr>
      </p:pic>
      <p:pic>
        <p:nvPicPr>
          <p:cNvPr descr="A person in a suit smiling&#10;&#10;AI-generated content may be incorrect." id="105" name="Google Shape;105;p1"/>
          <p:cNvPicPr preferRelativeResize="0"/>
          <p:nvPr/>
        </p:nvPicPr>
        <p:blipFill rotWithShape="1">
          <a:blip r:embed="rId4">
            <a:alphaModFix/>
          </a:blip>
          <a:srcRect b="0" l="0" r="0" t="0"/>
          <a:stretch/>
        </p:blipFill>
        <p:spPr>
          <a:xfrm>
            <a:off x="1469914" y="799537"/>
            <a:ext cx="2670800" cy="1934298"/>
          </a:xfrm>
          <a:prstGeom prst="rect">
            <a:avLst/>
          </a:prstGeom>
          <a:noFill/>
          <a:ln>
            <a:noFill/>
          </a:ln>
        </p:spPr>
      </p:pic>
      <p:pic>
        <p:nvPicPr>
          <p:cNvPr descr="A person in a suit smiling&#10;&#10;AI-generated content may be incorrect." id="106" name="Google Shape;106;p1"/>
          <p:cNvPicPr preferRelativeResize="0"/>
          <p:nvPr/>
        </p:nvPicPr>
        <p:blipFill rotWithShape="1">
          <a:blip r:embed="rId5">
            <a:alphaModFix/>
          </a:blip>
          <a:srcRect b="0" l="0" r="0" t="0"/>
          <a:stretch/>
        </p:blipFill>
        <p:spPr>
          <a:xfrm>
            <a:off x="5130568" y="824993"/>
            <a:ext cx="2645345" cy="1913933"/>
          </a:xfrm>
          <a:prstGeom prst="rect">
            <a:avLst/>
          </a:prstGeom>
          <a:noFill/>
          <a:ln>
            <a:noFill/>
          </a:ln>
        </p:spPr>
      </p:pic>
      <p:pic>
        <p:nvPicPr>
          <p:cNvPr descr="A person with blonde hair wearing a black suit&#10;&#10;AI-generated content may be incorrect." id="107" name="Google Shape;107;p1"/>
          <p:cNvPicPr preferRelativeResize="0"/>
          <p:nvPr/>
        </p:nvPicPr>
        <p:blipFill rotWithShape="1">
          <a:blip r:embed="rId6">
            <a:alphaModFix/>
          </a:blip>
          <a:srcRect b="0" l="0" r="0" t="0"/>
          <a:stretch/>
        </p:blipFill>
        <p:spPr>
          <a:xfrm>
            <a:off x="1469914" y="2836061"/>
            <a:ext cx="2670800" cy="1944482"/>
          </a:xfrm>
          <a:prstGeom prst="rect">
            <a:avLst/>
          </a:prstGeom>
          <a:noFill/>
          <a:ln>
            <a:noFill/>
          </a:ln>
        </p:spPr>
      </p:pic>
      <p:pic>
        <p:nvPicPr>
          <p:cNvPr descr="A person in a suit and tie&#10;&#10;AI-generated content may be incorrect." id="108" name="Google Shape;108;p1"/>
          <p:cNvPicPr preferRelativeResize="0"/>
          <p:nvPr/>
        </p:nvPicPr>
        <p:blipFill rotWithShape="1">
          <a:blip r:embed="rId7">
            <a:alphaModFix/>
          </a:blip>
          <a:srcRect b="0" l="0" r="0" t="0"/>
          <a:stretch/>
        </p:blipFill>
        <p:spPr>
          <a:xfrm>
            <a:off x="5089839" y="2830972"/>
            <a:ext cx="2686071" cy="1949570"/>
          </a:xfrm>
          <a:prstGeom prst="rect">
            <a:avLst/>
          </a:prstGeom>
          <a:noFill/>
          <a:ln>
            <a:noFill/>
          </a:ln>
        </p:spPr>
      </p:pic>
      <p:sp>
        <p:nvSpPr>
          <p:cNvPr id="109" name="Google Shape;109;p1"/>
          <p:cNvSpPr txBox="1"/>
          <p:nvPr/>
        </p:nvSpPr>
        <p:spPr>
          <a:xfrm>
            <a:off x="1502251" y="5176498"/>
            <a:ext cx="6149991" cy="806405"/>
          </a:xfrm>
          <a:prstGeom prst="rect">
            <a:avLst/>
          </a:prstGeom>
          <a:noFill/>
          <a:ln>
            <a:noFill/>
          </a:ln>
        </p:spPr>
        <p:txBody>
          <a:bodyPr anchorCtr="0" anchor="t" bIns="0" lIns="0" spcFirstLastPara="1" rIns="0" wrap="square" tIns="11200">
            <a:spAutoFit/>
          </a:bodyPr>
          <a:lstStyle/>
          <a:p>
            <a:pPr indent="0" lvl="0" marL="10795" marR="0" rtl="0" algn="ctr">
              <a:lnSpc>
                <a:spcPct val="100000"/>
              </a:lnSpc>
              <a:spcBef>
                <a:spcPts val="0"/>
              </a:spcBef>
              <a:spcAft>
                <a:spcPts val="0"/>
              </a:spcAft>
              <a:buClr>
                <a:srgbClr val="000000"/>
              </a:buClr>
              <a:buSzPts val="1800"/>
              <a:buFont typeface="Arial"/>
              <a:buNone/>
            </a:pPr>
            <a:r>
              <a:rPr b="1" i="0" lang="en-US" sz="1800" u="none" cap="none" strike="noStrike">
                <a:solidFill>
                  <a:srgbClr val="002D5B"/>
                </a:solidFill>
                <a:latin typeface="Times New Roman"/>
                <a:ea typeface="Times New Roman"/>
                <a:cs typeface="Times New Roman"/>
                <a:sym typeface="Times New Roman"/>
              </a:rPr>
              <a:t>INPUT ADDRESS</a:t>
            </a:r>
            <a:endParaRPr b="0" i="0" sz="1800" u="none" cap="none" strike="noStrike">
              <a:solidFill>
                <a:schemeClr val="dk1"/>
              </a:solidFill>
              <a:latin typeface="Calibri"/>
              <a:ea typeface="Calibri"/>
              <a:cs typeface="Calibri"/>
              <a:sym typeface="Calibri"/>
            </a:endParaRPr>
          </a:p>
          <a:p>
            <a:pPr indent="0" lvl="0" marL="10795" marR="0" rtl="0" algn="ctr">
              <a:lnSpc>
                <a:spcPct val="100000"/>
              </a:lnSpc>
              <a:spcBef>
                <a:spcPts val="88"/>
              </a:spcBef>
              <a:spcAft>
                <a:spcPts val="0"/>
              </a:spcAft>
              <a:buClr>
                <a:srgbClr val="000000"/>
              </a:buClr>
              <a:buSzPts val="1800"/>
              <a:buFont typeface="Arial"/>
              <a:buNone/>
            </a:pPr>
            <a:r>
              <a:rPr b="1" i="0" lang="en-US" sz="1800" u="none" cap="none" strike="noStrike">
                <a:solidFill>
                  <a:srgbClr val="002D5B"/>
                </a:solidFill>
                <a:latin typeface="Times New Roman"/>
                <a:ea typeface="Times New Roman"/>
                <a:cs typeface="Times New Roman"/>
                <a:sym typeface="Times New Roman"/>
              </a:rPr>
              <a:t>Owner: INPUT NAME</a:t>
            </a:r>
            <a:endParaRPr b="0" i="0" sz="1400" u="none" cap="none" strike="noStrike">
              <a:solidFill>
                <a:srgbClr val="000000"/>
              </a:solidFill>
              <a:latin typeface="Arial"/>
              <a:ea typeface="Arial"/>
              <a:cs typeface="Arial"/>
              <a:sym typeface="Arial"/>
            </a:endParaRPr>
          </a:p>
          <a:p>
            <a:pPr indent="0" lvl="0" marL="10795" marR="0" rtl="0" algn="ctr">
              <a:lnSpc>
                <a:spcPct val="100000"/>
              </a:lnSpc>
              <a:spcBef>
                <a:spcPts val="88"/>
              </a:spcBef>
              <a:spcAft>
                <a:spcPts val="0"/>
              </a:spcAft>
              <a:buClr>
                <a:srgbClr val="000000"/>
              </a:buClr>
              <a:buSzPts val="1400"/>
              <a:buFont typeface="Arial"/>
              <a:buNone/>
            </a:pPr>
            <a:r>
              <a:t/>
            </a:r>
            <a:endParaRPr b="1" i="0" sz="1400" u="none" cap="none" strike="noStrike">
              <a:solidFill>
                <a:srgbClr val="002D5B"/>
              </a:solidFill>
              <a:latin typeface="Times New Roman"/>
              <a:ea typeface="Times New Roman"/>
              <a:cs typeface="Times New Roman"/>
              <a:sym typeface="Times New Roman"/>
            </a:endParaRPr>
          </a:p>
        </p:txBody>
      </p:sp>
    </p:spTree>
  </p:cSld>
  <p:clrMapOvr>
    <a:masterClrMapping/>
  </p:clrMapOvr>
  <mc:AlternateContent>
    <mc:Choice Requires="p14">
      <p:transition spd="slow" p14:dur="15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3" name="Shape 113"/>
        <p:cNvGrpSpPr/>
        <p:nvPr/>
      </p:nvGrpSpPr>
      <p:grpSpPr>
        <a:xfrm>
          <a:off x="0" y="0"/>
          <a:ext cx="0" cy="0"/>
          <a:chOff x="0" y="0"/>
          <a:chExt cx="0" cy="0"/>
        </a:xfrm>
      </p:grpSpPr>
      <p:sp>
        <p:nvSpPr>
          <p:cNvPr id="114" name="Google Shape;114;p2"/>
          <p:cNvSpPr/>
          <p:nvPr/>
        </p:nvSpPr>
        <p:spPr>
          <a:xfrm>
            <a:off x="0" y="1117484"/>
            <a:ext cx="9144000" cy="3682253"/>
          </a:xfrm>
          <a:custGeom>
            <a:rect b="b" l="l" r="r" t="t"/>
            <a:pathLst>
              <a:path extrusionOk="0" h="4173220" w="9317990">
                <a:moveTo>
                  <a:pt x="0" y="4172686"/>
                </a:moveTo>
                <a:lnTo>
                  <a:pt x="9317710" y="4172686"/>
                </a:lnTo>
                <a:lnTo>
                  <a:pt x="9317710" y="0"/>
                </a:lnTo>
                <a:lnTo>
                  <a:pt x="0" y="0"/>
                </a:lnTo>
                <a:lnTo>
                  <a:pt x="0" y="4172686"/>
                </a:lnTo>
                <a:close/>
              </a:path>
            </a:pathLst>
          </a:custGeom>
          <a:solidFill>
            <a:srgbClr val="000D26">
              <a:alpha val="94509"/>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88"/>
              <a:buFont typeface="Calibri"/>
              <a:buNone/>
            </a:pPr>
            <a:r>
              <a:t/>
            </a:r>
            <a:endParaRPr b="0" i="0" sz="1588" u="none" cap="none" strike="noStrike">
              <a:solidFill>
                <a:srgbClr val="000000"/>
              </a:solidFill>
              <a:latin typeface="Times New Roman"/>
              <a:ea typeface="Times New Roman"/>
              <a:cs typeface="Times New Roman"/>
              <a:sym typeface="Times New Roman"/>
            </a:endParaRPr>
          </a:p>
        </p:txBody>
      </p:sp>
      <p:sp>
        <p:nvSpPr>
          <p:cNvPr id="115" name="Google Shape;115;p2"/>
          <p:cNvSpPr txBox="1"/>
          <p:nvPr>
            <p:ph type="title"/>
          </p:nvPr>
        </p:nvSpPr>
        <p:spPr>
          <a:xfrm>
            <a:off x="-1" y="2324100"/>
            <a:ext cx="8267701" cy="716259"/>
          </a:xfrm>
          <a:prstGeom prst="rect">
            <a:avLst/>
          </a:prstGeom>
          <a:noFill/>
          <a:ln>
            <a:noFill/>
          </a:ln>
        </p:spPr>
        <p:txBody>
          <a:bodyPr anchorCtr="0" anchor="t" bIns="0" lIns="0" spcFirstLastPara="1" rIns="0" wrap="square" tIns="14000">
            <a:spAutoFit/>
          </a:bodyPr>
          <a:lstStyle/>
          <a:p>
            <a:pPr indent="0" lvl="0" marL="1289306" rtl="0" algn="r">
              <a:lnSpc>
                <a:spcPct val="197562"/>
              </a:lnSpc>
              <a:spcBef>
                <a:spcPts val="0"/>
              </a:spcBef>
              <a:spcAft>
                <a:spcPts val="0"/>
              </a:spcAft>
              <a:buSzPts val="1400"/>
              <a:buNone/>
            </a:pPr>
            <a:r>
              <a:rPr lang="en-US" sz="3200">
                <a:latin typeface="Times New Roman"/>
                <a:ea typeface="Times New Roman"/>
                <a:cs typeface="Times New Roman"/>
                <a:sym typeface="Times New Roman"/>
              </a:rPr>
              <a:t>Corporate &amp; Team Background</a:t>
            </a:r>
            <a:endParaRPr sz="3200">
              <a:latin typeface="Times New Roman"/>
              <a:ea typeface="Times New Roman"/>
              <a:cs typeface="Times New Roman"/>
              <a:sym typeface="Times New Roman"/>
            </a:endParaRPr>
          </a:p>
        </p:txBody>
      </p:sp>
      <p:pic>
        <p:nvPicPr>
          <p:cNvPr descr="A close up of a logo&#10;&#10;Description generated with very high confidence" id="116" name="Google Shape;116;p2"/>
          <p:cNvPicPr preferRelativeResize="0"/>
          <p:nvPr/>
        </p:nvPicPr>
        <p:blipFill rotWithShape="1">
          <a:blip r:embed="rId3">
            <a:alphaModFix/>
          </a:blip>
          <a:srcRect b="0" l="0" r="0" t="0"/>
          <a:stretch/>
        </p:blipFill>
        <p:spPr>
          <a:xfrm>
            <a:off x="7255153" y="4250742"/>
            <a:ext cx="1491832" cy="552887"/>
          </a:xfrm>
          <a:prstGeom prst="rect">
            <a:avLst/>
          </a:prstGeom>
          <a:noFill/>
          <a:ln>
            <a:noFill/>
          </a:ln>
        </p:spPr>
      </p:pic>
      <p:sp>
        <p:nvSpPr>
          <p:cNvPr id="117" name="Google Shape;117;p2"/>
          <p:cNvSpPr/>
          <p:nvPr/>
        </p:nvSpPr>
        <p:spPr>
          <a:xfrm rot="5400000">
            <a:off x="4420161" y="-4259626"/>
            <a:ext cx="303679" cy="9144001"/>
          </a:xfrm>
          <a:custGeom>
            <a:rect b="b" l="l" r="r" t="t"/>
            <a:pathLst>
              <a:path extrusionOk="0" h="7772400" w="344170">
                <a:moveTo>
                  <a:pt x="0" y="7772400"/>
                </a:moveTo>
                <a:lnTo>
                  <a:pt x="343814" y="7772400"/>
                </a:lnTo>
                <a:lnTo>
                  <a:pt x="343814" y="0"/>
                </a:lnTo>
                <a:lnTo>
                  <a:pt x="0" y="0"/>
                </a:lnTo>
                <a:lnTo>
                  <a:pt x="0" y="7772400"/>
                </a:lnTo>
                <a:close/>
              </a:path>
            </a:pathLst>
          </a:custGeom>
          <a:solidFill>
            <a:srgbClr val="C8C8C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8"/>
              <a:buFont typeface="Arial"/>
              <a:buNone/>
            </a:pPr>
            <a:r>
              <a:t/>
            </a:r>
            <a:endParaRPr b="0" i="0" sz="1588" u="none" cap="none" strike="noStrike">
              <a:solidFill>
                <a:schemeClr val="dk1"/>
              </a:solidFill>
              <a:latin typeface="Times New Roman"/>
              <a:ea typeface="Times New Roman"/>
              <a:cs typeface="Times New Roman"/>
              <a:sym typeface="Times New Roman"/>
            </a:endParaRPr>
          </a:p>
        </p:txBody>
      </p:sp>
      <p:sp>
        <p:nvSpPr>
          <p:cNvPr id="118" name="Google Shape;118;p2"/>
          <p:cNvSpPr txBox="1"/>
          <p:nvPr/>
        </p:nvSpPr>
        <p:spPr>
          <a:xfrm>
            <a:off x="-44960" y="231583"/>
            <a:ext cx="9144002" cy="161583"/>
          </a:xfrm>
          <a:prstGeom prst="rect">
            <a:avLst/>
          </a:prstGeom>
          <a:noFill/>
          <a:ln>
            <a:noFill/>
          </a:ln>
        </p:spPr>
        <p:txBody>
          <a:bodyPr anchorCtr="0" anchor="ctr" bIns="0" lIns="0" spcFirstLastPara="1" rIns="0" wrap="square" tIns="11750">
            <a:spAutoFit/>
          </a:bodyPr>
          <a:lstStyle/>
          <a:p>
            <a:pPr indent="0" lvl="0" marL="10795" marR="0" rtl="0" algn="ctr">
              <a:lnSpc>
                <a:spcPct val="100000"/>
              </a:lnSpc>
              <a:spcBef>
                <a:spcPts val="0"/>
              </a:spcBef>
              <a:spcAft>
                <a:spcPts val="0"/>
              </a:spcAft>
              <a:buClr>
                <a:srgbClr val="000000"/>
              </a:buClr>
              <a:buSzPts val="1050"/>
              <a:buFont typeface="Arial"/>
              <a:buNone/>
            </a:pPr>
            <a:r>
              <a:rPr b="1" i="0" lang="en-US" sz="1050" u="none" cap="none" strike="noStrike">
                <a:solidFill>
                  <a:srgbClr val="414042"/>
                </a:solidFill>
                <a:latin typeface="Times New Roman"/>
                <a:ea typeface="Times New Roman"/>
                <a:cs typeface="Times New Roman"/>
                <a:sym typeface="Times New Roman"/>
              </a:rPr>
              <a:t>Stewart Group at Marcus &amp; Millichap</a:t>
            </a:r>
            <a:endParaRPr b="1" i="0" sz="1050" u="none" cap="none" strike="noStrike">
              <a:solidFill>
                <a:srgbClr val="414042"/>
              </a:solidFill>
              <a:latin typeface="Times New Roman"/>
              <a:ea typeface="Times New Roman"/>
              <a:cs typeface="Times New Roman"/>
              <a:sym typeface="Times New Roman"/>
            </a:endParaRPr>
          </a:p>
        </p:txBody>
      </p:sp>
      <p:sp>
        <p:nvSpPr>
          <p:cNvPr id="119" name="Google Shape;119;p2"/>
          <p:cNvSpPr txBox="1"/>
          <p:nvPr/>
        </p:nvSpPr>
        <p:spPr>
          <a:xfrm>
            <a:off x="8597347" y="6438347"/>
            <a:ext cx="298173"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22651"/>
                </a:solidFill>
                <a:latin typeface="Times New Roman"/>
                <a:ea typeface="Times New Roman"/>
                <a:cs typeface="Times New Roman"/>
                <a:sym typeface="Times New Roman"/>
              </a:rPr>
              <a:t>2</a:t>
            </a:r>
            <a:endParaRPr b="1" i="0" sz="1600" u="none" cap="none" strike="noStrike">
              <a:solidFill>
                <a:srgbClr val="022651"/>
              </a:solidFill>
              <a:latin typeface="Times New Roman"/>
              <a:ea typeface="Times New Roman"/>
              <a:cs typeface="Times New Roman"/>
              <a:sym typeface="Times New Roman"/>
            </a:endParaRPr>
          </a:p>
        </p:txBody>
      </p:sp>
    </p:spTree>
  </p:cSld>
  <p:clrMapOvr>
    <a:masterClrMapping/>
  </p:clrMapOvr>
  <mc:AlternateContent>
    <mc:Choice Requires="p14">
      <p:transition spd="slow" p14:dur="15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3"/>
          <p:cNvSpPr/>
          <p:nvPr/>
        </p:nvSpPr>
        <p:spPr>
          <a:xfrm>
            <a:off x="367553" y="762000"/>
            <a:ext cx="470647" cy="0"/>
          </a:xfrm>
          <a:custGeom>
            <a:rect b="b" l="l" r="r" t="t"/>
            <a:pathLst>
              <a:path extrusionOk="0" h="120000" w="533400">
                <a:moveTo>
                  <a:pt x="0" y="0"/>
                </a:moveTo>
                <a:lnTo>
                  <a:pt x="532853" y="0"/>
                </a:lnTo>
              </a:path>
            </a:pathLst>
          </a:custGeom>
          <a:noFill/>
          <a:ln cap="flat" cmpd="sng" w="19050">
            <a:solidFill>
              <a:srgbClr val="F3752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88"/>
              <a:buFont typeface="Calibri"/>
              <a:buNone/>
            </a:pPr>
            <a:r>
              <a:t/>
            </a:r>
            <a:endParaRPr b="0" i="0" sz="1588" u="none" cap="none" strike="noStrike">
              <a:solidFill>
                <a:srgbClr val="000000"/>
              </a:solidFill>
              <a:latin typeface="Times New Roman"/>
              <a:ea typeface="Times New Roman"/>
              <a:cs typeface="Times New Roman"/>
              <a:sym typeface="Times New Roman"/>
            </a:endParaRPr>
          </a:p>
        </p:txBody>
      </p:sp>
      <p:pic>
        <p:nvPicPr>
          <p:cNvPr descr="A close up of a logo&#10;&#10;Description generated with very high confidence" id="125" name="Google Shape;125;p3"/>
          <p:cNvPicPr preferRelativeResize="0"/>
          <p:nvPr/>
        </p:nvPicPr>
        <p:blipFill rotWithShape="1">
          <a:blip r:embed="rId3">
            <a:alphaModFix/>
          </a:blip>
          <a:srcRect b="0" l="0" r="0" t="0"/>
          <a:stretch/>
        </p:blipFill>
        <p:spPr>
          <a:xfrm>
            <a:off x="371935" y="6255136"/>
            <a:ext cx="1454182" cy="543754"/>
          </a:xfrm>
          <a:prstGeom prst="rect">
            <a:avLst/>
          </a:prstGeom>
          <a:noFill/>
          <a:ln>
            <a:noFill/>
          </a:ln>
        </p:spPr>
      </p:pic>
      <p:sp>
        <p:nvSpPr>
          <p:cNvPr id="126" name="Google Shape;126;p3"/>
          <p:cNvSpPr txBox="1"/>
          <p:nvPr/>
        </p:nvSpPr>
        <p:spPr>
          <a:xfrm>
            <a:off x="225559" y="906038"/>
            <a:ext cx="8697566" cy="5210928"/>
          </a:xfrm>
          <a:prstGeom prst="rect">
            <a:avLst/>
          </a:prstGeom>
          <a:noFill/>
          <a:ln>
            <a:noFill/>
          </a:ln>
        </p:spPr>
        <p:txBody>
          <a:bodyPr anchorCtr="0" anchor="t" bIns="0" lIns="0" spcFirstLastPara="1" rIns="0" wrap="square" tIns="24650">
            <a:spAutoFit/>
          </a:bodyPr>
          <a:lstStyle/>
          <a:p>
            <a:pPr indent="0" lvl="1" marL="342900" marR="0" rtl="0" algn="l">
              <a:lnSpc>
                <a:spcPct val="100000"/>
              </a:lnSpc>
              <a:spcBef>
                <a:spcPts val="0"/>
              </a:spcBef>
              <a:spcAft>
                <a:spcPts val="0"/>
              </a:spcAft>
              <a:buClr>
                <a:srgbClr val="ED7D31"/>
              </a:buClr>
              <a:buSzPts val="2000"/>
              <a:buFont typeface="Times New Roman"/>
              <a:buNone/>
            </a:pPr>
            <a:r>
              <a:rPr b="1" i="0" lang="en-US" sz="2000" u="sng" cap="none" strike="noStrike">
                <a:solidFill>
                  <a:srgbClr val="000000"/>
                </a:solidFill>
                <a:latin typeface="Times New Roman"/>
                <a:ea typeface="Times New Roman"/>
                <a:cs typeface="Times New Roman"/>
                <a:sym typeface="Times New Roman"/>
              </a:rPr>
              <a:t>Executive Summary</a:t>
            </a:r>
            <a:endParaRPr b="1" i="0" sz="2000" u="sng" cap="none" strike="noStrike">
              <a:solidFill>
                <a:srgbClr val="000000"/>
              </a:solidFill>
              <a:latin typeface="Times New Roman"/>
              <a:ea typeface="Times New Roman"/>
              <a:cs typeface="Times New Roman"/>
              <a:sym typeface="Times New Roman"/>
            </a:endParaRPr>
          </a:p>
          <a:p>
            <a:pPr indent="0" lvl="1" marL="342900" marR="0" rtl="0" algn="l">
              <a:lnSpc>
                <a:spcPct val="100000"/>
              </a:lnSpc>
              <a:spcBef>
                <a:spcPts val="600"/>
              </a:spcBef>
              <a:spcAft>
                <a:spcPts val="0"/>
              </a:spcAft>
              <a:buClr>
                <a:srgbClr val="000000"/>
              </a:buClr>
              <a:buSzPts val="1700"/>
              <a:buFont typeface="Arial"/>
              <a:buNone/>
            </a:pPr>
            <a:r>
              <a:t/>
            </a:r>
            <a:endParaRPr b="1" i="0" sz="1700" u="sng" cap="none" strike="noStrike">
              <a:solidFill>
                <a:srgbClr val="000000"/>
              </a:solidFill>
              <a:latin typeface="Times New Roman"/>
              <a:ea typeface="Times New Roman"/>
              <a:cs typeface="Times New Roman"/>
              <a:sym typeface="Times New Roman"/>
            </a:endParaRPr>
          </a:p>
          <a:p>
            <a:pPr indent="0" lvl="1" marL="342900" marR="0" rtl="0" algn="l">
              <a:lnSpc>
                <a:spcPct val="100000"/>
              </a:lnSpc>
              <a:spcBef>
                <a:spcPts val="600"/>
              </a:spcBef>
              <a:spcAft>
                <a:spcPts val="0"/>
              </a:spcAft>
              <a:buClr>
                <a:srgbClr val="000000"/>
              </a:buClr>
              <a:buSzPts val="1600"/>
              <a:buFont typeface="Arial"/>
              <a:buNone/>
            </a:pPr>
            <a:r>
              <a:rPr b="1" i="0" lang="en-US" sz="1600" u="none" cap="none" strike="noStrike">
                <a:solidFill>
                  <a:srgbClr val="000000"/>
                </a:solidFill>
                <a:latin typeface="Times New Roman"/>
                <a:ea typeface="Times New Roman"/>
                <a:cs typeface="Times New Roman"/>
                <a:sym typeface="Times New Roman"/>
              </a:rPr>
              <a:t>'The Stewart Group' </a:t>
            </a:r>
            <a:endParaRPr b="0" i="0" sz="1600" u="none" cap="none" strike="noStrike">
              <a:solidFill>
                <a:srgbClr val="000000"/>
              </a:solidFill>
              <a:latin typeface="Times New Roman"/>
              <a:ea typeface="Times New Roman"/>
              <a:cs typeface="Times New Roman"/>
              <a:sym typeface="Times New Roman"/>
            </a:endParaRPr>
          </a:p>
          <a:p>
            <a:pPr indent="-342900" lvl="1" marL="685800" marR="0" rtl="0" algn="l">
              <a:lnSpc>
                <a:spcPct val="100000"/>
              </a:lnSpc>
              <a:spcBef>
                <a:spcPts val="600"/>
              </a:spcBef>
              <a:spcAft>
                <a:spcPts val="0"/>
              </a:spcAft>
              <a:buClr>
                <a:srgbClr val="ED7D31"/>
              </a:buClr>
              <a:buSzPts val="1600"/>
              <a:buFont typeface="Noto Sans Symbols"/>
              <a:buChar char="▪"/>
            </a:pPr>
            <a:r>
              <a:rPr b="0" i="0" lang="en-US" sz="1600" u="none" cap="none" strike="noStrike">
                <a:solidFill>
                  <a:srgbClr val="000000"/>
                </a:solidFill>
                <a:latin typeface="Times New Roman"/>
                <a:ea typeface="Times New Roman"/>
                <a:cs typeface="Times New Roman"/>
                <a:sym typeface="Times New Roman"/>
              </a:rPr>
              <a:t>Investment sales team with 30+ years of experience</a:t>
            </a:r>
            <a:endParaRPr b="0" i="0" sz="1600" u="none" cap="none" strike="noStrike">
              <a:solidFill>
                <a:srgbClr val="000000"/>
              </a:solidFill>
              <a:latin typeface="Times New Roman"/>
              <a:ea typeface="Times New Roman"/>
              <a:cs typeface="Times New Roman"/>
              <a:sym typeface="Times New Roman"/>
            </a:endParaRPr>
          </a:p>
          <a:p>
            <a:pPr indent="-342900" lvl="1" marL="685800" marR="0" rtl="0" algn="l">
              <a:lnSpc>
                <a:spcPct val="100000"/>
              </a:lnSpc>
              <a:spcBef>
                <a:spcPts val="600"/>
              </a:spcBef>
              <a:spcAft>
                <a:spcPts val="0"/>
              </a:spcAft>
              <a:buClr>
                <a:srgbClr val="ED7D31"/>
              </a:buClr>
              <a:buSzPts val="1600"/>
              <a:buFont typeface="Noto Sans Symbols"/>
              <a:buChar char="▪"/>
            </a:pPr>
            <a:r>
              <a:rPr b="0" i="0" lang="en-US" sz="1600" u="none" cap="none" strike="noStrike">
                <a:solidFill>
                  <a:srgbClr val="000000"/>
                </a:solidFill>
                <a:latin typeface="Times New Roman"/>
                <a:ea typeface="Times New Roman"/>
                <a:cs typeface="Times New Roman"/>
                <a:sym typeface="Times New Roman"/>
              </a:rPr>
              <a:t>125+ building sales transactions totaling $1,000,000,000+</a:t>
            </a:r>
            <a:endParaRPr b="0" i="0" sz="1600" u="none" cap="none" strike="noStrike">
              <a:solidFill>
                <a:srgbClr val="000000"/>
              </a:solidFill>
              <a:latin typeface="Times New Roman"/>
              <a:ea typeface="Times New Roman"/>
              <a:cs typeface="Times New Roman"/>
              <a:sym typeface="Times New Roman"/>
            </a:endParaRPr>
          </a:p>
          <a:p>
            <a:pPr indent="-342900" lvl="1" marL="685800" marR="0" rtl="0" algn="l">
              <a:lnSpc>
                <a:spcPct val="100000"/>
              </a:lnSpc>
              <a:spcBef>
                <a:spcPts val="600"/>
              </a:spcBef>
              <a:spcAft>
                <a:spcPts val="0"/>
              </a:spcAft>
              <a:buClr>
                <a:srgbClr val="ED7D31"/>
              </a:buClr>
              <a:buSzPts val="1600"/>
              <a:buFont typeface="Noto Sans Symbols"/>
              <a:buChar char="▪"/>
            </a:pPr>
            <a:r>
              <a:rPr b="0" i="0" lang="en-US" sz="1600" u="none" cap="none" strike="noStrike">
                <a:solidFill>
                  <a:srgbClr val="000000"/>
                </a:solidFill>
                <a:latin typeface="Times New Roman"/>
                <a:ea typeface="Times New Roman"/>
                <a:cs typeface="Times New Roman"/>
                <a:sym typeface="Times New Roman"/>
              </a:rPr>
              <a:t>Our geographical focus is core Manhattan (below 96</a:t>
            </a:r>
            <a:r>
              <a:rPr b="0" baseline="30000" i="0" lang="en-US" sz="1600" u="none" cap="none" strike="noStrike">
                <a:solidFill>
                  <a:srgbClr val="000000"/>
                </a:solidFill>
                <a:latin typeface="Times New Roman"/>
                <a:ea typeface="Times New Roman"/>
                <a:cs typeface="Times New Roman"/>
                <a:sym typeface="Times New Roman"/>
              </a:rPr>
              <a:t>th</a:t>
            </a:r>
            <a:r>
              <a:rPr b="0" i="0" lang="en-US" sz="1600" u="none" cap="none" strike="noStrike">
                <a:solidFill>
                  <a:srgbClr val="000000"/>
                </a:solidFill>
                <a:latin typeface="Times New Roman"/>
                <a:ea typeface="Times New Roman"/>
                <a:cs typeface="Times New Roman"/>
                <a:sym typeface="Times New Roman"/>
              </a:rPr>
              <a:t> Street) with close tracking of all market and transaction activity in each territory/neighborhood</a:t>
            </a:r>
            <a:endParaRPr b="0" i="0" sz="1600" u="none" cap="none" strike="noStrike">
              <a:solidFill>
                <a:srgbClr val="000000"/>
              </a:solidFill>
              <a:latin typeface="Times New Roman"/>
              <a:ea typeface="Times New Roman"/>
              <a:cs typeface="Times New Roman"/>
              <a:sym typeface="Times New Roman"/>
            </a:endParaRPr>
          </a:p>
          <a:p>
            <a:pPr indent="-342900" lvl="1" marL="685800" marR="0" rtl="0" algn="l">
              <a:lnSpc>
                <a:spcPct val="100000"/>
              </a:lnSpc>
              <a:spcBef>
                <a:spcPts val="600"/>
              </a:spcBef>
              <a:spcAft>
                <a:spcPts val="0"/>
              </a:spcAft>
              <a:buClr>
                <a:srgbClr val="ED7D31"/>
              </a:buClr>
              <a:buSzPts val="1600"/>
              <a:buFont typeface="Noto Sans Symbols"/>
              <a:buChar char="▪"/>
            </a:pPr>
            <a:r>
              <a:rPr b="0" i="0" lang="en-US" sz="1600" u="none" cap="none" strike="noStrike">
                <a:solidFill>
                  <a:srgbClr val="000000"/>
                </a:solidFill>
                <a:latin typeface="Times New Roman"/>
                <a:ea typeface="Times New Roman"/>
                <a:cs typeface="Times New Roman"/>
                <a:sym typeface="Times New Roman"/>
              </a:rPr>
              <a:t>Multiyear professional and transactional relationships with all building owners, users, developers and potential buyers in the Lower East Side and throughout the city</a:t>
            </a:r>
            <a:endParaRPr b="0" i="0" sz="1600" u="none" cap="none" strike="noStrike">
              <a:solidFill>
                <a:srgbClr val="000000"/>
              </a:solidFill>
              <a:latin typeface="Times New Roman"/>
              <a:ea typeface="Times New Roman"/>
              <a:cs typeface="Times New Roman"/>
              <a:sym typeface="Times New Roman"/>
            </a:endParaRPr>
          </a:p>
          <a:p>
            <a:pPr indent="-342900" lvl="1" marL="685800" marR="0" rtl="0" algn="l">
              <a:lnSpc>
                <a:spcPct val="100000"/>
              </a:lnSpc>
              <a:spcBef>
                <a:spcPts val="600"/>
              </a:spcBef>
              <a:spcAft>
                <a:spcPts val="0"/>
              </a:spcAft>
              <a:buClr>
                <a:srgbClr val="ED7D31"/>
              </a:buClr>
              <a:buSzPts val="1600"/>
              <a:buFont typeface="Noto Sans Symbols"/>
              <a:buChar char="▪"/>
            </a:pPr>
            <a:r>
              <a:rPr b="0" i="0" lang="en-US" sz="1600" u="none" cap="none" strike="noStrike">
                <a:solidFill>
                  <a:srgbClr val="000000"/>
                </a:solidFill>
                <a:latin typeface="Times New Roman"/>
                <a:ea typeface="Times New Roman"/>
                <a:cs typeface="Times New Roman"/>
                <a:sym typeface="Times New Roman"/>
              </a:rPr>
              <a:t>Proprietary citywide team database of 10,000+ owners, developers, syndicators, and private/corporate/institutional investors</a:t>
            </a:r>
            <a:endParaRPr b="0" i="0" sz="1600" u="none" cap="none" strike="noStrike">
              <a:solidFill>
                <a:srgbClr val="000000"/>
              </a:solidFill>
              <a:latin typeface="Times New Roman"/>
              <a:ea typeface="Times New Roman"/>
              <a:cs typeface="Times New Roman"/>
              <a:sym typeface="Times New Roman"/>
            </a:endParaRPr>
          </a:p>
          <a:p>
            <a:pPr indent="0" lvl="1" marL="342900" marR="0" rtl="0" algn="l">
              <a:lnSpc>
                <a:spcPct val="100000"/>
              </a:lnSpc>
              <a:spcBef>
                <a:spcPts val="1200"/>
              </a:spcBef>
              <a:spcAft>
                <a:spcPts val="0"/>
              </a:spcAft>
              <a:buClr>
                <a:srgbClr val="ED7D31"/>
              </a:buClr>
              <a:buSzPts val="1600"/>
              <a:buFont typeface="Times New Roman"/>
              <a:buNone/>
            </a:pPr>
            <a:r>
              <a:rPr b="1" i="0" lang="en-US" sz="1600" u="none" cap="none" strike="noStrike">
                <a:solidFill>
                  <a:srgbClr val="000000"/>
                </a:solidFill>
                <a:latin typeface="Times New Roman"/>
                <a:ea typeface="Times New Roman"/>
                <a:cs typeface="Times New Roman"/>
                <a:sym typeface="Times New Roman"/>
              </a:rPr>
              <a:t>Company</a:t>
            </a:r>
            <a:endParaRPr b="0" i="0" sz="1600" u="none" cap="none" strike="noStrike">
              <a:solidFill>
                <a:srgbClr val="000000"/>
              </a:solidFill>
              <a:latin typeface="Times New Roman"/>
              <a:ea typeface="Times New Roman"/>
              <a:cs typeface="Times New Roman"/>
              <a:sym typeface="Times New Roman"/>
            </a:endParaRPr>
          </a:p>
          <a:p>
            <a:pPr indent="-342900" lvl="1" marL="685800" marR="0" rtl="0" algn="l">
              <a:lnSpc>
                <a:spcPct val="100000"/>
              </a:lnSpc>
              <a:spcBef>
                <a:spcPts val="600"/>
              </a:spcBef>
              <a:spcAft>
                <a:spcPts val="0"/>
              </a:spcAft>
              <a:buClr>
                <a:srgbClr val="ED7D31"/>
              </a:buClr>
              <a:buSzPts val="1600"/>
              <a:buFont typeface="Noto Sans Symbols"/>
              <a:buChar char="▪"/>
            </a:pPr>
            <a:r>
              <a:rPr b="0" i="0" lang="en-US" sz="1600" u="none" cap="none" strike="noStrike">
                <a:solidFill>
                  <a:srgbClr val="000000"/>
                </a:solidFill>
                <a:latin typeface="Times New Roman"/>
                <a:ea typeface="Times New Roman"/>
                <a:cs typeface="Times New Roman"/>
                <a:sym typeface="Times New Roman"/>
              </a:rPr>
              <a:t>Marcus &amp; Millichap was founded in 1971– taken public in 2013 (NYSE: MMI)</a:t>
            </a:r>
            <a:endParaRPr b="0" i="0" sz="1600" u="none" cap="none" strike="noStrike">
              <a:solidFill>
                <a:srgbClr val="000000"/>
              </a:solidFill>
              <a:latin typeface="Times New Roman"/>
              <a:ea typeface="Times New Roman"/>
              <a:cs typeface="Times New Roman"/>
              <a:sym typeface="Times New Roman"/>
            </a:endParaRPr>
          </a:p>
          <a:p>
            <a:pPr indent="-342900" lvl="1" marL="685800" marR="0" rtl="0" algn="l">
              <a:lnSpc>
                <a:spcPct val="100000"/>
              </a:lnSpc>
              <a:spcBef>
                <a:spcPts val="600"/>
              </a:spcBef>
              <a:spcAft>
                <a:spcPts val="0"/>
              </a:spcAft>
              <a:buClr>
                <a:srgbClr val="ED7D31"/>
              </a:buClr>
              <a:buSzPts val="1600"/>
              <a:buFont typeface="Noto Sans Symbols"/>
              <a:buChar char="▪"/>
            </a:pPr>
            <a:r>
              <a:rPr b="0" i="0" lang="en-US" sz="1600" u="none" cap="none" strike="noStrike">
                <a:solidFill>
                  <a:srgbClr val="000000"/>
                </a:solidFill>
                <a:latin typeface="Times New Roman"/>
                <a:ea typeface="Times New Roman"/>
                <a:cs typeface="Times New Roman"/>
                <a:sym typeface="Times New Roman"/>
              </a:rPr>
              <a:t>80+ investment sales brokers in Manhattan; 2000+ brokers in 86 offices in U.S. and Canada </a:t>
            </a:r>
            <a:endParaRPr b="0" i="0" sz="1600" u="none" cap="none" strike="noStrike">
              <a:solidFill>
                <a:srgbClr val="000000"/>
              </a:solidFill>
              <a:latin typeface="Times New Roman"/>
              <a:ea typeface="Times New Roman"/>
              <a:cs typeface="Times New Roman"/>
              <a:sym typeface="Times New Roman"/>
            </a:endParaRPr>
          </a:p>
          <a:p>
            <a:pPr indent="-342900" lvl="1" marL="685800" marR="0" rtl="0" algn="l">
              <a:lnSpc>
                <a:spcPct val="100000"/>
              </a:lnSpc>
              <a:spcBef>
                <a:spcPts val="600"/>
              </a:spcBef>
              <a:spcAft>
                <a:spcPts val="0"/>
              </a:spcAft>
              <a:buClr>
                <a:srgbClr val="ED7D31"/>
              </a:buClr>
              <a:buSzPts val="1600"/>
              <a:buFont typeface="Noto Sans Symbols"/>
              <a:buChar char="▪"/>
            </a:pPr>
            <a:r>
              <a:rPr b="0" i="0" lang="en-US" sz="1600" u="none" cap="none" strike="noStrike">
                <a:solidFill>
                  <a:srgbClr val="000000"/>
                </a:solidFill>
                <a:latin typeface="Times New Roman"/>
                <a:ea typeface="Times New Roman"/>
                <a:cs typeface="Times New Roman"/>
                <a:sym typeface="Times New Roman"/>
              </a:rPr>
              <a:t>6,500+ building sales transactions closed in 2024</a:t>
            </a:r>
            <a:endParaRPr b="0" i="0" sz="1600" u="none" cap="none" strike="noStrike">
              <a:solidFill>
                <a:srgbClr val="000000"/>
              </a:solidFill>
              <a:latin typeface="Times New Roman"/>
              <a:ea typeface="Times New Roman"/>
              <a:cs typeface="Times New Roman"/>
              <a:sym typeface="Times New Roman"/>
            </a:endParaRPr>
          </a:p>
          <a:p>
            <a:pPr indent="-342900" lvl="1" marL="685800" marR="0" rtl="0" algn="l">
              <a:lnSpc>
                <a:spcPct val="100000"/>
              </a:lnSpc>
              <a:spcBef>
                <a:spcPts val="600"/>
              </a:spcBef>
              <a:spcAft>
                <a:spcPts val="0"/>
              </a:spcAft>
              <a:buClr>
                <a:srgbClr val="ED7D31"/>
              </a:buClr>
              <a:buSzPts val="1600"/>
              <a:buFont typeface="Noto Sans Symbols"/>
              <a:buChar char="▪"/>
            </a:pPr>
            <a:r>
              <a:rPr b="0" i="0" lang="en-US" sz="1600" u="none" cap="none" strike="noStrike">
                <a:solidFill>
                  <a:srgbClr val="000000"/>
                </a:solidFill>
                <a:latin typeface="Times New Roman"/>
                <a:ea typeface="Times New Roman"/>
                <a:cs typeface="Times New Roman"/>
                <a:sym typeface="Times New Roman"/>
              </a:rPr>
              <a:t>2,200+ 1031 exchange transactions closed in 2024</a:t>
            </a:r>
            <a:endParaRPr b="0" i="0" sz="1600" u="none" cap="none" strike="noStrike">
              <a:solidFill>
                <a:srgbClr val="000000"/>
              </a:solidFill>
              <a:latin typeface="Times New Roman"/>
              <a:ea typeface="Times New Roman"/>
              <a:cs typeface="Times New Roman"/>
              <a:sym typeface="Times New Roman"/>
            </a:endParaRPr>
          </a:p>
        </p:txBody>
      </p:sp>
      <p:sp>
        <p:nvSpPr>
          <p:cNvPr id="127" name="Google Shape;127;p3"/>
          <p:cNvSpPr/>
          <p:nvPr/>
        </p:nvSpPr>
        <p:spPr>
          <a:xfrm rot="5400000">
            <a:off x="4420161" y="-4259626"/>
            <a:ext cx="303679" cy="9144001"/>
          </a:xfrm>
          <a:custGeom>
            <a:rect b="b" l="l" r="r" t="t"/>
            <a:pathLst>
              <a:path extrusionOk="0" h="7772400" w="344170">
                <a:moveTo>
                  <a:pt x="0" y="7772400"/>
                </a:moveTo>
                <a:lnTo>
                  <a:pt x="343814" y="7772400"/>
                </a:lnTo>
                <a:lnTo>
                  <a:pt x="343814" y="0"/>
                </a:lnTo>
                <a:lnTo>
                  <a:pt x="0" y="0"/>
                </a:lnTo>
                <a:lnTo>
                  <a:pt x="0" y="7772400"/>
                </a:lnTo>
                <a:close/>
              </a:path>
            </a:pathLst>
          </a:custGeom>
          <a:solidFill>
            <a:srgbClr val="C8C8C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8"/>
              <a:buFont typeface="Arial"/>
              <a:buNone/>
            </a:pPr>
            <a:r>
              <a:t/>
            </a:r>
            <a:endParaRPr b="0" i="0" sz="1588" u="none" cap="none" strike="noStrike">
              <a:solidFill>
                <a:schemeClr val="dk1"/>
              </a:solidFill>
              <a:latin typeface="Times New Roman"/>
              <a:ea typeface="Times New Roman"/>
              <a:cs typeface="Times New Roman"/>
              <a:sym typeface="Times New Roman"/>
            </a:endParaRPr>
          </a:p>
        </p:txBody>
      </p:sp>
      <p:sp>
        <p:nvSpPr>
          <p:cNvPr id="128" name="Google Shape;128;p3"/>
          <p:cNvSpPr txBox="1"/>
          <p:nvPr/>
        </p:nvSpPr>
        <p:spPr>
          <a:xfrm>
            <a:off x="-44960" y="231583"/>
            <a:ext cx="9144002" cy="161583"/>
          </a:xfrm>
          <a:prstGeom prst="rect">
            <a:avLst/>
          </a:prstGeom>
          <a:noFill/>
          <a:ln>
            <a:noFill/>
          </a:ln>
        </p:spPr>
        <p:txBody>
          <a:bodyPr anchorCtr="0" anchor="ctr" bIns="0" lIns="0" spcFirstLastPara="1" rIns="0" wrap="square" tIns="11750">
            <a:spAutoFit/>
          </a:bodyPr>
          <a:lstStyle/>
          <a:p>
            <a:pPr indent="0" lvl="0" marL="10795" marR="0" rtl="0" algn="ctr">
              <a:lnSpc>
                <a:spcPct val="100000"/>
              </a:lnSpc>
              <a:spcBef>
                <a:spcPts val="0"/>
              </a:spcBef>
              <a:spcAft>
                <a:spcPts val="0"/>
              </a:spcAft>
              <a:buClr>
                <a:srgbClr val="000000"/>
              </a:buClr>
              <a:buSzPts val="1050"/>
              <a:buFont typeface="Arial"/>
              <a:buNone/>
            </a:pPr>
            <a:r>
              <a:rPr b="1" i="0" lang="en-US" sz="1050" u="none" cap="none" strike="noStrike">
                <a:solidFill>
                  <a:srgbClr val="414042"/>
                </a:solidFill>
                <a:latin typeface="Times New Roman"/>
                <a:ea typeface="Times New Roman"/>
                <a:cs typeface="Times New Roman"/>
                <a:sym typeface="Times New Roman"/>
              </a:rPr>
              <a:t>Stewart Group at Marcus &amp; Millichap</a:t>
            </a:r>
            <a:endParaRPr b="1" i="0" sz="1050" u="none" cap="none" strike="noStrike">
              <a:solidFill>
                <a:srgbClr val="414042"/>
              </a:solidFill>
              <a:latin typeface="Times New Roman"/>
              <a:ea typeface="Times New Roman"/>
              <a:cs typeface="Times New Roman"/>
              <a:sym typeface="Times New Roman"/>
            </a:endParaRPr>
          </a:p>
        </p:txBody>
      </p:sp>
    </p:spTree>
  </p:cSld>
  <p:clrMapOvr>
    <a:masterClrMapping/>
  </p:clrMapOvr>
  <mc:AlternateContent>
    <mc:Choice Requires="p14">
      <p:transition spd="slow" p14:dur="15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2" name="Shape 132"/>
        <p:cNvGrpSpPr/>
        <p:nvPr/>
      </p:nvGrpSpPr>
      <p:grpSpPr>
        <a:xfrm>
          <a:off x="0" y="0"/>
          <a:ext cx="0" cy="0"/>
          <a:chOff x="0" y="0"/>
          <a:chExt cx="0" cy="0"/>
        </a:xfrm>
      </p:grpSpPr>
      <p:sp>
        <p:nvSpPr>
          <p:cNvPr id="133" name="Google Shape;133;p4"/>
          <p:cNvSpPr txBox="1"/>
          <p:nvPr/>
        </p:nvSpPr>
        <p:spPr>
          <a:xfrm>
            <a:off x="676574" y="2993327"/>
            <a:ext cx="7790852" cy="136960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chemeClr val="dk1"/>
                </a:solidFill>
                <a:latin typeface="Times New Roman"/>
                <a:ea typeface="Times New Roman"/>
                <a:cs typeface="Times New Roman"/>
                <a:sym typeface="Times New Roman"/>
              </a:rPr>
              <a:t>John J. Stewart is a Senior Vice President Investments and Associate Broker in Marcus &amp; Millichap’s Manhattan office where he specializes in representing multifamily and commercial real estate owners in building sales transactions in core Manhattan. Since joining M&amp;M in 2005, John has closed over $1 billion of building sales transactions and has earned multiple National Achievement Awards and Chairman’s Club honors which recognizes the top 5% of M&amp;M investment sales brokers nationally.</a:t>
            </a:r>
            <a:endParaRPr b="0" i="0" sz="13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A blue and orange rectangular object&#10;&#10;AI-generated content may be incorrect." id="134" name="Google Shape;134;p4"/>
          <p:cNvPicPr preferRelativeResize="0"/>
          <p:nvPr/>
        </p:nvPicPr>
        <p:blipFill rotWithShape="1">
          <a:blip r:embed="rId3">
            <a:alphaModFix/>
          </a:blip>
          <a:srcRect b="0" l="0" r="0" t="0"/>
          <a:stretch/>
        </p:blipFill>
        <p:spPr>
          <a:xfrm>
            <a:off x="0" y="1956"/>
            <a:ext cx="9144000" cy="2917658"/>
          </a:xfrm>
          <a:prstGeom prst="rect">
            <a:avLst/>
          </a:prstGeom>
          <a:noFill/>
          <a:ln>
            <a:noFill/>
          </a:ln>
        </p:spPr>
      </p:pic>
      <p:sp>
        <p:nvSpPr>
          <p:cNvPr id="135" name="Google Shape;135;p4"/>
          <p:cNvSpPr txBox="1"/>
          <p:nvPr/>
        </p:nvSpPr>
        <p:spPr>
          <a:xfrm>
            <a:off x="1065254" y="4382881"/>
            <a:ext cx="3177847" cy="16158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Times New Roman"/>
                <a:ea typeface="Times New Roman"/>
                <a:cs typeface="Times New Roman"/>
                <a:sym typeface="Times New Roman"/>
              </a:rPr>
              <a:t>Professional Affiliations: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Times New Roman"/>
                <a:ea typeface="Times New Roman"/>
                <a:cs typeface="Times New Roman"/>
                <a:sym typeface="Times New Roman"/>
              </a:rPr>
              <a:t>Real Estate Board of New York</a:t>
            </a:r>
            <a:endParaRPr b="0" i="0" sz="11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Times New Roman"/>
                <a:ea typeface="Times New Roman"/>
                <a:cs typeface="Times New Roman"/>
                <a:sym typeface="Times New Roman"/>
              </a:rPr>
              <a:t>Community Housing Improvement Program</a:t>
            </a:r>
            <a:endParaRPr b="0" i="0" sz="11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Times New Roman"/>
                <a:ea typeface="Times New Roman"/>
                <a:cs typeface="Times New Roman"/>
                <a:sym typeface="Times New Roman"/>
              </a:rPr>
              <a:t>Small Property Owners of New York</a:t>
            </a:r>
            <a:endParaRPr b="0" i="0" sz="11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Times New Roman"/>
                <a:ea typeface="Times New Roman"/>
                <a:cs typeface="Times New Roman"/>
                <a:sym typeface="Times New Roman"/>
              </a:rPr>
              <a:t>Rent Stabilization Association</a:t>
            </a:r>
            <a:endParaRPr b="0" i="0" sz="11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Times New Roman"/>
                <a:ea typeface="Times New Roman"/>
                <a:cs typeface="Times New Roman"/>
                <a:sym typeface="Times New Roman"/>
              </a:rPr>
              <a:t>Certified Commercial Investment Member</a:t>
            </a:r>
            <a:endParaRPr b="0" i="0" sz="11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Times New Roman"/>
                <a:ea typeface="Times New Roman"/>
                <a:cs typeface="Times New Roman"/>
                <a:sym typeface="Times New Roman"/>
              </a:rPr>
              <a:t>National Multi Housing Council</a:t>
            </a:r>
            <a:endParaRPr b="0" i="0" sz="11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Times New Roman"/>
                <a:ea typeface="Times New Roman"/>
                <a:cs typeface="Times New Roman"/>
                <a:sym typeface="Times New Roman"/>
              </a:rPr>
              <a:t>Urban Land Institute</a:t>
            </a:r>
            <a:endParaRPr b="0" i="0" sz="11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136" name="Google Shape;136;p4"/>
          <p:cNvSpPr txBox="1"/>
          <p:nvPr/>
        </p:nvSpPr>
        <p:spPr>
          <a:xfrm>
            <a:off x="5275415" y="4666687"/>
            <a:ext cx="2849811" cy="10464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Times New Roman"/>
                <a:ea typeface="Times New Roman"/>
                <a:cs typeface="Times New Roman"/>
                <a:sym typeface="Times New Roman"/>
              </a:rPr>
              <a:t>Education: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Times New Roman"/>
                <a:ea typeface="Times New Roman"/>
                <a:cs typeface="Times New Roman"/>
                <a:sym typeface="Times New Roman"/>
              </a:rPr>
              <a:t>Collegiate School</a:t>
            </a:r>
            <a:endParaRPr b="0" i="0" sz="11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Times New Roman"/>
                <a:ea typeface="Times New Roman"/>
                <a:cs typeface="Times New Roman"/>
                <a:sym typeface="Times New Roman"/>
              </a:rPr>
              <a:t>The Hotchkiss School</a:t>
            </a:r>
            <a:endParaRPr b="0" i="0" sz="11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Times New Roman"/>
                <a:ea typeface="Times New Roman"/>
                <a:cs typeface="Times New Roman"/>
                <a:sym typeface="Times New Roman"/>
              </a:rPr>
              <a:t>Washington and Lee University</a:t>
            </a:r>
            <a:endParaRPr b="0" i="0" sz="11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A black background with blue lines&#10;&#10;AI-generated content may be incorrect." id="137" name="Google Shape;137;p4"/>
          <p:cNvPicPr preferRelativeResize="0"/>
          <p:nvPr/>
        </p:nvPicPr>
        <p:blipFill rotWithShape="1">
          <a:blip r:embed="rId4">
            <a:alphaModFix/>
          </a:blip>
          <a:srcRect b="0" l="0" r="0" t="0"/>
          <a:stretch/>
        </p:blipFill>
        <p:spPr>
          <a:xfrm>
            <a:off x="451049" y="6127822"/>
            <a:ext cx="1465911" cy="548005"/>
          </a:xfrm>
          <a:prstGeom prst="rect">
            <a:avLst/>
          </a:prstGeom>
          <a:noFill/>
          <a:ln>
            <a:noFill/>
          </a:ln>
        </p:spPr>
      </p:pic>
    </p:spTree>
  </p:cSld>
  <p:clrMapOvr>
    <a:masterClrMapping/>
  </p:clrMapOvr>
  <mc:AlternateContent>
    <mc:Choice Requires="p14">
      <p:transition spd="slow" p14:dur="15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5"/>
          <p:cNvSpPr/>
          <p:nvPr/>
        </p:nvSpPr>
        <p:spPr>
          <a:xfrm>
            <a:off x="0" y="1117484"/>
            <a:ext cx="9144000" cy="3682253"/>
          </a:xfrm>
          <a:custGeom>
            <a:rect b="b" l="l" r="r" t="t"/>
            <a:pathLst>
              <a:path extrusionOk="0" h="4173220" w="9317990">
                <a:moveTo>
                  <a:pt x="0" y="4172686"/>
                </a:moveTo>
                <a:lnTo>
                  <a:pt x="9317710" y="4172686"/>
                </a:lnTo>
                <a:lnTo>
                  <a:pt x="9317710" y="0"/>
                </a:lnTo>
                <a:lnTo>
                  <a:pt x="0" y="0"/>
                </a:lnTo>
                <a:lnTo>
                  <a:pt x="0" y="4172686"/>
                </a:lnTo>
                <a:close/>
              </a:path>
            </a:pathLst>
          </a:custGeom>
          <a:solidFill>
            <a:srgbClr val="000D26">
              <a:alpha val="94509"/>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88"/>
              <a:buFont typeface="Calibri"/>
              <a:buNone/>
            </a:pPr>
            <a:r>
              <a:t/>
            </a:r>
            <a:endParaRPr b="0" i="0" sz="1588" u="none" cap="none" strike="noStrike">
              <a:solidFill>
                <a:srgbClr val="000000"/>
              </a:solidFill>
              <a:latin typeface="Times New Roman"/>
              <a:ea typeface="Times New Roman"/>
              <a:cs typeface="Times New Roman"/>
              <a:sym typeface="Times New Roman"/>
            </a:endParaRPr>
          </a:p>
        </p:txBody>
      </p:sp>
      <p:sp>
        <p:nvSpPr>
          <p:cNvPr id="143" name="Google Shape;143;p5"/>
          <p:cNvSpPr txBox="1"/>
          <p:nvPr>
            <p:ph type="title"/>
          </p:nvPr>
        </p:nvSpPr>
        <p:spPr>
          <a:xfrm>
            <a:off x="-1" y="2324100"/>
            <a:ext cx="8267701" cy="716259"/>
          </a:xfrm>
          <a:prstGeom prst="rect">
            <a:avLst/>
          </a:prstGeom>
          <a:noFill/>
          <a:ln>
            <a:noFill/>
          </a:ln>
        </p:spPr>
        <p:txBody>
          <a:bodyPr anchorCtr="0" anchor="t" bIns="0" lIns="0" spcFirstLastPara="1" rIns="0" wrap="square" tIns="14000">
            <a:spAutoFit/>
          </a:bodyPr>
          <a:lstStyle/>
          <a:p>
            <a:pPr indent="0" lvl="0" marL="1289306" rtl="0" algn="r">
              <a:lnSpc>
                <a:spcPct val="197562"/>
              </a:lnSpc>
              <a:spcBef>
                <a:spcPts val="0"/>
              </a:spcBef>
              <a:spcAft>
                <a:spcPts val="0"/>
              </a:spcAft>
              <a:buSzPts val="1400"/>
              <a:buNone/>
            </a:pPr>
            <a:r>
              <a:rPr lang="en-US" sz="3200">
                <a:latin typeface="Times New Roman"/>
                <a:ea typeface="Times New Roman"/>
                <a:cs typeface="Times New Roman"/>
                <a:sym typeface="Times New Roman"/>
              </a:rPr>
              <a:t>Pricing Analysis &amp; Marketing Strategy</a:t>
            </a:r>
            <a:endParaRPr sz="3200">
              <a:latin typeface="Times New Roman"/>
              <a:ea typeface="Times New Roman"/>
              <a:cs typeface="Times New Roman"/>
              <a:sym typeface="Times New Roman"/>
            </a:endParaRPr>
          </a:p>
        </p:txBody>
      </p:sp>
      <p:pic>
        <p:nvPicPr>
          <p:cNvPr descr="A close up of a logo&#10;&#10;Description generated with very high confidence" id="144" name="Google Shape;144;p5"/>
          <p:cNvPicPr preferRelativeResize="0"/>
          <p:nvPr/>
        </p:nvPicPr>
        <p:blipFill rotWithShape="1">
          <a:blip r:embed="rId3">
            <a:alphaModFix/>
          </a:blip>
          <a:srcRect b="0" l="0" r="0" t="0"/>
          <a:stretch/>
        </p:blipFill>
        <p:spPr>
          <a:xfrm>
            <a:off x="7255153" y="4250742"/>
            <a:ext cx="1491832" cy="552887"/>
          </a:xfrm>
          <a:prstGeom prst="rect">
            <a:avLst/>
          </a:prstGeom>
          <a:noFill/>
          <a:ln>
            <a:noFill/>
          </a:ln>
        </p:spPr>
      </p:pic>
      <p:sp>
        <p:nvSpPr>
          <p:cNvPr id="145" name="Google Shape;145;p5"/>
          <p:cNvSpPr/>
          <p:nvPr/>
        </p:nvSpPr>
        <p:spPr>
          <a:xfrm rot="5400000">
            <a:off x="4420161" y="-4259626"/>
            <a:ext cx="303679" cy="9144001"/>
          </a:xfrm>
          <a:custGeom>
            <a:rect b="b" l="l" r="r" t="t"/>
            <a:pathLst>
              <a:path extrusionOk="0" h="7772400" w="344170">
                <a:moveTo>
                  <a:pt x="0" y="7772400"/>
                </a:moveTo>
                <a:lnTo>
                  <a:pt x="343814" y="7772400"/>
                </a:lnTo>
                <a:lnTo>
                  <a:pt x="343814" y="0"/>
                </a:lnTo>
                <a:lnTo>
                  <a:pt x="0" y="0"/>
                </a:lnTo>
                <a:lnTo>
                  <a:pt x="0" y="7772400"/>
                </a:lnTo>
                <a:close/>
              </a:path>
            </a:pathLst>
          </a:custGeom>
          <a:solidFill>
            <a:srgbClr val="C8C8C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8"/>
              <a:buFont typeface="Arial"/>
              <a:buNone/>
            </a:pPr>
            <a:r>
              <a:t/>
            </a:r>
            <a:endParaRPr b="0" i="0" sz="1588" u="none" cap="none" strike="noStrike">
              <a:solidFill>
                <a:schemeClr val="dk1"/>
              </a:solidFill>
              <a:latin typeface="Times New Roman"/>
              <a:ea typeface="Times New Roman"/>
              <a:cs typeface="Times New Roman"/>
              <a:sym typeface="Times New Roman"/>
            </a:endParaRPr>
          </a:p>
        </p:txBody>
      </p:sp>
      <p:sp>
        <p:nvSpPr>
          <p:cNvPr id="146" name="Google Shape;146;p5"/>
          <p:cNvSpPr txBox="1"/>
          <p:nvPr/>
        </p:nvSpPr>
        <p:spPr>
          <a:xfrm>
            <a:off x="-44960" y="231583"/>
            <a:ext cx="9144002" cy="161583"/>
          </a:xfrm>
          <a:prstGeom prst="rect">
            <a:avLst/>
          </a:prstGeom>
          <a:noFill/>
          <a:ln>
            <a:noFill/>
          </a:ln>
        </p:spPr>
        <p:txBody>
          <a:bodyPr anchorCtr="0" anchor="ctr" bIns="0" lIns="0" spcFirstLastPara="1" rIns="0" wrap="square" tIns="11750">
            <a:spAutoFit/>
          </a:bodyPr>
          <a:lstStyle/>
          <a:p>
            <a:pPr indent="0" lvl="0" marL="10795" marR="0" rtl="0" algn="ctr">
              <a:lnSpc>
                <a:spcPct val="100000"/>
              </a:lnSpc>
              <a:spcBef>
                <a:spcPts val="0"/>
              </a:spcBef>
              <a:spcAft>
                <a:spcPts val="0"/>
              </a:spcAft>
              <a:buClr>
                <a:srgbClr val="000000"/>
              </a:buClr>
              <a:buSzPts val="1050"/>
              <a:buFont typeface="Arial"/>
              <a:buNone/>
            </a:pPr>
            <a:r>
              <a:rPr b="1" i="0" lang="en-US" sz="1050" u="none" cap="none" strike="noStrike">
                <a:solidFill>
                  <a:srgbClr val="414042"/>
                </a:solidFill>
                <a:latin typeface="Times New Roman"/>
                <a:ea typeface="Times New Roman"/>
                <a:cs typeface="Times New Roman"/>
                <a:sym typeface="Times New Roman"/>
              </a:rPr>
              <a:t>Stewart Group at Marcus &amp; Millichap</a:t>
            </a:r>
            <a:endParaRPr b="1" i="0" sz="1050" u="none" cap="none" strike="noStrike">
              <a:solidFill>
                <a:srgbClr val="414042"/>
              </a:solidFill>
              <a:latin typeface="Times New Roman"/>
              <a:ea typeface="Times New Roman"/>
              <a:cs typeface="Times New Roman"/>
              <a:sym typeface="Times New Roman"/>
            </a:endParaRPr>
          </a:p>
        </p:txBody>
      </p:sp>
    </p:spTree>
  </p:cSld>
  <p:clrMapOvr>
    <a:masterClrMapping/>
  </p:clrMapOvr>
  <mc:AlternateContent>
    <mc:Choice Requires="p14">
      <p:transition spd="slow" p14:dur="15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6"/>
          <p:cNvSpPr/>
          <p:nvPr/>
        </p:nvSpPr>
        <p:spPr>
          <a:xfrm>
            <a:off x="367553" y="815228"/>
            <a:ext cx="470647" cy="0"/>
          </a:xfrm>
          <a:custGeom>
            <a:rect b="b" l="l" r="r" t="t"/>
            <a:pathLst>
              <a:path extrusionOk="0" h="120000" w="533400">
                <a:moveTo>
                  <a:pt x="0" y="0"/>
                </a:moveTo>
                <a:lnTo>
                  <a:pt x="532853" y="0"/>
                </a:lnTo>
              </a:path>
            </a:pathLst>
          </a:custGeom>
          <a:noFill/>
          <a:ln cap="flat" cmpd="sng" w="19050">
            <a:solidFill>
              <a:srgbClr val="F3752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88"/>
              <a:buFont typeface="Calibri"/>
              <a:buNone/>
            </a:pPr>
            <a:r>
              <a:t/>
            </a:r>
            <a:endParaRPr b="0" i="0" sz="1588" u="none" cap="none" strike="noStrike">
              <a:solidFill>
                <a:srgbClr val="000000"/>
              </a:solidFill>
              <a:latin typeface="Times New Roman"/>
              <a:ea typeface="Times New Roman"/>
              <a:cs typeface="Times New Roman"/>
              <a:sym typeface="Times New Roman"/>
            </a:endParaRPr>
          </a:p>
        </p:txBody>
      </p:sp>
      <p:sp>
        <p:nvSpPr>
          <p:cNvPr id="152" name="Google Shape;152;p6"/>
          <p:cNvSpPr txBox="1"/>
          <p:nvPr/>
        </p:nvSpPr>
        <p:spPr>
          <a:xfrm>
            <a:off x="242230" y="935516"/>
            <a:ext cx="8648701" cy="394225"/>
          </a:xfrm>
          <a:prstGeom prst="rect">
            <a:avLst/>
          </a:prstGeom>
          <a:noFill/>
          <a:ln>
            <a:noFill/>
          </a:ln>
        </p:spPr>
        <p:txBody>
          <a:bodyPr anchorCtr="0" anchor="t" bIns="0" lIns="0" spcFirstLastPara="1" rIns="0" wrap="square" tIns="24650">
            <a:spAutoFit/>
          </a:bodyPr>
          <a:lstStyle/>
          <a:p>
            <a:pPr indent="0" lvl="1" marL="342900" marR="0" rtl="0" algn="l">
              <a:lnSpc>
                <a:spcPct val="100000"/>
              </a:lnSpc>
              <a:spcBef>
                <a:spcPts val="0"/>
              </a:spcBef>
              <a:spcAft>
                <a:spcPts val="0"/>
              </a:spcAft>
              <a:buClr>
                <a:srgbClr val="000000"/>
              </a:buClr>
              <a:buSzPts val="2400"/>
              <a:buFont typeface="Arial"/>
              <a:buNone/>
            </a:pPr>
            <a:r>
              <a:rPr b="1" i="0" lang="en-US" sz="2400" u="sng" cap="none" strike="noStrike">
                <a:solidFill>
                  <a:srgbClr val="000000"/>
                </a:solidFill>
                <a:latin typeface="Times New Roman"/>
                <a:ea typeface="Times New Roman"/>
                <a:cs typeface="Times New Roman"/>
                <a:sym typeface="Times New Roman"/>
              </a:rPr>
              <a:t>Key Factors Determining Value</a:t>
            </a:r>
            <a:endParaRPr b="0" i="0" sz="1800" u="none" cap="none" strike="noStrike">
              <a:solidFill>
                <a:srgbClr val="000000"/>
              </a:solidFill>
              <a:latin typeface="Calibri"/>
              <a:ea typeface="Calibri"/>
              <a:cs typeface="Calibri"/>
              <a:sym typeface="Calibri"/>
            </a:endParaRPr>
          </a:p>
        </p:txBody>
      </p:sp>
      <p:pic>
        <p:nvPicPr>
          <p:cNvPr descr="A close up of a logo&#10;&#10;Description generated with very high confidence" id="153" name="Google Shape;153;p6"/>
          <p:cNvPicPr preferRelativeResize="0"/>
          <p:nvPr/>
        </p:nvPicPr>
        <p:blipFill rotWithShape="1">
          <a:blip r:embed="rId3">
            <a:alphaModFix/>
          </a:blip>
          <a:srcRect b="0" l="0" r="0" t="0"/>
          <a:stretch/>
        </p:blipFill>
        <p:spPr>
          <a:xfrm>
            <a:off x="371935" y="6255136"/>
            <a:ext cx="1454182" cy="543754"/>
          </a:xfrm>
          <a:prstGeom prst="rect">
            <a:avLst/>
          </a:prstGeom>
          <a:noFill/>
          <a:ln>
            <a:noFill/>
          </a:ln>
        </p:spPr>
      </p:pic>
      <p:sp>
        <p:nvSpPr>
          <p:cNvPr id="154" name="Google Shape;154;p6"/>
          <p:cNvSpPr/>
          <p:nvPr/>
        </p:nvSpPr>
        <p:spPr>
          <a:xfrm rot="5400000">
            <a:off x="4420161" y="-4259626"/>
            <a:ext cx="303679" cy="9144001"/>
          </a:xfrm>
          <a:custGeom>
            <a:rect b="b" l="l" r="r" t="t"/>
            <a:pathLst>
              <a:path extrusionOk="0" h="7772400" w="344170">
                <a:moveTo>
                  <a:pt x="0" y="7772400"/>
                </a:moveTo>
                <a:lnTo>
                  <a:pt x="343814" y="7772400"/>
                </a:lnTo>
                <a:lnTo>
                  <a:pt x="343814" y="0"/>
                </a:lnTo>
                <a:lnTo>
                  <a:pt x="0" y="0"/>
                </a:lnTo>
                <a:lnTo>
                  <a:pt x="0" y="7772400"/>
                </a:lnTo>
                <a:close/>
              </a:path>
            </a:pathLst>
          </a:custGeom>
          <a:solidFill>
            <a:srgbClr val="C8C8C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8"/>
              <a:buFont typeface="Arial"/>
              <a:buNone/>
            </a:pPr>
            <a:r>
              <a:t/>
            </a:r>
            <a:endParaRPr b="0" i="0" sz="1588" u="none" cap="none" strike="noStrike">
              <a:solidFill>
                <a:schemeClr val="dk1"/>
              </a:solidFill>
              <a:latin typeface="Times New Roman"/>
              <a:ea typeface="Times New Roman"/>
              <a:cs typeface="Times New Roman"/>
              <a:sym typeface="Times New Roman"/>
            </a:endParaRPr>
          </a:p>
        </p:txBody>
      </p:sp>
      <p:sp>
        <p:nvSpPr>
          <p:cNvPr id="155" name="Google Shape;155;p6"/>
          <p:cNvSpPr txBox="1"/>
          <p:nvPr/>
        </p:nvSpPr>
        <p:spPr>
          <a:xfrm>
            <a:off x="-44960" y="231583"/>
            <a:ext cx="9144002" cy="161583"/>
          </a:xfrm>
          <a:prstGeom prst="rect">
            <a:avLst/>
          </a:prstGeom>
          <a:noFill/>
          <a:ln>
            <a:noFill/>
          </a:ln>
        </p:spPr>
        <p:txBody>
          <a:bodyPr anchorCtr="0" anchor="ctr" bIns="0" lIns="0" spcFirstLastPara="1" rIns="0" wrap="square" tIns="11750">
            <a:spAutoFit/>
          </a:bodyPr>
          <a:lstStyle/>
          <a:p>
            <a:pPr indent="0" lvl="0" marL="10795" marR="0" rtl="0" algn="ctr">
              <a:lnSpc>
                <a:spcPct val="100000"/>
              </a:lnSpc>
              <a:spcBef>
                <a:spcPts val="0"/>
              </a:spcBef>
              <a:spcAft>
                <a:spcPts val="0"/>
              </a:spcAft>
              <a:buClr>
                <a:srgbClr val="000000"/>
              </a:buClr>
              <a:buSzPts val="1050"/>
              <a:buFont typeface="Arial"/>
              <a:buNone/>
            </a:pPr>
            <a:r>
              <a:rPr b="1" i="0" lang="en-US" sz="1050" u="none" cap="none" strike="noStrike">
                <a:solidFill>
                  <a:srgbClr val="414042"/>
                </a:solidFill>
                <a:latin typeface="Times New Roman"/>
                <a:ea typeface="Times New Roman"/>
                <a:cs typeface="Times New Roman"/>
                <a:sym typeface="Times New Roman"/>
              </a:rPr>
              <a:t>Stewart Group at Marcus &amp; Millichap</a:t>
            </a:r>
            <a:endParaRPr b="1" i="0" sz="1050" u="none" cap="none" strike="noStrike">
              <a:solidFill>
                <a:srgbClr val="414042"/>
              </a:solidFill>
              <a:latin typeface="Times New Roman"/>
              <a:ea typeface="Times New Roman"/>
              <a:cs typeface="Times New Roman"/>
              <a:sym typeface="Times New Roman"/>
            </a:endParaRPr>
          </a:p>
        </p:txBody>
      </p:sp>
      <p:sp>
        <p:nvSpPr>
          <p:cNvPr id="156" name="Google Shape;156;p6"/>
          <p:cNvSpPr txBox="1"/>
          <p:nvPr/>
        </p:nvSpPr>
        <p:spPr>
          <a:xfrm>
            <a:off x="559134" y="1561729"/>
            <a:ext cx="8027846" cy="51090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Net Operating Income </a:t>
            </a:r>
            <a:endParaRPr b="0" i="0" sz="1800" u="sng" cap="none" strike="noStrike">
              <a:solidFill>
                <a:schemeClr val="dk1"/>
              </a:solidFill>
              <a:latin typeface="Times New Roman"/>
              <a:ea typeface="Times New Roman"/>
              <a:cs typeface="Times New Roman"/>
              <a:sym typeface="Times New Roman"/>
            </a:endParaRPr>
          </a:p>
          <a:p>
            <a:pPr indent="-171450" lvl="0" marL="171450" marR="0" rtl="0" algn="l">
              <a:lnSpc>
                <a:spcPct val="100000"/>
              </a:lnSpc>
              <a:spcBef>
                <a:spcPts val="0"/>
              </a:spcBef>
              <a:spcAft>
                <a:spcPts val="0"/>
              </a:spcAft>
              <a:buClr>
                <a:schemeClr val="dk1"/>
              </a:buClr>
              <a:buSzPts val="1200"/>
              <a:buFont typeface="Noto Sans Symbols"/>
              <a:buChar char="⮚"/>
            </a:pPr>
            <a:r>
              <a:rPr b="1" i="0" lang="en-US" sz="1200" u="none" cap="none" strike="noStrike">
                <a:solidFill>
                  <a:schemeClr val="dk1"/>
                </a:solidFill>
                <a:latin typeface="Times New Roman"/>
                <a:ea typeface="Times New Roman"/>
                <a:cs typeface="Times New Roman"/>
                <a:sym typeface="Times New Roman"/>
              </a:rPr>
              <a:t>Current NOI &amp; potential upside is the strongest driver of value</a:t>
            </a:r>
            <a:r>
              <a:rPr b="0" i="0" lang="en-US" sz="1200" u="none" cap="none" strike="noStrike">
                <a:solidFill>
                  <a:schemeClr val="dk1"/>
                </a:solidFill>
                <a:latin typeface="Times New Roman"/>
                <a:ea typeface="Times New Roman"/>
                <a:cs typeface="Times New Roman"/>
                <a:sym typeface="Times New Roman"/>
              </a:rPr>
              <a:t> for most multifamily &amp; mixed-use buildings — buyers price buildings based on current income and potential upside</a:t>
            </a:r>
            <a:endParaRPr b="0" i="0" sz="1200" u="none" cap="none" strike="noStrike">
              <a:solidFill>
                <a:schemeClr val="dk1"/>
              </a:solidFill>
              <a:latin typeface="Times New Roman"/>
              <a:ea typeface="Times New Roman"/>
              <a:cs typeface="Times New Roman"/>
              <a:sym typeface="Times New Roman"/>
            </a:endParaRPr>
          </a:p>
          <a:p>
            <a:pPr indent="-101600" lvl="0" marL="171450" marR="0" rtl="0" algn="l">
              <a:lnSpc>
                <a:spcPct val="100000"/>
              </a:lnSpc>
              <a:spcBef>
                <a:spcPts val="0"/>
              </a:spcBef>
              <a:spcAft>
                <a:spcPts val="0"/>
              </a:spcAft>
              <a:buClr>
                <a:schemeClr val="dk1"/>
              </a:buClr>
              <a:buSzPts val="1100"/>
              <a:buFont typeface="Noto Sans Symbols"/>
              <a:buNone/>
            </a:pPr>
            <a:r>
              <a:t/>
            </a:r>
            <a:endParaRPr b="0" i="0" sz="11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Regulatory Factors</a:t>
            </a:r>
            <a:endParaRPr b="0" i="0" sz="1800" u="none" cap="none" strike="noStrike">
              <a:solidFill>
                <a:schemeClr val="dk1"/>
              </a:solidFill>
              <a:latin typeface="Times New Roman"/>
              <a:ea typeface="Times New Roman"/>
              <a:cs typeface="Times New Roman"/>
              <a:sym typeface="Times New Roman"/>
            </a:endParaRPr>
          </a:p>
          <a:p>
            <a:pPr indent="-171450" lvl="0" marL="171450" marR="0" rtl="0" algn="l">
              <a:lnSpc>
                <a:spcPct val="100000"/>
              </a:lnSpc>
              <a:spcBef>
                <a:spcPts val="0"/>
              </a:spcBef>
              <a:spcAft>
                <a:spcPts val="0"/>
              </a:spcAft>
              <a:buClr>
                <a:schemeClr val="dk1"/>
              </a:buClr>
              <a:buSzPts val="1200"/>
              <a:buFont typeface="Noto Sans Symbols"/>
              <a:buChar char="⮚"/>
            </a:pPr>
            <a:r>
              <a:rPr b="1" i="0" lang="en-US" sz="1200" u="none" cap="none" strike="noStrike">
                <a:solidFill>
                  <a:schemeClr val="dk1"/>
                </a:solidFill>
                <a:latin typeface="Times New Roman"/>
                <a:ea typeface="Times New Roman"/>
                <a:cs typeface="Times New Roman"/>
                <a:sym typeface="Times New Roman"/>
              </a:rPr>
              <a:t>Good Cause Eviction (10+ units):</a:t>
            </a:r>
            <a:r>
              <a:rPr b="0" i="0" lang="en-US" sz="1200" u="none" cap="none" strike="noStrike">
                <a:solidFill>
                  <a:schemeClr val="dk1"/>
                </a:solidFill>
                <a:latin typeface="Times New Roman"/>
                <a:ea typeface="Times New Roman"/>
                <a:cs typeface="Times New Roman"/>
                <a:sym typeface="Times New Roman"/>
              </a:rPr>
              <a:t> Rent growth capped at </a:t>
            </a:r>
            <a:r>
              <a:rPr b="1" i="0" lang="en-US" sz="1200" u="none" cap="none" strike="noStrike">
                <a:solidFill>
                  <a:schemeClr val="dk1"/>
                </a:solidFill>
                <a:latin typeface="Times New Roman"/>
                <a:ea typeface="Times New Roman"/>
                <a:cs typeface="Times New Roman"/>
                <a:sym typeface="Times New Roman"/>
              </a:rPr>
              <a:t>5% + inflation</a:t>
            </a:r>
            <a:r>
              <a:rPr b="0" i="0" lang="en-US" sz="1200" u="none" cap="none" strike="noStrike">
                <a:solidFill>
                  <a:schemeClr val="dk1"/>
                </a:solidFill>
                <a:latin typeface="Times New Roman"/>
                <a:ea typeface="Times New Roman"/>
                <a:cs typeface="Times New Roman"/>
                <a:sym typeface="Times New Roman"/>
              </a:rPr>
              <a:t> without turnover. Need 'Good Cause' to evict tenant.</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200"/>
              <a:buFont typeface="Noto Sans Symbols"/>
              <a:buChar char="⮚"/>
            </a:pPr>
            <a:r>
              <a:rPr b="1" i="0" lang="en-US" sz="1200" u="none" cap="none" strike="noStrike">
                <a:solidFill>
                  <a:schemeClr val="dk1"/>
                </a:solidFill>
                <a:latin typeface="Times New Roman"/>
                <a:ea typeface="Times New Roman"/>
                <a:cs typeface="Times New Roman"/>
                <a:sym typeface="Times New Roman"/>
              </a:rPr>
              <a:t>Rent‑Stabilized:</a:t>
            </a:r>
            <a:r>
              <a:rPr b="0" i="0" lang="en-US" sz="1200" u="none" cap="none" strike="noStrike">
                <a:solidFill>
                  <a:schemeClr val="dk1"/>
                </a:solidFill>
                <a:latin typeface="Times New Roman"/>
                <a:ea typeface="Times New Roman"/>
                <a:cs typeface="Times New Roman"/>
                <a:sym typeface="Times New Roman"/>
              </a:rPr>
              <a:t> Rent Guidelines Board limits annual increases → capped NOI growth. Caps are 3% for one-year leases and 4.5% fortwo-year leases.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200"/>
              <a:buFont typeface="Noto Sans Symbols"/>
              <a:buChar char="⮚"/>
            </a:pPr>
            <a:r>
              <a:rPr b="1" i="0" lang="en-US" sz="1200" u="none" cap="none" strike="noStrike">
                <a:solidFill>
                  <a:schemeClr val="dk1"/>
                </a:solidFill>
                <a:latin typeface="Times New Roman"/>
                <a:ea typeface="Times New Roman"/>
                <a:cs typeface="Times New Roman"/>
                <a:sym typeface="Times New Roman"/>
              </a:rPr>
              <a:t>Rent‑Controlled:</a:t>
            </a:r>
            <a:r>
              <a:rPr b="0" i="0" lang="en-US" sz="1200" u="none" cap="none" strike="noStrike">
                <a:solidFill>
                  <a:schemeClr val="dk1"/>
                </a:solidFill>
                <a:latin typeface="Times New Roman"/>
                <a:ea typeface="Times New Roman"/>
                <a:cs typeface="Times New Roman"/>
                <a:sym typeface="Times New Roman"/>
              </a:rPr>
              <a:t> Low growth during tenancy; big upside at vacancy via new first rent.</a:t>
            </a:r>
            <a:endParaRPr b="0" i="0" sz="1200" u="none" cap="none" strike="noStrike">
              <a:solidFill>
                <a:schemeClr val="dk1"/>
              </a:solidFill>
              <a:latin typeface="Calibri"/>
              <a:ea typeface="Calibri"/>
              <a:cs typeface="Calibri"/>
              <a:sym typeface="Calibri"/>
            </a:endParaRPr>
          </a:p>
          <a:p>
            <a:pPr indent="-101600" lvl="0" marL="171450" marR="0" rtl="0" algn="l">
              <a:lnSpc>
                <a:spcPct val="100000"/>
              </a:lnSpc>
              <a:spcBef>
                <a:spcPts val="0"/>
              </a:spcBef>
              <a:spcAft>
                <a:spcPts val="0"/>
              </a:spcAft>
              <a:buClr>
                <a:schemeClr val="dk1"/>
              </a:buClr>
              <a:buSzPts val="1100"/>
              <a:buFont typeface="Noto Sans Symbols"/>
              <a:buNone/>
            </a:pPr>
            <a:r>
              <a:t/>
            </a:r>
            <a:endParaRPr b="0" i="0" sz="11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Other Contributing Factors</a:t>
            </a:r>
            <a:endParaRPr b="0" i="0" sz="18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400"/>
              <a:buFont typeface="Noto Sans Symbols"/>
              <a:buChar char="⮚"/>
            </a:pPr>
            <a:r>
              <a:rPr b="1" i="0" lang="en-US" sz="1400" u="none" cap="none" strike="noStrike">
                <a:solidFill>
                  <a:schemeClr val="dk1"/>
                </a:solidFill>
                <a:latin typeface="Times New Roman"/>
                <a:ea typeface="Times New Roman"/>
                <a:cs typeface="Times New Roman"/>
                <a:sym typeface="Times New Roman"/>
              </a:rPr>
              <a:t>Quality of Paperwork</a:t>
            </a:r>
            <a:endParaRPr b="0" i="0" sz="1800" u="none" cap="none" strike="noStrike">
              <a:solidFill>
                <a:schemeClr val="dk1"/>
              </a:solidFill>
              <a:latin typeface="Times New Roman"/>
              <a:ea typeface="Times New Roman"/>
              <a:cs typeface="Times New Roman"/>
              <a:sym typeface="Times New Roman"/>
            </a:endParaRPr>
          </a:p>
          <a:p>
            <a:pPr indent="-285750" lvl="1" marL="742950" marR="0" rtl="0" algn="l">
              <a:lnSpc>
                <a:spcPct val="10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Times New Roman"/>
                <a:ea typeface="Times New Roman"/>
                <a:cs typeface="Times New Roman"/>
                <a:sym typeface="Times New Roman"/>
              </a:rPr>
              <a:t>Clean record of leases are needed to confirm free market status</a:t>
            </a:r>
            <a:endParaRPr b="0" i="0" sz="1200" u="none" cap="none" strike="noStrike">
              <a:solidFill>
                <a:schemeClr val="dk1"/>
              </a:solidFill>
              <a:latin typeface="Times New Roman"/>
              <a:ea typeface="Times New Roman"/>
              <a:cs typeface="Times New Roman"/>
              <a:sym typeface="Times New Roman"/>
            </a:endParaRPr>
          </a:p>
          <a:p>
            <a:pPr indent="-285750" lvl="1" marL="742950" marR="0" rtl="0" algn="l">
              <a:lnSpc>
                <a:spcPct val="10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Times New Roman"/>
                <a:ea typeface="Times New Roman"/>
                <a:cs typeface="Times New Roman"/>
                <a:sym typeface="Times New Roman"/>
              </a:rPr>
              <a:t>Bad paperwork increases risk and lowers value.</a:t>
            </a:r>
            <a:endParaRPr b="0" i="0" sz="12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800"/>
              <a:buFont typeface="Noto Sans Symbols"/>
              <a:buChar char="⮚"/>
            </a:pPr>
            <a:r>
              <a:rPr b="1" i="0" lang="en-US" sz="1800" u="none" cap="none" strike="noStrike">
                <a:solidFill>
                  <a:schemeClr val="dk1"/>
                </a:solidFill>
                <a:latin typeface="Times New Roman"/>
                <a:ea typeface="Times New Roman"/>
                <a:cs typeface="Times New Roman"/>
                <a:sym typeface="Times New Roman"/>
              </a:rPr>
              <a:t>Retail Income </a:t>
            </a:r>
            <a:endParaRPr b="0" i="0" sz="1800" u="none" cap="none" strike="noStrike">
              <a:solidFill>
                <a:schemeClr val="dk1"/>
              </a:solidFill>
              <a:latin typeface="Times New Roman"/>
              <a:ea typeface="Times New Roman"/>
              <a:cs typeface="Times New Roman"/>
              <a:sym typeface="Times New Roman"/>
            </a:endParaRPr>
          </a:p>
          <a:p>
            <a:pPr indent="-285750" lvl="1" marL="742950" marR="0" rtl="0" algn="l">
              <a:lnSpc>
                <a:spcPct val="10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Times New Roman"/>
                <a:ea typeface="Times New Roman"/>
                <a:cs typeface="Times New Roman"/>
                <a:sym typeface="Times New Roman"/>
              </a:rPr>
              <a:t>Strong, long‑term leases boost value and improve rates for any buyer applying for loan.</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Times New Roman"/>
                <a:ea typeface="Times New Roman"/>
                <a:cs typeface="Times New Roman"/>
                <a:sym typeface="Times New Roman"/>
              </a:rPr>
              <a:t>Weak or short leases hurt pricing and financing</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Noto Sans Symbols"/>
              <a:buChar char="⮚"/>
            </a:pPr>
            <a:r>
              <a:rPr b="1" i="0" lang="en-US" sz="1800" u="none" cap="none" strike="noStrike">
                <a:solidFill>
                  <a:schemeClr val="dk1"/>
                </a:solidFill>
                <a:latin typeface="Times New Roman"/>
                <a:ea typeface="Times New Roman"/>
                <a:cs typeface="Times New Roman"/>
                <a:sym typeface="Times New Roman"/>
              </a:rPr>
              <a:t>Physical &amp; Operational Factors</a:t>
            </a:r>
            <a:endParaRPr b="0" i="0" sz="1800" u="none" cap="none" strike="noStrike">
              <a:solidFill>
                <a:schemeClr val="dk1"/>
              </a:solidFill>
              <a:latin typeface="Times New Roman"/>
              <a:ea typeface="Times New Roman"/>
              <a:cs typeface="Times New Roman"/>
              <a:sym typeface="Times New Roman"/>
            </a:endParaRPr>
          </a:p>
          <a:p>
            <a:pPr indent="-171450" lvl="1" marL="628650" marR="0" rtl="0" algn="l">
              <a:lnSpc>
                <a:spcPct val="100000"/>
              </a:lnSpc>
              <a:spcBef>
                <a:spcPts val="0"/>
              </a:spcBef>
              <a:spcAft>
                <a:spcPts val="0"/>
              </a:spcAft>
              <a:buClr>
                <a:schemeClr val="dk1"/>
              </a:buClr>
              <a:buSzPts val="1200"/>
              <a:buFont typeface="Noto Sans Symbols"/>
              <a:buChar char="⮚"/>
            </a:pPr>
            <a:r>
              <a:rPr b="1" i="0" lang="en-US" sz="1200" u="none" cap="none" strike="noStrike">
                <a:solidFill>
                  <a:schemeClr val="dk1"/>
                </a:solidFill>
                <a:latin typeface="Times New Roman"/>
                <a:ea typeface="Times New Roman"/>
                <a:cs typeface="Times New Roman"/>
                <a:sym typeface="Times New Roman"/>
              </a:rPr>
              <a:t>Location:</a:t>
            </a:r>
            <a:r>
              <a:rPr b="0" i="0" lang="en-US" sz="1200" u="none" cap="none" strike="noStrike">
                <a:solidFill>
                  <a:schemeClr val="dk1"/>
                </a:solidFill>
                <a:latin typeface="Times New Roman"/>
                <a:ea typeface="Times New Roman"/>
                <a:cs typeface="Times New Roman"/>
                <a:sym typeface="Times New Roman"/>
              </a:rPr>
              <a:t> Pricing on a PSF basis varies heavily depending on location.</a:t>
            </a:r>
            <a:endParaRPr b="0" i="0" sz="1400" u="none" cap="none" strike="noStrike">
              <a:solidFill>
                <a:srgbClr val="000000"/>
              </a:solidFill>
              <a:latin typeface="Arial"/>
              <a:ea typeface="Arial"/>
              <a:cs typeface="Arial"/>
              <a:sym typeface="Arial"/>
            </a:endParaRPr>
          </a:p>
          <a:p>
            <a:pPr indent="-171450" lvl="1" marL="628650" marR="0" rtl="0" algn="l">
              <a:lnSpc>
                <a:spcPct val="100000"/>
              </a:lnSpc>
              <a:spcBef>
                <a:spcPts val="0"/>
              </a:spcBef>
              <a:spcAft>
                <a:spcPts val="0"/>
              </a:spcAft>
              <a:buClr>
                <a:schemeClr val="dk1"/>
              </a:buClr>
              <a:buSzPts val="1200"/>
              <a:buFont typeface="Noto Sans Symbols"/>
              <a:buChar char="⮚"/>
            </a:pPr>
            <a:r>
              <a:rPr b="1" i="0" lang="en-US" sz="1200" u="none" cap="none" strike="noStrike">
                <a:solidFill>
                  <a:schemeClr val="dk1"/>
                </a:solidFill>
                <a:latin typeface="Times New Roman"/>
                <a:ea typeface="Times New Roman"/>
                <a:cs typeface="Times New Roman"/>
                <a:sym typeface="Times New Roman"/>
              </a:rPr>
              <a:t>Condition:</a:t>
            </a:r>
            <a:r>
              <a:rPr b="0" i="0" lang="en-US" sz="1200" u="none" cap="none" strike="noStrike">
                <a:solidFill>
                  <a:schemeClr val="dk1"/>
                </a:solidFill>
                <a:latin typeface="Times New Roman"/>
                <a:ea typeface="Times New Roman"/>
                <a:cs typeface="Times New Roman"/>
                <a:sym typeface="Times New Roman"/>
              </a:rPr>
              <a:t> Finished product pricing versus pricing based more on upside potential</a:t>
            </a:r>
            <a:endParaRPr b="0" i="0" sz="1200" u="none" cap="none" strike="noStrike">
              <a:solidFill>
                <a:schemeClr val="dk1"/>
              </a:solidFill>
              <a:latin typeface="Calibri"/>
              <a:ea typeface="Calibri"/>
              <a:cs typeface="Calibri"/>
              <a:sym typeface="Calibri"/>
            </a:endParaRPr>
          </a:p>
          <a:p>
            <a:pPr indent="-101600" lvl="0" marL="171450" marR="0" rtl="0" algn="l">
              <a:lnSpc>
                <a:spcPct val="100000"/>
              </a:lnSpc>
              <a:spcBef>
                <a:spcPts val="0"/>
              </a:spcBef>
              <a:spcAft>
                <a:spcPts val="0"/>
              </a:spcAft>
              <a:buClr>
                <a:schemeClr val="dk1"/>
              </a:buClr>
              <a:buSzPts val="1100"/>
              <a:buFont typeface="Noto Sans Symbols"/>
              <a:buNone/>
            </a:pPr>
            <a:r>
              <a:t/>
            </a:r>
            <a:endParaRPr b="0" i="0" sz="1100" u="none" cap="none" strike="noStrike">
              <a:solidFill>
                <a:schemeClr val="dk1"/>
              </a:solidFill>
              <a:latin typeface="Times New Roman"/>
              <a:ea typeface="Times New Roman"/>
              <a:cs typeface="Times New Roman"/>
              <a:sym typeface="Times New Roman"/>
            </a:endParaRPr>
          </a:p>
          <a:p>
            <a:pPr indent="-101600" lvl="0" marL="171450" marR="0" rtl="0" algn="l">
              <a:lnSpc>
                <a:spcPct val="100000"/>
              </a:lnSpc>
              <a:spcBef>
                <a:spcPts val="0"/>
              </a:spcBef>
              <a:spcAft>
                <a:spcPts val="0"/>
              </a:spcAft>
              <a:buClr>
                <a:schemeClr val="dk1"/>
              </a:buClr>
              <a:buSzPts val="1100"/>
              <a:buFont typeface="Noto Sans Symbols"/>
              <a:buNone/>
            </a:pPr>
            <a:r>
              <a:t/>
            </a:r>
            <a:endParaRPr b="0" i="0" sz="1100" u="none" cap="none" strike="noStrike">
              <a:solidFill>
                <a:schemeClr val="dk1"/>
              </a:solidFill>
              <a:latin typeface="Times New Roman"/>
              <a:ea typeface="Times New Roman"/>
              <a:cs typeface="Times New Roman"/>
              <a:sym typeface="Times New Roman"/>
            </a:endParaRPr>
          </a:p>
          <a:p>
            <a:pPr indent="-95250" lvl="0" marL="171450" marR="0" rtl="0" algn="l">
              <a:lnSpc>
                <a:spcPct val="100000"/>
              </a:lnSpc>
              <a:spcBef>
                <a:spcPts val="0"/>
              </a:spcBef>
              <a:spcAft>
                <a:spcPts val="0"/>
              </a:spcAft>
              <a:buClr>
                <a:schemeClr val="dk1"/>
              </a:buClr>
              <a:buSzPts val="1200"/>
              <a:buFont typeface="Noto Sans Symbols"/>
              <a:buNone/>
            </a:pPr>
            <a:r>
              <a:t/>
            </a:r>
            <a:endParaRPr b="1" i="0" sz="1200" u="none" cap="none" strike="noStrike">
              <a:solidFill>
                <a:schemeClr val="dk1"/>
              </a:solidFill>
              <a:latin typeface="Times New Roman"/>
              <a:ea typeface="Times New Roman"/>
              <a:cs typeface="Times New Roman"/>
              <a:sym typeface="Times New Roman"/>
            </a:endParaRPr>
          </a:p>
          <a:p>
            <a:pPr indent="-95250" lvl="0" marL="171450" marR="0" rtl="0" algn="l">
              <a:lnSpc>
                <a:spcPct val="100000"/>
              </a:lnSpc>
              <a:spcBef>
                <a:spcPts val="0"/>
              </a:spcBef>
              <a:spcAft>
                <a:spcPts val="0"/>
              </a:spcAft>
              <a:buClr>
                <a:schemeClr val="dk1"/>
              </a:buClr>
              <a:buSzPts val="1200"/>
              <a:buFont typeface="Noto Sans Symbols"/>
              <a:buNone/>
            </a:pPr>
            <a:r>
              <a:t/>
            </a:r>
            <a:endParaRPr b="1" i="0" sz="1200" u="none" cap="none" strike="noStrike">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15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7"/>
          <p:cNvSpPr/>
          <p:nvPr/>
        </p:nvSpPr>
        <p:spPr>
          <a:xfrm>
            <a:off x="367553" y="762000"/>
            <a:ext cx="470647" cy="0"/>
          </a:xfrm>
          <a:custGeom>
            <a:rect b="b" l="l" r="r" t="t"/>
            <a:pathLst>
              <a:path extrusionOk="0" h="120000" w="533400">
                <a:moveTo>
                  <a:pt x="0" y="0"/>
                </a:moveTo>
                <a:lnTo>
                  <a:pt x="532853" y="0"/>
                </a:lnTo>
              </a:path>
            </a:pathLst>
          </a:custGeom>
          <a:noFill/>
          <a:ln cap="flat" cmpd="sng" w="19050">
            <a:solidFill>
              <a:srgbClr val="F3752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88"/>
              <a:buFont typeface="Calibri"/>
              <a:buNone/>
            </a:pPr>
            <a:r>
              <a:t/>
            </a:r>
            <a:endParaRPr b="0" i="0" sz="1588" u="none" cap="none" strike="noStrike">
              <a:solidFill>
                <a:srgbClr val="000000"/>
              </a:solidFill>
              <a:latin typeface="Times New Roman"/>
              <a:ea typeface="Times New Roman"/>
              <a:cs typeface="Times New Roman"/>
              <a:sym typeface="Times New Roman"/>
            </a:endParaRPr>
          </a:p>
        </p:txBody>
      </p:sp>
      <p:pic>
        <p:nvPicPr>
          <p:cNvPr descr="A close up of a logo&#10;&#10;Description generated with very high confidence" id="162" name="Google Shape;162;p7"/>
          <p:cNvPicPr preferRelativeResize="0"/>
          <p:nvPr/>
        </p:nvPicPr>
        <p:blipFill rotWithShape="1">
          <a:blip r:embed="rId3">
            <a:alphaModFix/>
          </a:blip>
          <a:srcRect b="0" l="0" r="0" t="0"/>
          <a:stretch/>
        </p:blipFill>
        <p:spPr>
          <a:xfrm>
            <a:off x="371935" y="6255136"/>
            <a:ext cx="1454182" cy="543754"/>
          </a:xfrm>
          <a:prstGeom prst="rect">
            <a:avLst/>
          </a:prstGeom>
          <a:noFill/>
          <a:ln>
            <a:noFill/>
          </a:ln>
        </p:spPr>
      </p:pic>
      <p:sp>
        <p:nvSpPr>
          <p:cNvPr id="163" name="Google Shape;163;p7"/>
          <p:cNvSpPr/>
          <p:nvPr/>
        </p:nvSpPr>
        <p:spPr>
          <a:xfrm rot="5400000">
            <a:off x="4420161" y="-4259626"/>
            <a:ext cx="303679" cy="9144001"/>
          </a:xfrm>
          <a:custGeom>
            <a:rect b="b" l="l" r="r" t="t"/>
            <a:pathLst>
              <a:path extrusionOk="0" h="7772400" w="344170">
                <a:moveTo>
                  <a:pt x="0" y="7772400"/>
                </a:moveTo>
                <a:lnTo>
                  <a:pt x="343814" y="7772400"/>
                </a:lnTo>
                <a:lnTo>
                  <a:pt x="343814" y="0"/>
                </a:lnTo>
                <a:lnTo>
                  <a:pt x="0" y="0"/>
                </a:lnTo>
                <a:lnTo>
                  <a:pt x="0" y="7772400"/>
                </a:lnTo>
                <a:close/>
              </a:path>
            </a:pathLst>
          </a:custGeom>
          <a:solidFill>
            <a:srgbClr val="C8C8C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8"/>
              <a:buFont typeface="Arial"/>
              <a:buNone/>
            </a:pPr>
            <a:r>
              <a:t/>
            </a:r>
            <a:endParaRPr b="0" i="0" sz="1588" u="none" cap="none" strike="noStrike">
              <a:solidFill>
                <a:schemeClr val="dk1"/>
              </a:solidFill>
              <a:latin typeface="Times New Roman"/>
              <a:ea typeface="Times New Roman"/>
              <a:cs typeface="Times New Roman"/>
              <a:sym typeface="Times New Roman"/>
            </a:endParaRPr>
          </a:p>
        </p:txBody>
      </p:sp>
      <p:sp>
        <p:nvSpPr>
          <p:cNvPr id="164" name="Google Shape;164;p7"/>
          <p:cNvSpPr txBox="1"/>
          <p:nvPr/>
        </p:nvSpPr>
        <p:spPr>
          <a:xfrm>
            <a:off x="-44960" y="231583"/>
            <a:ext cx="9144002" cy="161583"/>
          </a:xfrm>
          <a:prstGeom prst="rect">
            <a:avLst/>
          </a:prstGeom>
          <a:noFill/>
          <a:ln>
            <a:noFill/>
          </a:ln>
        </p:spPr>
        <p:txBody>
          <a:bodyPr anchorCtr="0" anchor="ctr" bIns="0" lIns="0" spcFirstLastPara="1" rIns="0" wrap="square" tIns="11750">
            <a:spAutoFit/>
          </a:bodyPr>
          <a:lstStyle/>
          <a:p>
            <a:pPr indent="0" lvl="0" marL="10795" marR="0" rtl="0" algn="ctr">
              <a:lnSpc>
                <a:spcPct val="100000"/>
              </a:lnSpc>
              <a:spcBef>
                <a:spcPts val="0"/>
              </a:spcBef>
              <a:spcAft>
                <a:spcPts val="0"/>
              </a:spcAft>
              <a:buClr>
                <a:srgbClr val="000000"/>
              </a:buClr>
              <a:buSzPts val="1050"/>
              <a:buFont typeface="Arial"/>
              <a:buNone/>
            </a:pPr>
            <a:r>
              <a:rPr b="1" i="0" lang="en-US" sz="1050" u="none" cap="none" strike="noStrike">
                <a:solidFill>
                  <a:srgbClr val="414042"/>
                </a:solidFill>
                <a:latin typeface="Times New Roman"/>
                <a:ea typeface="Times New Roman"/>
                <a:cs typeface="Times New Roman"/>
                <a:sym typeface="Times New Roman"/>
              </a:rPr>
              <a:t>Stewart Group at Marcus &amp; Millichap</a:t>
            </a:r>
            <a:endParaRPr b="1" i="0" sz="1050" u="none" cap="none" strike="noStrike">
              <a:solidFill>
                <a:srgbClr val="414042"/>
              </a:solidFill>
              <a:latin typeface="Times New Roman"/>
              <a:ea typeface="Times New Roman"/>
              <a:cs typeface="Times New Roman"/>
              <a:sym typeface="Times New Roman"/>
            </a:endParaRPr>
          </a:p>
        </p:txBody>
      </p:sp>
      <p:sp>
        <p:nvSpPr>
          <p:cNvPr id="165" name="Google Shape;165;p7"/>
          <p:cNvSpPr txBox="1"/>
          <p:nvPr/>
        </p:nvSpPr>
        <p:spPr>
          <a:xfrm>
            <a:off x="485913" y="977348"/>
            <a:ext cx="3423477"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sng" cap="none" strike="noStrike">
                <a:solidFill>
                  <a:schemeClr val="dk1"/>
                </a:solidFill>
                <a:latin typeface="Times New Roman"/>
                <a:ea typeface="Times New Roman"/>
                <a:cs typeface="Times New Roman"/>
                <a:sym typeface="Times New Roman"/>
              </a:rPr>
              <a:t>Pricing Analysis </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6" name="Google Shape;166;p7"/>
          <p:cNvSpPr txBox="1"/>
          <p:nvPr/>
        </p:nvSpPr>
        <p:spPr>
          <a:xfrm>
            <a:off x="369954" y="1700694"/>
            <a:ext cx="5991000" cy="4843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1" lang="en-US" sz="1600" u="none" cap="none" strike="noStrike">
                <a:solidFill>
                  <a:schemeClr val="dk1"/>
                </a:solidFill>
                <a:latin typeface="Times New Roman"/>
                <a:ea typeface="Times New Roman"/>
                <a:cs typeface="Times New Roman"/>
                <a:sym typeface="Times New Roman"/>
              </a:rPr>
              <a:t>Pricing range is determined based on current NOI &amp; Legal Status / Regulatory factors.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1" i="1" sz="1600" u="none" cap="none" strike="noStrike">
              <a:solidFill>
                <a:schemeClr val="dk1"/>
              </a:solidFill>
              <a:latin typeface="Times New Roman"/>
              <a:ea typeface="Times New Roman"/>
              <a:cs typeface="Times New Roman"/>
              <a:sym typeface="Times New Roman"/>
            </a:endParaRPr>
          </a:p>
          <a:p>
            <a:pPr indent="-196850" lvl="0" marL="285750" marR="0" rtl="0" algn="l">
              <a:lnSpc>
                <a:spcPct val="100000"/>
              </a:lnSpc>
              <a:spcBef>
                <a:spcPts val="0"/>
              </a:spcBef>
              <a:spcAft>
                <a:spcPts val="0"/>
              </a:spcAft>
              <a:buClr>
                <a:schemeClr val="dk1"/>
              </a:buClr>
              <a:buSzPts val="1400"/>
              <a:buFont typeface="Noto Sans Symbols"/>
              <a:buNone/>
            </a:pPr>
            <a:r>
              <a:t/>
            </a:r>
            <a:endParaRPr b="1" i="1" sz="1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Price Range</a:t>
            </a:r>
            <a:r>
              <a:rPr b="1" i="0" lang="en-US" sz="1600" u="none" cap="none" strike="noStrike">
                <a:solidFill>
                  <a:schemeClr val="dk1"/>
                </a:solidFill>
                <a:latin typeface="Calibri"/>
                <a:ea typeface="Calibri"/>
                <a:cs typeface="Calibri"/>
                <a:sym typeface="Calibri"/>
              </a:rPr>
              <a:t>      </a:t>
            </a:r>
            <a:endParaRPr b="1" i="0" sz="1600" u="none" cap="none" strike="noStrike">
              <a:solidFill>
                <a:schemeClr val="dk1"/>
              </a:solidFill>
              <a:latin typeface="Calibri"/>
              <a:ea typeface="Calibri"/>
              <a:cs typeface="Calibri"/>
              <a:sym typeface="Calibri"/>
            </a:endParaRPr>
          </a:p>
          <a:p>
            <a:pPr indent="-285750" lvl="0" marL="285750" marR="0" rtl="0" algn="l">
              <a:lnSpc>
                <a:spcPct val="100000"/>
              </a:lnSpc>
              <a:spcBef>
                <a:spcPts val="0"/>
              </a:spcBef>
              <a:spcAft>
                <a:spcPts val="0"/>
              </a:spcAft>
              <a:buClr>
                <a:schemeClr val="dk1"/>
              </a:buClr>
              <a:buSzPts val="1600"/>
              <a:buFont typeface="Noto Sans Symbols"/>
              <a:buChar char="⮚"/>
            </a:pPr>
            <a:r>
              <a:rPr b="1" i="0" lang="en-US" sz="1600" u="none" cap="none" strike="noStrike">
                <a:solidFill>
                  <a:schemeClr val="dk1"/>
                </a:solidFill>
                <a:latin typeface="Times New Roman"/>
                <a:ea typeface="Times New Roman"/>
                <a:cs typeface="Times New Roman"/>
                <a:sym typeface="Times New Roman"/>
              </a:rPr>
              <a:t>INPUT RANGE (HIGH TO LOW)</a:t>
            </a:r>
            <a:endParaRPr b="1" i="0" sz="16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600"/>
              <a:buFont typeface="Noto Sans Symbols"/>
              <a:buChar char="⮚"/>
            </a:pPr>
            <a:r>
              <a:rPr b="1" lang="en-US" sz="1600">
                <a:solidFill>
                  <a:schemeClr val="dk1"/>
                </a:solidFill>
                <a:latin typeface="Times New Roman"/>
                <a:ea typeface="Times New Roman"/>
                <a:cs typeface="Times New Roman"/>
                <a:sym typeface="Times New Roman"/>
              </a:rPr>
              <a:t>INPUT PRICE PER SQFT</a:t>
            </a:r>
            <a:r>
              <a:rPr b="1" i="0" lang="en-US" sz="1600" u="none" cap="none" strike="noStrike">
                <a:solidFill>
                  <a:schemeClr val="dk1"/>
                </a:solidFill>
                <a:latin typeface="Times New Roman"/>
                <a:ea typeface="Times New Roman"/>
                <a:cs typeface="Times New Roman"/>
                <a:sym typeface="Times New Roman"/>
              </a:rPr>
              <a:t>                   </a:t>
            </a:r>
            <a:endParaRPr b="0" i="0" sz="1600" u="none" cap="none" strike="noStrike">
              <a:solidFill>
                <a:schemeClr val="dk1"/>
              </a:solidFill>
              <a:latin typeface="Times New Roman"/>
              <a:ea typeface="Times New Roman"/>
              <a:cs typeface="Times New Roman"/>
              <a:sym typeface="Times New Roman"/>
            </a:endParaRPr>
          </a:p>
          <a:p>
            <a:pPr indent="-184150" lvl="0" marL="28575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Deliverables of Sales Process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Offers in Writing:</a:t>
            </a:r>
            <a:r>
              <a:rPr b="1" i="0" lang="en-US" sz="1600" u="none" cap="none" strike="noStrike">
                <a:solidFill>
                  <a:schemeClr val="dk1"/>
                </a:solidFill>
                <a:latin typeface="Times New Roman"/>
                <a:ea typeface="Times New Roman"/>
                <a:cs typeface="Times New Roman"/>
                <a:sym typeface="Times New Roman"/>
              </a:rPr>
              <a:t> 5-10</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Property Tours:</a:t>
            </a:r>
            <a:r>
              <a:rPr b="1" i="0" lang="en-US" sz="1600" u="none" cap="none" strike="noStrike">
                <a:solidFill>
                  <a:schemeClr val="dk1"/>
                </a:solidFill>
                <a:latin typeface="Times New Roman"/>
                <a:ea typeface="Times New Roman"/>
                <a:cs typeface="Times New Roman"/>
                <a:sym typeface="Times New Roman"/>
              </a:rPr>
              <a:t> 10-15</a:t>
            </a:r>
            <a:endParaRPr b="0" i="0" sz="1400" u="none" cap="none" strike="noStrike">
              <a:solidFill>
                <a:srgbClr val="000000"/>
              </a:solidFill>
              <a:latin typeface="Arial"/>
              <a:ea typeface="Arial"/>
              <a:cs typeface="Arial"/>
              <a:sym typeface="Arial"/>
            </a:endParaRPr>
          </a:p>
          <a:p>
            <a:pPr indent="-184150" lvl="0" marL="28575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a:p>
            <a:pPr indent="-184150" lvl="0" marL="28575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Typical Transaction Timeline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Signed Contract: </a:t>
            </a:r>
            <a:r>
              <a:rPr b="1" i="0" lang="en-US" sz="1600" u="none" cap="none" strike="noStrike">
                <a:solidFill>
                  <a:schemeClr val="dk1"/>
                </a:solidFill>
                <a:latin typeface="Times New Roman"/>
                <a:ea typeface="Times New Roman"/>
                <a:cs typeface="Times New Roman"/>
                <a:sym typeface="Times New Roman"/>
              </a:rPr>
              <a:t>2 – 4 months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Closed Sale: </a:t>
            </a:r>
            <a:r>
              <a:rPr b="1" i="0" lang="en-US" sz="1600" u="none" cap="none" strike="noStrike">
                <a:solidFill>
                  <a:schemeClr val="dk1"/>
                </a:solidFill>
                <a:latin typeface="Times New Roman"/>
                <a:ea typeface="Times New Roman"/>
                <a:cs typeface="Times New Roman"/>
                <a:sym typeface="Times New Roman"/>
              </a:rPr>
              <a:t>3 – 5 months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Completed 1031 Exchange: </a:t>
            </a:r>
            <a:r>
              <a:rPr b="1" i="0" lang="en-US" sz="1600" u="none" cap="none" strike="noStrike">
                <a:solidFill>
                  <a:schemeClr val="dk1"/>
                </a:solidFill>
                <a:latin typeface="Times New Roman"/>
                <a:ea typeface="Times New Roman"/>
                <a:cs typeface="Times New Roman"/>
                <a:sym typeface="Times New Roman"/>
              </a:rPr>
              <a:t>5 – 7 months</a:t>
            </a:r>
            <a:endParaRPr b="0" i="0" sz="1400" u="none" cap="none" strike="noStrike">
              <a:solidFill>
                <a:srgbClr val="000000"/>
              </a:solidFill>
              <a:latin typeface="Arial"/>
              <a:ea typeface="Arial"/>
              <a:cs typeface="Arial"/>
              <a:sym typeface="Arial"/>
            </a:endParaRPr>
          </a:p>
          <a:p>
            <a:pPr indent="-184150" lvl="1" marL="285750" marR="0" rtl="0" algn="l">
              <a:lnSpc>
                <a:spcPct val="100000"/>
              </a:lnSpc>
              <a:spcBef>
                <a:spcPts val="0"/>
              </a:spcBef>
              <a:spcAft>
                <a:spcPts val="0"/>
              </a:spcAft>
              <a:buClr>
                <a:schemeClr val="dk1"/>
              </a:buClr>
              <a:buSzPts val="1600"/>
              <a:buFont typeface="Noto Sans Symbols"/>
              <a:buNone/>
            </a:pPr>
            <a:r>
              <a:t/>
            </a:r>
            <a:endParaRPr b="1" i="0" sz="1600" u="none" cap="none" strike="noStrike">
              <a:solidFill>
                <a:schemeClr val="dk1"/>
              </a:solidFill>
              <a:latin typeface="Times New Roman"/>
              <a:ea typeface="Times New Roman"/>
              <a:cs typeface="Times New Roman"/>
              <a:sym typeface="Times New Roman"/>
            </a:endParaRPr>
          </a:p>
          <a:p>
            <a:pPr indent="-184150" lvl="0" marL="285750" marR="0" rtl="0" algn="l">
              <a:lnSpc>
                <a:spcPct val="100000"/>
              </a:lnSpc>
              <a:spcBef>
                <a:spcPts val="80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pic>
        <p:nvPicPr>
          <p:cNvPr descr="Empire State Building - Wikipedia" id="167" name="Google Shape;167;p7"/>
          <p:cNvPicPr preferRelativeResize="0"/>
          <p:nvPr/>
        </p:nvPicPr>
        <p:blipFill rotWithShape="1">
          <a:blip r:embed="rId4">
            <a:alphaModFix/>
          </a:blip>
          <a:srcRect b="0" l="0" r="0" t="0"/>
          <a:stretch/>
        </p:blipFill>
        <p:spPr>
          <a:xfrm>
            <a:off x="6501158" y="681868"/>
            <a:ext cx="2270814" cy="5742745"/>
          </a:xfrm>
          <a:prstGeom prst="rect">
            <a:avLst/>
          </a:prstGeom>
          <a:noFill/>
          <a:ln>
            <a:noFill/>
          </a:ln>
        </p:spPr>
      </p:pic>
    </p:spTree>
  </p:cSld>
  <p:clrMapOvr>
    <a:masterClrMapping/>
  </p:clrMapOvr>
  <mc:AlternateContent>
    <mc:Choice Requires="p14">
      <p:transition spd="slow" p14:dur="15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8"/>
          <p:cNvSpPr/>
          <p:nvPr/>
        </p:nvSpPr>
        <p:spPr>
          <a:xfrm>
            <a:off x="0" y="1117484"/>
            <a:ext cx="9144000" cy="3682253"/>
          </a:xfrm>
          <a:custGeom>
            <a:rect b="b" l="l" r="r" t="t"/>
            <a:pathLst>
              <a:path extrusionOk="0" h="4173220" w="9317990">
                <a:moveTo>
                  <a:pt x="0" y="4172686"/>
                </a:moveTo>
                <a:lnTo>
                  <a:pt x="9317710" y="4172686"/>
                </a:lnTo>
                <a:lnTo>
                  <a:pt x="9317710" y="0"/>
                </a:lnTo>
                <a:lnTo>
                  <a:pt x="0" y="0"/>
                </a:lnTo>
                <a:lnTo>
                  <a:pt x="0" y="4172686"/>
                </a:lnTo>
                <a:close/>
              </a:path>
            </a:pathLst>
          </a:custGeom>
          <a:solidFill>
            <a:srgbClr val="000D26">
              <a:alpha val="94509"/>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88"/>
              <a:buFont typeface="Calibri"/>
              <a:buNone/>
            </a:pPr>
            <a:r>
              <a:t/>
            </a:r>
            <a:endParaRPr b="0" i="0" sz="1588" u="none" cap="none" strike="noStrike">
              <a:solidFill>
                <a:srgbClr val="000000"/>
              </a:solidFill>
              <a:latin typeface="Times New Roman"/>
              <a:ea typeface="Times New Roman"/>
              <a:cs typeface="Times New Roman"/>
              <a:sym typeface="Times New Roman"/>
            </a:endParaRPr>
          </a:p>
        </p:txBody>
      </p:sp>
      <p:sp>
        <p:nvSpPr>
          <p:cNvPr id="173" name="Google Shape;173;p8"/>
          <p:cNvSpPr txBox="1"/>
          <p:nvPr>
            <p:ph type="title"/>
          </p:nvPr>
        </p:nvSpPr>
        <p:spPr>
          <a:xfrm>
            <a:off x="-1" y="2324100"/>
            <a:ext cx="8267701" cy="716259"/>
          </a:xfrm>
          <a:prstGeom prst="rect">
            <a:avLst/>
          </a:prstGeom>
          <a:noFill/>
          <a:ln>
            <a:noFill/>
          </a:ln>
        </p:spPr>
        <p:txBody>
          <a:bodyPr anchorCtr="0" anchor="t" bIns="0" lIns="0" spcFirstLastPara="1" rIns="0" wrap="square" tIns="14000">
            <a:spAutoFit/>
          </a:bodyPr>
          <a:lstStyle/>
          <a:p>
            <a:pPr indent="0" lvl="0" marL="1289306" rtl="0" algn="r">
              <a:lnSpc>
                <a:spcPct val="197562"/>
              </a:lnSpc>
              <a:spcBef>
                <a:spcPts val="0"/>
              </a:spcBef>
              <a:spcAft>
                <a:spcPts val="0"/>
              </a:spcAft>
              <a:buSzPts val="1400"/>
              <a:buNone/>
            </a:pPr>
            <a:r>
              <a:rPr lang="en-US" sz="3200">
                <a:latin typeface="Times New Roman"/>
                <a:ea typeface="Times New Roman"/>
                <a:cs typeface="Times New Roman"/>
                <a:sym typeface="Times New Roman"/>
              </a:rPr>
              <a:t>Exit Strategies</a:t>
            </a:r>
            <a:endParaRPr sz="3200">
              <a:latin typeface="Times New Roman"/>
              <a:ea typeface="Times New Roman"/>
              <a:cs typeface="Times New Roman"/>
              <a:sym typeface="Times New Roman"/>
            </a:endParaRPr>
          </a:p>
        </p:txBody>
      </p:sp>
      <p:pic>
        <p:nvPicPr>
          <p:cNvPr descr="A close up of a logo&#10;&#10;Description generated with very high confidence" id="174" name="Google Shape;174;p8"/>
          <p:cNvPicPr preferRelativeResize="0"/>
          <p:nvPr/>
        </p:nvPicPr>
        <p:blipFill rotWithShape="1">
          <a:blip r:embed="rId3">
            <a:alphaModFix/>
          </a:blip>
          <a:srcRect b="0" l="0" r="0" t="0"/>
          <a:stretch/>
        </p:blipFill>
        <p:spPr>
          <a:xfrm>
            <a:off x="7255153" y="4250742"/>
            <a:ext cx="1491832" cy="552887"/>
          </a:xfrm>
          <a:prstGeom prst="rect">
            <a:avLst/>
          </a:prstGeom>
          <a:noFill/>
          <a:ln>
            <a:noFill/>
          </a:ln>
        </p:spPr>
      </p:pic>
      <p:sp>
        <p:nvSpPr>
          <p:cNvPr id="175" name="Google Shape;175;p8"/>
          <p:cNvSpPr/>
          <p:nvPr/>
        </p:nvSpPr>
        <p:spPr>
          <a:xfrm rot="5400000">
            <a:off x="4420161" y="-4259626"/>
            <a:ext cx="303679" cy="9144001"/>
          </a:xfrm>
          <a:custGeom>
            <a:rect b="b" l="l" r="r" t="t"/>
            <a:pathLst>
              <a:path extrusionOk="0" h="7772400" w="344170">
                <a:moveTo>
                  <a:pt x="0" y="7772400"/>
                </a:moveTo>
                <a:lnTo>
                  <a:pt x="343814" y="7772400"/>
                </a:lnTo>
                <a:lnTo>
                  <a:pt x="343814" y="0"/>
                </a:lnTo>
                <a:lnTo>
                  <a:pt x="0" y="0"/>
                </a:lnTo>
                <a:lnTo>
                  <a:pt x="0" y="7772400"/>
                </a:lnTo>
                <a:close/>
              </a:path>
            </a:pathLst>
          </a:custGeom>
          <a:solidFill>
            <a:srgbClr val="C8C8C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8"/>
              <a:buFont typeface="Arial"/>
              <a:buNone/>
            </a:pPr>
            <a:r>
              <a:t/>
            </a:r>
            <a:endParaRPr b="0" i="0" sz="1588" u="none" cap="none" strike="noStrike">
              <a:solidFill>
                <a:schemeClr val="dk1"/>
              </a:solidFill>
              <a:latin typeface="Times New Roman"/>
              <a:ea typeface="Times New Roman"/>
              <a:cs typeface="Times New Roman"/>
              <a:sym typeface="Times New Roman"/>
            </a:endParaRPr>
          </a:p>
        </p:txBody>
      </p:sp>
      <p:sp>
        <p:nvSpPr>
          <p:cNvPr id="176" name="Google Shape;176;p8"/>
          <p:cNvSpPr txBox="1"/>
          <p:nvPr/>
        </p:nvSpPr>
        <p:spPr>
          <a:xfrm>
            <a:off x="-44960" y="231583"/>
            <a:ext cx="9144002" cy="161583"/>
          </a:xfrm>
          <a:prstGeom prst="rect">
            <a:avLst/>
          </a:prstGeom>
          <a:noFill/>
          <a:ln>
            <a:noFill/>
          </a:ln>
        </p:spPr>
        <p:txBody>
          <a:bodyPr anchorCtr="0" anchor="ctr" bIns="0" lIns="0" spcFirstLastPara="1" rIns="0" wrap="square" tIns="11750">
            <a:spAutoFit/>
          </a:bodyPr>
          <a:lstStyle/>
          <a:p>
            <a:pPr indent="0" lvl="0" marL="10795" marR="0" rtl="0" algn="ctr">
              <a:lnSpc>
                <a:spcPct val="100000"/>
              </a:lnSpc>
              <a:spcBef>
                <a:spcPts val="0"/>
              </a:spcBef>
              <a:spcAft>
                <a:spcPts val="0"/>
              </a:spcAft>
              <a:buClr>
                <a:srgbClr val="000000"/>
              </a:buClr>
              <a:buSzPts val="1050"/>
              <a:buFont typeface="Arial"/>
              <a:buNone/>
            </a:pPr>
            <a:r>
              <a:rPr b="1" i="0" lang="en-US" sz="1050" u="none" cap="none" strike="noStrike">
                <a:solidFill>
                  <a:srgbClr val="414042"/>
                </a:solidFill>
                <a:latin typeface="Times New Roman"/>
                <a:ea typeface="Times New Roman"/>
                <a:cs typeface="Times New Roman"/>
                <a:sym typeface="Times New Roman"/>
              </a:rPr>
              <a:t>Stewart Group at Marcus &amp; Millichap</a:t>
            </a:r>
            <a:endParaRPr b="1" i="0" sz="1050" u="none" cap="none" strike="noStrike">
              <a:solidFill>
                <a:srgbClr val="414042"/>
              </a:solidFill>
              <a:latin typeface="Times New Roman"/>
              <a:ea typeface="Times New Roman"/>
              <a:cs typeface="Times New Roman"/>
              <a:sym typeface="Times New Roman"/>
            </a:endParaRPr>
          </a:p>
        </p:txBody>
      </p:sp>
    </p:spTree>
  </p:cSld>
  <p:clrMapOvr>
    <a:masterClrMapping/>
  </p:clrMapOvr>
  <mc:AlternateContent>
    <mc:Choice Requires="p14">
      <p:transition spd="slow" p14:dur="15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9"/>
          <p:cNvSpPr/>
          <p:nvPr/>
        </p:nvSpPr>
        <p:spPr>
          <a:xfrm>
            <a:off x="367553" y="815228"/>
            <a:ext cx="470647" cy="0"/>
          </a:xfrm>
          <a:custGeom>
            <a:rect b="b" l="l" r="r" t="t"/>
            <a:pathLst>
              <a:path extrusionOk="0" h="120000" w="533400">
                <a:moveTo>
                  <a:pt x="0" y="0"/>
                </a:moveTo>
                <a:lnTo>
                  <a:pt x="532853" y="0"/>
                </a:lnTo>
              </a:path>
            </a:pathLst>
          </a:custGeom>
          <a:noFill/>
          <a:ln cap="flat" cmpd="sng" w="19050">
            <a:solidFill>
              <a:srgbClr val="F3752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8"/>
              <a:buFont typeface="Arial"/>
              <a:buNone/>
            </a:pPr>
            <a:r>
              <a:t/>
            </a:r>
            <a:endParaRPr b="0" i="0" sz="1588" u="none" cap="none" strike="noStrike">
              <a:solidFill>
                <a:schemeClr val="dk1"/>
              </a:solidFill>
              <a:latin typeface="Times New Roman"/>
              <a:ea typeface="Times New Roman"/>
              <a:cs typeface="Times New Roman"/>
              <a:sym typeface="Times New Roman"/>
            </a:endParaRPr>
          </a:p>
        </p:txBody>
      </p:sp>
      <p:sp>
        <p:nvSpPr>
          <p:cNvPr id="182" name="Google Shape;182;p9"/>
          <p:cNvSpPr/>
          <p:nvPr/>
        </p:nvSpPr>
        <p:spPr>
          <a:xfrm>
            <a:off x="0" y="1117871"/>
            <a:ext cx="9055227" cy="4950073"/>
          </a:xfrm>
          <a:prstGeom prst="rect">
            <a:avLst/>
          </a:prstGeom>
          <a:noFill/>
          <a:ln>
            <a:noFill/>
          </a:ln>
        </p:spPr>
        <p:txBody>
          <a:bodyPr anchorCtr="0" anchor="t" bIns="45700" lIns="91425" spcFirstLastPara="1" rIns="91425" wrap="square" tIns="45700">
            <a:spAutoFit/>
          </a:bodyPr>
          <a:lstStyle/>
          <a:p>
            <a:pPr indent="0" lvl="1" marL="34290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Exit Strategy #1:  </a:t>
            </a:r>
            <a:r>
              <a:rPr b="0" i="0" lang="en-US" sz="1600" u="none" cap="none" strike="noStrike">
                <a:solidFill>
                  <a:schemeClr val="dk1"/>
                </a:solidFill>
                <a:latin typeface="Times New Roman"/>
                <a:ea typeface="Times New Roman"/>
                <a:cs typeface="Times New Roman"/>
                <a:sym typeface="Times New Roman"/>
              </a:rPr>
              <a:t>Sell  &gt;  Cash out  &gt;  Pay capital gains taxes</a:t>
            </a:r>
            <a:endParaRPr b="0" i="0" sz="1600" u="none" cap="none" strike="noStrike">
              <a:solidFill>
                <a:schemeClr val="dk1"/>
              </a:solidFill>
              <a:latin typeface="Times New Roman"/>
              <a:ea typeface="Times New Roman"/>
              <a:cs typeface="Times New Roman"/>
              <a:sym typeface="Times New Roman"/>
            </a:endParaRPr>
          </a:p>
          <a:p>
            <a:pPr indent="-342900" lvl="1" marL="685800" marR="0" rtl="0" algn="l">
              <a:lnSpc>
                <a:spcPct val="100000"/>
              </a:lnSpc>
              <a:spcBef>
                <a:spcPts val="1800"/>
              </a:spcBef>
              <a:spcAft>
                <a:spcPts val="0"/>
              </a:spcAft>
              <a:buClr>
                <a:schemeClr val="dk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Will refer in house legal advisors to price out potential cash out based on property's current cost basis.</a:t>
            </a:r>
            <a:endParaRPr b="0" i="0" sz="1400" u="none" cap="none" strike="noStrike">
              <a:solidFill>
                <a:srgbClr val="000000"/>
              </a:solidFill>
              <a:latin typeface="Arial"/>
              <a:ea typeface="Arial"/>
              <a:cs typeface="Arial"/>
              <a:sym typeface="Arial"/>
            </a:endParaRPr>
          </a:p>
          <a:p>
            <a:pPr indent="0" lvl="1" marL="342900" marR="0" rtl="0" algn="l">
              <a:lnSpc>
                <a:spcPct val="100000"/>
              </a:lnSpc>
              <a:spcBef>
                <a:spcPts val="1200"/>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Exit Strategy #2:  </a:t>
            </a:r>
            <a:r>
              <a:rPr b="0" i="0" lang="en-US" sz="1600" u="none" cap="none" strike="noStrike">
                <a:solidFill>
                  <a:schemeClr val="dk1"/>
                </a:solidFill>
                <a:latin typeface="Times New Roman"/>
                <a:ea typeface="Times New Roman"/>
                <a:cs typeface="Times New Roman"/>
                <a:sym typeface="Times New Roman"/>
              </a:rPr>
              <a:t>Sell  &gt;  1031 Exchange  &gt; Reinvest &amp; defer capital gains taxes</a:t>
            </a:r>
            <a:endParaRPr b="0" i="0" sz="1400" u="none" cap="none" strike="noStrike">
              <a:solidFill>
                <a:srgbClr val="000000"/>
              </a:solidFill>
              <a:latin typeface="Arial"/>
              <a:ea typeface="Arial"/>
              <a:cs typeface="Arial"/>
              <a:sym typeface="Arial"/>
            </a:endParaRPr>
          </a:p>
          <a:p>
            <a:pPr indent="-342900" lvl="1" marL="685800" marR="0" rtl="0" algn="l">
              <a:lnSpc>
                <a:spcPct val="100000"/>
              </a:lnSpc>
              <a:spcBef>
                <a:spcPts val="2000"/>
              </a:spcBef>
              <a:spcAft>
                <a:spcPts val="0"/>
              </a:spcAft>
              <a:buClr>
                <a:srgbClr val="ED7D3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Exchange into one property or more than one property. </a:t>
            </a:r>
            <a:endParaRPr b="0" i="0" sz="1600" u="none" cap="none" strike="noStrike">
              <a:solidFill>
                <a:schemeClr val="dk1"/>
              </a:solidFill>
              <a:latin typeface="Times New Roman"/>
              <a:ea typeface="Times New Roman"/>
              <a:cs typeface="Times New Roman"/>
              <a:sym typeface="Times New Roman"/>
            </a:endParaRPr>
          </a:p>
          <a:p>
            <a:pPr indent="-342900" lvl="1" marL="685800" marR="0" rtl="0" algn="l">
              <a:lnSpc>
                <a:spcPct val="100000"/>
              </a:lnSpc>
              <a:spcBef>
                <a:spcPts val="1200"/>
              </a:spcBef>
              <a:spcAft>
                <a:spcPts val="0"/>
              </a:spcAft>
              <a:buClr>
                <a:srgbClr val="ED7D3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Exchange into a property or properties in NYC or outside NYC.</a:t>
            </a:r>
            <a:endParaRPr b="0" i="0" sz="1400" u="none" cap="none" strike="noStrike">
              <a:solidFill>
                <a:srgbClr val="000000"/>
              </a:solidFill>
              <a:latin typeface="Arial"/>
              <a:ea typeface="Arial"/>
              <a:cs typeface="Arial"/>
              <a:sym typeface="Arial"/>
            </a:endParaRPr>
          </a:p>
          <a:p>
            <a:pPr indent="-342900" lvl="1" marL="685800" marR="0" rtl="0" algn="l">
              <a:lnSpc>
                <a:spcPct val="100000"/>
              </a:lnSpc>
              <a:spcBef>
                <a:spcPts val="1200"/>
              </a:spcBef>
              <a:spcAft>
                <a:spcPts val="0"/>
              </a:spcAft>
              <a:buClr>
                <a:srgbClr val="ED7D3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Exchange partially into a condo, a coop or a vacation home.</a:t>
            </a:r>
            <a:endParaRPr b="0" i="0" sz="1400" u="none" cap="none" strike="noStrike">
              <a:solidFill>
                <a:srgbClr val="000000"/>
              </a:solidFill>
              <a:latin typeface="Arial"/>
              <a:ea typeface="Arial"/>
              <a:cs typeface="Arial"/>
              <a:sym typeface="Arial"/>
            </a:endParaRPr>
          </a:p>
          <a:p>
            <a:pPr indent="-342900" lvl="1" marL="685800" marR="0" rtl="0" algn="l">
              <a:lnSpc>
                <a:spcPct val="100000"/>
              </a:lnSpc>
              <a:spcBef>
                <a:spcPts val="1200"/>
              </a:spcBef>
              <a:spcAft>
                <a:spcPts val="0"/>
              </a:spcAft>
              <a:buClr>
                <a:srgbClr val="ED7D3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Exchange into income-producing properties.</a:t>
            </a:r>
            <a:endParaRPr b="0" i="0" sz="1400" u="none" cap="none" strike="noStrike">
              <a:solidFill>
                <a:srgbClr val="000000"/>
              </a:solidFill>
              <a:latin typeface="Arial"/>
              <a:ea typeface="Arial"/>
              <a:cs typeface="Arial"/>
              <a:sym typeface="Arial"/>
            </a:endParaRPr>
          </a:p>
          <a:p>
            <a:pPr indent="-342900" lvl="1" marL="685800" marR="0" rtl="0" algn="l">
              <a:lnSpc>
                <a:spcPct val="100000"/>
              </a:lnSpc>
              <a:spcBef>
                <a:spcPts val="1200"/>
              </a:spcBef>
              <a:spcAft>
                <a:spcPts val="0"/>
              </a:spcAft>
              <a:buClr>
                <a:srgbClr val="ED7D3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Exchange into management intensive or management-free properties (NNN properties).</a:t>
            </a:r>
            <a:endParaRPr b="0" i="0" sz="1400" u="none" cap="none" strike="noStrike">
              <a:solidFill>
                <a:srgbClr val="000000"/>
              </a:solidFill>
              <a:latin typeface="Arial"/>
              <a:ea typeface="Arial"/>
              <a:cs typeface="Arial"/>
              <a:sym typeface="Arial"/>
            </a:endParaRPr>
          </a:p>
          <a:p>
            <a:pPr indent="-342900" lvl="1" marL="685800" marR="0" rtl="0" algn="l">
              <a:lnSpc>
                <a:spcPct val="100000"/>
              </a:lnSpc>
              <a:spcBef>
                <a:spcPts val="1200"/>
              </a:spcBef>
              <a:spcAft>
                <a:spcPts val="0"/>
              </a:spcAft>
              <a:buClr>
                <a:srgbClr val="ED7D3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Exchange into a bigger property using a mortgage.</a:t>
            </a:r>
            <a:endParaRPr b="0" i="0" sz="1400" u="none" cap="none" strike="noStrike">
              <a:solidFill>
                <a:srgbClr val="000000"/>
              </a:solidFill>
              <a:latin typeface="Arial"/>
              <a:ea typeface="Arial"/>
              <a:cs typeface="Arial"/>
              <a:sym typeface="Arial"/>
            </a:endParaRPr>
          </a:p>
          <a:p>
            <a:pPr indent="-184150" lvl="1" marL="628650" marR="0" rtl="0" algn="l">
              <a:lnSpc>
                <a:spcPct val="100000"/>
              </a:lnSpc>
              <a:spcBef>
                <a:spcPts val="1200"/>
              </a:spcBef>
              <a:spcAft>
                <a:spcPts val="0"/>
              </a:spcAft>
              <a:buClr>
                <a:srgbClr val="ED7D3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a:p>
            <a:pPr indent="0" lvl="1" marL="342900" marR="0" rtl="0" algn="ctr">
              <a:lnSpc>
                <a:spcPct val="100000"/>
              </a:lnSpc>
              <a:spcBef>
                <a:spcPts val="1200"/>
              </a:spcBef>
              <a:spcAft>
                <a:spcPts val="0"/>
              </a:spcAft>
              <a:buClr>
                <a:srgbClr val="000000"/>
              </a:buClr>
              <a:buSzPts val="1400"/>
              <a:buFont typeface="Arial"/>
              <a:buNone/>
            </a:pPr>
            <a:r>
              <a:rPr b="0" i="1" lang="en-US" sz="1400" u="none" cap="none" strike="noStrike">
                <a:solidFill>
                  <a:schemeClr val="dk1"/>
                </a:solidFill>
                <a:latin typeface="Times New Roman"/>
                <a:ea typeface="Times New Roman"/>
                <a:cs typeface="Times New Roman"/>
                <a:sym typeface="Times New Roman"/>
              </a:rPr>
              <a:t>If a 1031 exchange is pursued, we work in concert with 1031 and NNN specialists to manage the process through to completion. NNN specialists will find properties around the country that best fit client specifications.</a:t>
            </a:r>
            <a:endParaRPr b="0" i="0" sz="1400" u="none" cap="none" strike="noStrike">
              <a:solidFill>
                <a:srgbClr val="000000"/>
              </a:solidFill>
              <a:latin typeface="Arial"/>
              <a:ea typeface="Arial"/>
              <a:cs typeface="Arial"/>
              <a:sym typeface="Arial"/>
            </a:endParaRPr>
          </a:p>
        </p:txBody>
      </p:sp>
      <p:pic>
        <p:nvPicPr>
          <p:cNvPr descr="A close up of a logo&#10;&#10;Description generated with very high confidence" id="183" name="Google Shape;183;p9"/>
          <p:cNvPicPr preferRelativeResize="0"/>
          <p:nvPr/>
        </p:nvPicPr>
        <p:blipFill rotWithShape="1">
          <a:blip r:embed="rId3">
            <a:alphaModFix/>
          </a:blip>
          <a:srcRect b="0" l="0" r="0" t="0"/>
          <a:stretch/>
        </p:blipFill>
        <p:spPr>
          <a:xfrm>
            <a:off x="371935" y="6255136"/>
            <a:ext cx="1454182" cy="543754"/>
          </a:xfrm>
          <a:prstGeom prst="rect">
            <a:avLst/>
          </a:prstGeom>
          <a:noFill/>
          <a:ln>
            <a:noFill/>
          </a:ln>
        </p:spPr>
      </p:pic>
      <p:sp>
        <p:nvSpPr>
          <p:cNvPr id="184" name="Google Shape;184;p9"/>
          <p:cNvSpPr/>
          <p:nvPr/>
        </p:nvSpPr>
        <p:spPr>
          <a:xfrm rot="5400000">
            <a:off x="4420161" y="-4259626"/>
            <a:ext cx="303679" cy="9144001"/>
          </a:xfrm>
          <a:custGeom>
            <a:rect b="b" l="l" r="r" t="t"/>
            <a:pathLst>
              <a:path extrusionOk="0" h="7772400" w="344170">
                <a:moveTo>
                  <a:pt x="0" y="7772400"/>
                </a:moveTo>
                <a:lnTo>
                  <a:pt x="343814" y="7772400"/>
                </a:lnTo>
                <a:lnTo>
                  <a:pt x="343814" y="0"/>
                </a:lnTo>
                <a:lnTo>
                  <a:pt x="0" y="0"/>
                </a:lnTo>
                <a:lnTo>
                  <a:pt x="0" y="7772400"/>
                </a:lnTo>
                <a:close/>
              </a:path>
            </a:pathLst>
          </a:custGeom>
          <a:solidFill>
            <a:srgbClr val="C8C8C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8"/>
              <a:buFont typeface="Arial"/>
              <a:buNone/>
            </a:pPr>
            <a:r>
              <a:t/>
            </a:r>
            <a:endParaRPr b="0" i="0" sz="1588" u="none" cap="none" strike="noStrike">
              <a:solidFill>
                <a:schemeClr val="dk1"/>
              </a:solidFill>
              <a:latin typeface="Times New Roman"/>
              <a:ea typeface="Times New Roman"/>
              <a:cs typeface="Times New Roman"/>
              <a:sym typeface="Times New Roman"/>
            </a:endParaRPr>
          </a:p>
        </p:txBody>
      </p:sp>
      <p:sp>
        <p:nvSpPr>
          <p:cNvPr id="185" name="Google Shape;185;p9"/>
          <p:cNvSpPr txBox="1"/>
          <p:nvPr/>
        </p:nvSpPr>
        <p:spPr>
          <a:xfrm>
            <a:off x="-44960" y="231583"/>
            <a:ext cx="9144002" cy="161583"/>
          </a:xfrm>
          <a:prstGeom prst="rect">
            <a:avLst/>
          </a:prstGeom>
          <a:noFill/>
          <a:ln>
            <a:noFill/>
          </a:ln>
        </p:spPr>
        <p:txBody>
          <a:bodyPr anchorCtr="0" anchor="ctr" bIns="0" lIns="0" spcFirstLastPara="1" rIns="0" wrap="square" tIns="11750">
            <a:spAutoFit/>
          </a:bodyPr>
          <a:lstStyle/>
          <a:p>
            <a:pPr indent="0" lvl="0" marL="10795" marR="0" rtl="0" algn="ctr">
              <a:lnSpc>
                <a:spcPct val="100000"/>
              </a:lnSpc>
              <a:spcBef>
                <a:spcPts val="0"/>
              </a:spcBef>
              <a:spcAft>
                <a:spcPts val="0"/>
              </a:spcAft>
              <a:buClr>
                <a:srgbClr val="000000"/>
              </a:buClr>
              <a:buSzPts val="1050"/>
              <a:buFont typeface="Arial"/>
              <a:buNone/>
            </a:pPr>
            <a:r>
              <a:rPr b="1" i="0" lang="en-US" sz="1050" u="none" cap="none" strike="noStrike">
                <a:solidFill>
                  <a:srgbClr val="414042"/>
                </a:solidFill>
                <a:latin typeface="Times New Roman"/>
                <a:ea typeface="Times New Roman"/>
                <a:cs typeface="Times New Roman"/>
                <a:sym typeface="Times New Roman"/>
              </a:rPr>
              <a:t>Stewart Group at Marcus &amp; Millichap</a:t>
            </a:r>
            <a:endParaRPr b="1" i="0" sz="1050" u="none" cap="none" strike="noStrike">
              <a:solidFill>
                <a:srgbClr val="414042"/>
              </a:solidFill>
              <a:latin typeface="Times New Roman"/>
              <a:ea typeface="Times New Roman"/>
              <a:cs typeface="Times New Roman"/>
              <a:sym typeface="Times New Roman"/>
            </a:endParaRPr>
          </a:p>
        </p:txBody>
      </p:sp>
    </p:spTree>
  </p:cSld>
  <p:clrMapOvr>
    <a:masterClrMapping/>
  </p:clrMapOvr>
  <mc:AlternateContent>
    <mc:Choice Requires="p14">
      <p:transition spd="slow" p14:dur="15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0" st="0"/>
                                            </p:txEl>
                                          </p:spTgt>
                                        </p:tgtEl>
                                        <p:attrNameLst>
                                          <p:attrName>style.visibility</p:attrName>
                                        </p:attrNameLst>
                                      </p:cBhvr>
                                      <p:to>
                                        <p:strVal val="visible"/>
                                      </p:to>
                                    </p:set>
                                    <p:animEffect filter="fade" transition="in">
                                      <p:cBhvr>
                                        <p:cTn dur="1500"/>
                                        <p:tgtEl>
                                          <p:spTgt spid="18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1" st="1"/>
                                            </p:txEl>
                                          </p:spTgt>
                                        </p:tgtEl>
                                        <p:attrNameLst>
                                          <p:attrName>style.visibility</p:attrName>
                                        </p:attrNameLst>
                                      </p:cBhvr>
                                      <p:to>
                                        <p:strVal val="visible"/>
                                      </p:to>
                                    </p:set>
                                    <p:animEffect filter="fade" transition="in">
                                      <p:cBhvr>
                                        <p:cTn dur="1500"/>
                                        <p:tgtEl>
                                          <p:spTgt spid="18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2" st="2"/>
                                            </p:txEl>
                                          </p:spTgt>
                                        </p:tgtEl>
                                        <p:attrNameLst>
                                          <p:attrName>style.visibility</p:attrName>
                                        </p:attrNameLst>
                                      </p:cBhvr>
                                      <p:to>
                                        <p:strVal val="visible"/>
                                      </p:to>
                                    </p:set>
                                    <p:animEffect filter="fade" transition="in">
                                      <p:cBhvr>
                                        <p:cTn dur="1500"/>
                                        <p:tgtEl>
                                          <p:spTgt spid="18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3" st="3"/>
                                            </p:txEl>
                                          </p:spTgt>
                                        </p:tgtEl>
                                        <p:attrNameLst>
                                          <p:attrName>style.visibility</p:attrName>
                                        </p:attrNameLst>
                                      </p:cBhvr>
                                      <p:to>
                                        <p:strVal val="visible"/>
                                      </p:to>
                                    </p:set>
                                    <p:animEffect filter="fade" transition="in">
                                      <p:cBhvr>
                                        <p:cTn dur="1500"/>
                                        <p:tgtEl>
                                          <p:spTgt spid="18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4" st="4"/>
                                            </p:txEl>
                                          </p:spTgt>
                                        </p:tgtEl>
                                        <p:attrNameLst>
                                          <p:attrName>style.visibility</p:attrName>
                                        </p:attrNameLst>
                                      </p:cBhvr>
                                      <p:to>
                                        <p:strVal val="visible"/>
                                      </p:to>
                                    </p:set>
                                    <p:animEffect filter="fade" transition="in">
                                      <p:cBhvr>
                                        <p:cTn dur="1500"/>
                                        <p:tgtEl>
                                          <p:spTgt spid="18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5" st="5"/>
                                            </p:txEl>
                                          </p:spTgt>
                                        </p:tgtEl>
                                        <p:attrNameLst>
                                          <p:attrName>style.visibility</p:attrName>
                                        </p:attrNameLst>
                                      </p:cBhvr>
                                      <p:to>
                                        <p:strVal val="visible"/>
                                      </p:to>
                                    </p:set>
                                    <p:animEffect filter="fade" transition="in">
                                      <p:cBhvr>
                                        <p:cTn dur="1500"/>
                                        <p:tgtEl>
                                          <p:spTgt spid="18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6" st="6"/>
                                            </p:txEl>
                                          </p:spTgt>
                                        </p:tgtEl>
                                        <p:attrNameLst>
                                          <p:attrName>style.visibility</p:attrName>
                                        </p:attrNameLst>
                                      </p:cBhvr>
                                      <p:to>
                                        <p:strVal val="visible"/>
                                      </p:to>
                                    </p:set>
                                    <p:animEffect filter="fade" transition="in">
                                      <p:cBhvr>
                                        <p:cTn dur="1500"/>
                                        <p:tgtEl>
                                          <p:spTgt spid="18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7" st="7"/>
                                            </p:txEl>
                                          </p:spTgt>
                                        </p:tgtEl>
                                        <p:attrNameLst>
                                          <p:attrName>style.visibility</p:attrName>
                                        </p:attrNameLst>
                                      </p:cBhvr>
                                      <p:to>
                                        <p:strVal val="visible"/>
                                      </p:to>
                                    </p:set>
                                    <p:animEffect filter="fade" transition="in">
                                      <p:cBhvr>
                                        <p:cTn dur="1500"/>
                                        <p:tgtEl>
                                          <p:spTgt spid="18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8" st="8"/>
                                            </p:txEl>
                                          </p:spTgt>
                                        </p:tgtEl>
                                        <p:attrNameLst>
                                          <p:attrName>style.visibility</p:attrName>
                                        </p:attrNameLst>
                                      </p:cBhvr>
                                      <p:to>
                                        <p:strVal val="visible"/>
                                      </p:to>
                                    </p:set>
                                    <p:animEffect filter="fade" transition="in">
                                      <p:cBhvr>
                                        <p:cTn dur="1500"/>
                                        <p:tgtEl>
                                          <p:spTgt spid="18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9" st="9"/>
                                            </p:txEl>
                                          </p:spTgt>
                                        </p:tgtEl>
                                        <p:attrNameLst>
                                          <p:attrName>style.visibility</p:attrName>
                                        </p:attrNameLst>
                                      </p:cBhvr>
                                      <p:to>
                                        <p:strVal val="visible"/>
                                      </p:to>
                                    </p:set>
                                    <p:animEffect filter="fade" transition="in">
                                      <p:cBhvr>
                                        <p:cTn dur="1500"/>
                                        <p:tgtEl>
                                          <p:spTgt spid="18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10" st="10"/>
                                            </p:txEl>
                                          </p:spTgt>
                                        </p:tgtEl>
                                        <p:attrNameLst>
                                          <p:attrName>style.visibility</p:attrName>
                                        </p:attrNameLst>
                                      </p:cBhvr>
                                      <p:to>
                                        <p:strVal val="visible"/>
                                      </p:to>
                                    </p:set>
                                    <p:animEffect filter="fade" transition="in">
                                      <p:cBhvr>
                                        <p:cTn dur="1500"/>
                                        <p:tgtEl>
                                          <p:spTgt spid="182">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0"/>
          <p:cNvSpPr/>
          <p:nvPr/>
        </p:nvSpPr>
        <p:spPr>
          <a:xfrm>
            <a:off x="601322" y="459146"/>
            <a:ext cx="2382383" cy="584775"/>
          </a:xfrm>
          <a:prstGeom prst="rect">
            <a:avLst/>
          </a:prstGeom>
          <a:noFill/>
          <a:ln>
            <a:noFill/>
          </a:ln>
        </p:spPr>
        <p:txBody>
          <a:bodyPr anchorCtr="0" anchor="t" bIns="45700" lIns="91425" spcFirstLastPara="1" rIns="91425" wrap="square" tIns="45700">
            <a:spAutoFit/>
          </a:bodyPr>
          <a:lstStyle/>
          <a:p>
            <a:pPr indent="-285115" lvl="0" marL="285115" marR="0" rtl="0" algn="l">
              <a:lnSpc>
                <a:spcPct val="100000"/>
              </a:lnSpc>
              <a:spcBef>
                <a:spcPts val="0"/>
              </a:spcBef>
              <a:spcAft>
                <a:spcPts val="0"/>
              </a:spcAft>
              <a:buClr>
                <a:srgbClr val="000000"/>
              </a:buClr>
              <a:buSzPts val="3200"/>
              <a:buFont typeface="Arial"/>
              <a:buNone/>
            </a:pPr>
            <a:r>
              <a:rPr b="1" i="0" lang="en-US" sz="3200" u="none" cap="small" strike="noStrike">
                <a:solidFill>
                  <a:srgbClr val="1F325C"/>
                </a:solidFill>
                <a:latin typeface="Times New Roman"/>
                <a:ea typeface="Times New Roman"/>
                <a:cs typeface="Times New Roman"/>
                <a:sym typeface="Times New Roman"/>
              </a:rPr>
              <a:t>Case Study</a:t>
            </a:r>
            <a:endParaRPr b="0" i="0" sz="1800" u="none" cap="none" strike="noStrike">
              <a:solidFill>
                <a:schemeClr val="dk1"/>
              </a:solidFill>
              <a:latin typeface="Calibri"/>
              <a:ea typeface="Calibri"/>
              <a:cs typeface="Calibri"/>
              <a:sym typeface="Calibri"/>
            </a:endParaRPr>
          </a:p>
        </p:txBody>
      </p:sp>
      <p:pic>
        <p:nvPicPr>
          <p:cNvPr descr="Several buildings in a city&#10;&#10;AI-generated content may be incorrect." id="191" name="Google Shape;191;p10"/>
          <p:cNvPicPr preferRelativeResize="0"/>
          <p:nvPr/>
        </p:nvPicPr>
        <p:blipFill rotWithShape="1">
          <a:blip r:embed="rId3">
            <a:alphaModFix/>
          </a:blip>
          <a:srcRect b="0" l="0" r="0" t="0"/>
          <a:stretch/>
        </p:blipFill>
        <p:spPr>
          <a:xfrm>
            <a:off x="437892" y="1046206"/>
            <a:ext cx="5086350" cy="2819400"/>
          </a:xfrm>
          <a:prstGeom prst="rect">
            <a:avLst/>
          </a:prstGeom>
          <a:noFill/>
          <a:ln>
            <a:noFill/>
          </a:ln>
        </p:spPr>
      </p:pic>
      <p:sp>
        <p:nvSpPr>
          <p:cNvPr id="192" name="Google Shape;192;p10"/>
          <p:cNvSpPr txBox="1"/>
          <p:nvPr/>
        </p:nvSpPr>
        <p:spPr>
          <a:xfrm>
            <a:off x="325748" y="4170530"/>
            <a:ext cx="6048881" cy="2739211"/>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400"/>
              <a:buFont typeface="Noto Sans Symbols"/>
              <a:buChar char="⮚"/>
            </a:pPr>
            <a:r>
              <a:rPr b="0" i="0" lang="en-US" sz="1400" u="none" cap="none" strike="noStrike">
                <a:solidFill>
                  <a:schemeClr val="dk1"/>
                </a:solidFill>
                <a:latin typeface="Times New Roman"/>
                <a:ea typeface="Times New Roman"/>
                <a:cs typeface="Times New Roman"/>
                <a:sym typeface="Times New Roman"/>
              </a:rPr>
              <a:t>The owner decided to sell their building after thirty years of ownership.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400"/>
              <a:buFont typeface="Noto Sans Symbols"/>
              <a:buChar char="⮚"/>
            </a:pPr>
            <a:r>
              <a:rPr b="0" i="0" lang="en-US" sz="1400" u="none" cap="none" strike="noStrike">
                <a:solidFill>
                  <a:schemeClr val="dk1"/>
                </a:solidFill>
                <a:latin typeface="Times New Roman"/>
                <a:ea typeface="Times New Roman"/>
                <a:cs typeface="Times New Roman"/>
                <a:sym typeface="Times New Roman"/>
              </a:rPr>
              <a:t>The owner exchanged into two Net-Lease properties in two different states.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400"/>
              <a:buFont typeface="Noto Sans Symbols"/>
              <a:buChar char="⮚"/>
            </a:pPr>
            <a:r>
              <a:rPr b="0" i="0" lang="en-US" sz="1400" u="none" cap="none" strike="noStrike">
                <a:solidFill>
                  <a:schemeClr val="dk1"/>
                </a:solidFill>
                <a:latin typeface="Times New Roman"/>
                <a:ea typeface="Times New Roman"/>
                <a:cs typeface="Times New Roman"/>
                <a:sym typeface="Times New Roman"/>
              </a:rPr>
              <a:t>Long-term leases and minimal to no management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400"/>
              <a:buFont typeface="Noto Sans Symbols"/>
              <a:buChar char="⮚"/>
            </a:pPr>
            <a:r>
              <a:rPr b="0" i="0" lang="en-US" sz="1400" u="none" cap="none" strike="noStrike">
                <a:solidFill>
                  <a:schemeClr val="dk1"/>
                </a:solidFill>
                <a:latin typeface="Times New Roman"/>
                <a:ea typeface="Times New Roman"/>
                <a:cs typeface="Times New Roman"/>
                <a:sym typeface="Times New Roman"/>
              </a:rPr>
              <a:t>The owner reinvested all $2,300,000 that would have been owed to the IRS for capital gains taxes.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chemeClr val="dk1"/>
              </a:buClr>
              <a:buSzPts val="1400"/>
              <a:buFont typeface="Noto Sans Symbols"/>
              <a:buChar char="⮚"/>
            </a:pPr>
            <a:r>
              <a:rPr b="0" i="0" lang="en-US" sz="1400" u="none" cap="none" strike="noStrike">
                <a:solidFill>
                  <a:schemeClr val="dk1"/>
                </a:solidFill>
                <a:latin typeface="Times New Roman"/>
                <a:ea typeface="Times New Roman"/>
                <a:cs typeface="Times New Roman"/>
                <a:sym typeface="Times New Roman"/>
              </a:rPr>
              <a:t>The owner adds more than $110,000 to their annual net income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1" sz="1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A blue background with white text&#10;&#10;AI-generated content may be incorrect." id="193" name="Google Shape;193;p10"/>
          <p:cNvPicPr preferRelativeResize="0"/>
          <p:nvPr/>
        </p:nvPicPr>
        <p:blipFill rotWithShape="1">
          <a:blip r:embed="rId4">
            <a:alphaModFix/>
          </a:blip>
          <a:srcRect b="0" l="0" r="0" t="0"/>
          <a:stretch/>
        </p:blipFill>
        <p:spPr>
          <a:xfrm>
            <a:off x="6714223" y="576262"/>
            <a:ext cx="1914525" cy="5705475"/>
          </a:xfrm>
          <a:prstGeom prst="rect">
            <a:avLst/>
          </a:prstGeom>
          <a:noFill/>
          <a:ln>
            <a:noFill/>
          </a:ln>
        </p:spPr>
      </p:pic>
      <p:sp>
        <p:nvSpPr>
          <p:cNvPr id="194" name="Google Shape;194;p10"/>
          <p:cNvSpPr/>
          <p:nvPr/>
        </p:nvSpPr>
        <p:spPr>
          <a:xfrm rot="5400000">
            <a:off x="4420161" y="-4259626"/>
            <a:ext cx="303679" cy="9144001"/>
          </a:xfrm>
          <a:custGeom>
            <a:rect b="b" l="l" r="r" t="t"/>
            <a:pathLst>
              <a:path extrusionOk="0" h="7772400" w="344170">
                <a:moveTo>
                  <a:pt x="0" y="7772400"/>
                </a:moveTo>
                <a:lnTo>
                  <a:pt x="343814" y="7772400"/>
                </a:lnTo>
                <a:lnTo>
                  <a:pt x="343814" y="0"/>
                </a:lnTo>
                <a:lnTo>
                  <a:pt x="0" y="0"/>
                </a:lnTo>
                <a:lnTo>
                  <a:pt x="0" y="7772400"/>
                </a:lnTo>
                <a:close/>
              </a:path>
            </a:pathLst>
          </a:custGeom>
          <a:solidFill>
            <a:srgbClr val="C8C8C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8"/>
              <a:buFont typeface="Arial"/>
              <a:buNone/>
            </a:pPr>
            <a:r>
              <a:t/>
            </a:r>
            <a:endParaRPr b="0" i="0" sz="1588" u="none" cap="none" strike="noStrike">
              <a:solidFill>
                <a:schemeClr val="dk1"/>
              </a:solidFill>
              <a:latin typeface="Times New Roman"/>
              <a:ea typeface="Times New Roman"/>
              <a:cs typeface="Times New Roman"/>
              <a:sym typeface="Times New Roman"/>
            </a:endParaRPr>
          </a:p>
        </p:txBody>
      </p:sp>
      <p:sp>
        <p:nvSpPr>
          <p:cNvPr id="195" name="Google Shape;195;p10"/>
          <p:cNvSpPr txBox="1"/>
          <p:nvPr/>
        </p:nvSpPr>
        <p:spPr>
          <a:xfrm>
            <a:off x="-44960" y="231583"/>
            <a:ext cx="9144002" cy="161583"/>
          </a:xfrm>
          <a:prstGeom prst="rect">
            <a:avLst/>
          </a:prstGeom>
          <a:noFill/>
          <a:ln>
            <a:noFill/>
          </a:ln>
        </p:spPr>
        <p:txBody>
          <a:bodyPr anchorCtr="0" anchor="ctr" bIns="0" lIns="0" spcFirstLastPara="1" rIns="0" wrap="square" tIns="11750">
            <a:spAutoFit/>
          </a:bodyPr>
          <a:lstStyle/>
          <a:p>
            <a:pPr indent="0" lvl="0" marL="10795" marR="0" rtl="0" algn="ctr">
              <a:lnSpc>
                <a:spcPct val="100000"/>
              </a:lnSpc>
              <a:spcBef>
                <a:spcPts val="0"/>
              </a:spcBef>
              <a:spcAft>
                <a:spcPts val="0"/>
              </a:spcAft>
              <a:buClr>
                <a:srgbClr val="000000"/>
              </a:buClr>
              <a:buSzPts val="1050"/>
              <a:buFont typeface="Arial"/>
              <a:buNone/>
            </a:pPr>
            <a:r>
              <a:rPr b="1" i="0" lang="en-US" sz="1050" u="none" cap="none" strike="noStrike">
                <a:solidFill>
                  <a:srgbClr val="414042"/>
                </a:solidFill>
                <a:latin typeface="Times New Roman"/>
                <a:ea typeface="Times New Roman"/>
                <a:cs typeface="Times New Roman"/>
                <a:sym typeface="Times New Roman"/>
              </a:rPr>
              <a:t>Stewart Group at Marcus &amp; Millichap</a:t>
            </a:r>
            <a:endParaRPr b="1" i="0" sz="1050" u="none" cap="none" strike="noStrike">
              <a:solidFill>
                <a:srgbClr val="414042"/>
              </a:solidFill>
              <a:latin typeface="Times New Roman"/>
              <a:ea typeface="Times New Roman"/>
              <a:cs typeface="Times New Roman"/>
              <a:sym typeface="Times New Roman"/>
            </a:endParaRPr>
          </a:p>
        </p:txBody>
      </p:sp>
    </p:spTree>
  </p:cSld>
  <p:clrMapOvr>
    <a:masterClrMapping/>
  </p:clrMapOvr>
  <mc:AlternateContent>
    <mc:Choice Requires="p14">
      <p:transition spd="slow" p14:dur="15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1"/>
          <p:cNvSpPr txBox="1"/>
          <p:nvPr/>
        </p:nvSpPr>
        <p:spPr>
          <a:xfrm>
            <a:off x="8077200" y="6210300"/>
            <a:ext cx="1066800" cy="6477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A close up of a logo&#10;&#10;Description generated with very high confidence" id="201" name="Google Shape;201;p11"/>
          <p:cNvPicPr preferRelativeResize="0"/>
          <p:nvPr/>
        </p:nvPicPr>
        <p:blipFill rotWithShape="1">
          <a:blip r:embed="rId3">
            <a:alphaModFix/>
          </a:blip>
          <a:srcRect b="0" l="0" r="0" t="0"/>
          <a:stretch/>
        </p:blipFill>
        <p:spPr>
          <a:xfrm>
            <a:off x="3846252" y="6214854"/>
            <a:ext cx="1454182" cy="543754"/>
          </a:xfrm>
          <a:prstGeom prst="rect">
            <a:avLst/>
          </a:prstGeom>
          <a:noFill/>
          <a:ln>
            <a:noFill/>
          </a:ln>
        </p:spPr>
      </p:pic>
      <p:sp>
        <p:nvSpPr>
          <p:cNvPr id="202" name="Google Shape;202;p11"/>
          <p:cNvSpPr/>
          <p:nvPr/>
        </p:nvSpPr>
        <p:spPr>
          <a:xfrm rot="5400000">
            <a:off x="4420161" y="-4259626"/>
            <a:ext cx="303679" cy="9144001"/>
          </a:xfrm>
          <a:custGeom>
            <a:rect b="b" l="l" r="r" t="t"/>
            <a:pathLst>
              <a:path extrusionOk="0" h="7772400" w="344170">
                <a:moveTo>
                  <a:pt x="0" y="7772400"/>
                </a:moveTo>
                <a:lnTo>
                  <a:pt x="343814" y="7772400"/>
                </a:lnTo>
                <a:lnTo>
                  <a:pt x="343814" y="0"/>
                </a:lnTo>
                <a:lnTo>
                  <a:pt x="0" y="0"/>
                </a:lnTo>
                <a:lnTo>
                  <a:pt x="0" y="7772400"/>
                </a:lnTo>
                <a:close/>
              </a:path>
            </a:pathLst>
          </a:custGeom>
          <a:solidFill>
            <a:srgbClr val="C8C8C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8"/>
              <a:buFont typeface="Arial"/>
              <a:buNone/>
            </a:pPr>
            <a:r>
              <a:t/>
            </a:r>
            <a:endParaRPr b="0" i="0" sz="1588" u="none" cap="none" strike="noStrike">
              <a:solidFill>
                <a:schemeClr val="dk1"/>
              </a:solidFill>
              <a:latin typeface="Times New Roman"/>
              <a:ea typeface="Times New Roman"/>
              <a:cs typeface="Times New Roman"/>
              <a:sym typeface="Times New Roman"/>
            </a:endParaRPr>
          </a:p>
        </p:txBody>
      </p:sp>
      <p:sp>
        <p:nvSpPr>
          <p:cNvPr id="203" name="Google Shape;203;p11"/>
          <p:cNvSpPr txBox="1"/>
          <p:nvPr/>
        </p:nvSpPr>
        <p:spPr>
          <a:xfrm>
            <a:off x="-44960" y="231583"/>
            <a:ext cx="9144002" cy="161583"/>
          </a:xfrm>
          <a:prstGeom prst="rect">
            <a:avLst/>
          </a:prstGeom>
          <a:noFill/>
          <a:ln>
            <a:noFill/>
          </a:ln>
        </p:spPr>
        <p:txBody>
          <a:bodyPr anchorCtr="0" anchor="ctr" bIns="0" lIns="0" spcFirstLastPara="1" rIns="0" wrap="square" tIns="11750">
            <a:spAutoFit/>
          </a:bodyPr>
          <a:lstStyle/>
          <a:p>
            <a:pPr indent="0" lvl="0" marL="10795" marR="0" rtl="0" algn="ctr">
              <a:lnSpc>
                <a:spcPct val="100000"/>
              </a:lnSpc>
              <a:spcBef>
                <a:spcPts val="0"/>
              </a:spcBef>
              <a:spcAft>
                <a:spcPts val="0"/>
              </a:spcAft>
              <a:buClr>
                <a:srgbClr val="000000"/>
              </a:buClr>
              <a:buSzPts val="1050"/>
              <a:buFont typeface="Arial"/>
              <a:buNone/>
            </a:pPr>
            <a:r>
              <a:rPr b="1" i="0" lang="en-US" sz="1050" u="none" cap="none" strike="noStrike">
                <a:solidFill>
                  <a:srgbClr val="414042"/>
                </a:solidFill>
                <a:latin typeface="Times New Roman"/>
                <a:ea typeface="Times New Roman"/>
                <a:cs typeface="Times New Roman"/>
                <a:sym typeface="Times New Roman"/>
              </a:rPr>
              <a:t>Stewart Group at Marcus &amp; Millichap</a:t>
            </a:r>
            <a:endParaRPr b="1" i="0" sz="1050" u="none" cap="none" strike="noStrike">
              <a:solidFill>
                <a:srgbClr val="414042"/>
              </a:solidFill>
              <a:latin typeface="Times New Roman"/>
              <a:ea typeface="Times New Roman"/>
              <a:cs typeface="Times New Roman"/>
              <a:sym typeface="Times New Roman"/>
            </a:endParaRPr>
          </a:p>
        </p:txBody>
      </p:sp>
      <p:sp>
        <p:nvSpPr>
          <p:cNvPr id="204" name="Google Shape;204;p11"/>
          <p:cNvSpPr/>
          <p:nvPr/>
        </p:nvSpPr>
        <p:spPr>
          <a:xfrm>
            <a:off x="0" y="1162641"/>
            <a:ext cx="9155043" cy="1718603"/>
          </a:xfrm>
          <a:custGeom>
            <a:rect b="b" l="l" r="r" t="t"/>
            <a:pathLst>
              <a:path extrusionOk="0" h="4173220" w="9317990">
                <a:moveTo>
                  <a:pt x="0" y="4172686"/>
                </a:moveTo>
                <a:lnTo>
                  <a:pt x="9317710" y="4172686"/>
                </a:lnTo>
                <a:lnTo>
                  <a:pt x="9317710" y="0"/>
                </a:lnTo>
                <a:lnTo>
                  <a:pt x="0" y="0"/>
                </a:lnTo>
                <a:lnTo>
                  <a:pt x="0" y="4172686"/>
                </a:lnTo>
                <a:close/>
              </a:path>
            </a:pathLst>
          </a:custGeom>
          <a:solidFill>
            <a:srgbClr val="000D26">
              <a:alpha val="94509"/>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8"/>
              <a:buFont typeface="Arial"/>
              <a:buNone/>
            </a:pPr>
            <a:r>
              <a:t/>
            </a:r>
            <a:endParaRPr b="0" i="0" sz="1588" u="none" cap="none" strike="noStrike">
              <a:solidFill>
                <a:srgbClr val="000000"/>
              </a:solidFill>
              <a:latin typeface="Times New Roman"/>
              <a:ea typeface="Times New Roman"/>
              <a:cs typeface="Times New Roman"/>
              <a:sym typeface="Times New Roman"/>
            </a:endParaRPr>
          </a:p>
        </p:txBody>
      </p:sp>
      <p:sp>
        <p:nvSpPr>
          <p:cNvPr id="205" name="Google Shape;205;p11"/>
          <p:cNvSpPr txBox="1"/>
          <p:nvPr/>
        </p:nvSpPr>
        <p:spPr>
          <a:xfrm>
            <a:off x="1165087" y="1342961"/>
            <a:ext cx="3194770" cy="16004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37522"/>
                </a:solidFill>
                <a:latin typeface="Times New Roman"/>
                <a:ea typeface="Times New Roman"/>
                <a:cs typeface="Times New Roman"/>
                <a:sym typeface="Times New Roman"/>
              </a:rPr>
              <a:t>JOHN J. STEWART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Times New Roman"/>
                <a:ea typeface="Times New Roman"/>
                <a:cs typeface="Times New Roman"/>
                <a:sym typeface="Times New Roman"/>
              </a:rPr>
              <a:t>Senior Vice President Investments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Times New Roman"/>
                <a:ea typeface="Times New Roman"/>
                <a:cs typeface="Times New Roman"/>
                <a:sym typeface="Times New Roman"/>
              </a:rPr>
              <a:t>Associate Broker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Times New Roman"/>
                <a:ea typeface="Times New Roman"/>
                <a:cs typeface="Times New Roman"/>
                <a:sym typeface="Times New Roman"/>
              </a:rPr>
              <a:t>Office: (212) 430-5152</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Times New Roman"/>
                <a:ea typeface="Times New Roman"/>
                <a:cs typeface="Times New Roman"/>
                <a:sym typeface="Times New Roman"/>
              </a:rPr>
              <a:t>Cell-Phone: (917) 292-7388</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Times New Roman"/>
                <a:ea typeface="Times New Roman"/>
                <a:cs typeface="Times New Roman"/>
                <a:sym typeface="Times New Roman"/>
              </a:rPr>
              <a:t>John.Stewart@MarcusMillichap.com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p:txBody>
      </p:sp>
      <p:sp>
        <p:nvSpPr>
          <p:cNvPr id="206" name="Google Shape;206;p11"/>
          <p:cNvSpPr txBox="1"/>
          <p:nvPr/>
        </p:nvSpPr>
        <p:spPr>
          <a:xfrm>
            <a:off x="4843725" y="1312183"/>
            <a:ext cx="3194770" cy="16004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37522"/>
                </a:solidFill>
                <a:latin typeface="Times New Roman"/>
                <a:ea typeface="Times New Roman"/>
                <a:cs typeface="Times New Roman"/>
                <a:sym typeface="Times New Roman"/>
              </a:rPr>
              <a:t>DYLAN TOREY</a:t>
            </a:r>
            <a:r>
              <a:rPr b="0" i="0" lang="en-US" sz="14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Times New Roman"/>
                <a:ea typeface="Times New Roman"/>
                <a:cs typeface="Times New Roman"/>
                <a:sym typeface="Times New Roman"/>
              </a:rPr>
              <a:t>Senior Associate</a:t>
            </a:r>
            <a:r>
              <a:rPr b="0" i="0" lang="en-US" sz="14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Times New Roman"/>
                <a:ea typeface="Times New Roman"/>
                <a:cs typeface="Times New Roman"/>
                <a:sym typeface="Times New Roman"/>
              </a:rPr>
              <a:t>Real Estate Salesperson</a:t>
            </a:r>
            <a:r>
              <a:rPr b="0" i="0" lang="en-US" sz="14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Times New Roman"/>
                <a:ea typeface="Times New Roman"/>
                <a:cs typeface="Times New Roman"/>
                <a:sym typeface="Times New Roman"/>
              </a:rPr>
              <a:t>Office: (646) 805-1444</a:t>
            </a:r>
            <a:r>
              <a:rPr b="0" i="0" lang="en-US" sz="14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Times New Roman"/>
                <a:ea typeface="Times New Roman"/>
                <a:cs typeface="Times New Roman"/>
                <a:sym typeface="Times New Roman"/>
              </a:rPr>
              <a:t>Cell-Phone: (203) 984-4588</a:t>
            </a:r>
            <a:r>
              <a:rPr b="0" i="0" lang="en-US" sz="14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Times New Roman"/>
                <a:ea typeface="Times New Roman"/>
                <a:cs typeface="Times New Roman"/>
                <a:sym typeface="Times New Roman"/>
              </a:rPr>
              <a:t>Dylan.Torey@MarcusMillichap.com</a:t>
            </a:r>
            <a:endParaRPr b="0" i="0" sz="1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p:txBody>
      </p:sp>
      <p:sp>
        <p:nvSpPr>
          <p:cNvPr id="207" name="Google Shape;207;p11"/>
          <p:cNvSpPr/>
          <p:nvPr/>
        </p:nvSpPr>
        <p:spPr>
          <a:xfrm>
            <a:off x="-22086" y="3680553"/>
            <a:ext cx="9177130" cy="1751733"/>
          </a:xfrm>
          <a:custGeom>
            <a:rect b="b" l="l" r="r" t="t"/>
            <a:pathLst>
              <a:path extrusionOk="0" h="4173220" w="9317990">
                <a:moveTo>
                  <a:pt x="0" y="4172686"/>
                </a:moveTo>
                <a:lnTo>
                  <a:pt x="9317710" y="4172686"/>
                </a:lnTo>
                <a:lnTo>
                  <a:pt x="9317710" y="0"/>
                </a:lnTo>
                <a:lnTo>
                  <a:pt x="0" y="0"/>
                </a:lnTo>
                <a:lnTo>
                  <a:pt x="0" y="4172686"/>
                </a:lnTo>
                <a:close/>
              </a:path>
            </a:pathLst>
          </a:custGeom>
          <a:solidFill>
            <a:srgbClr val="000D26">
              <a:alpha val="94509"/>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8"/>
              <a:buFont typeface="Arial"/>
              <a:buNone/>
            </a:pPr>
            <a:r>
              <a:t/>
            </a:r>
            <a:endParaRPr b="0" i="0" sz="1588" u="none" cap="none" strike="noStrike">
              <a:solidFill>
                <a:srgbClr val="000000"/>
              </a:solidFill>
              <a:latin typeface="Times New Roman"/>
              <a:ea typeface="Times New Roman"/>
              <a:cs typeface="Times New Roman"/>
              <a:sym typeface="Times New Roman"/>
            </a:endParaRPr>
          </a:p>
        </p:txBody>
      </p:sp>
      <p:sp>
        <p:nvSpPr>
          <p:cNvPr id="208" name="Google Shape;208;p11"/>
          <p:cNvSpPr txBox="1"/>
          <p:nvPr/>
        </p:nvSpPr>
        <p:spPr>
          <a:xfrm>
            <a:off x="1149683" y="3835616"/>
            <a:ext cx="3200292" cy="16004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37522"/>
                </a:solidFill>
                <a:latin typeface="Times New Roman"/>
                <a:ea typeface="Times New Roman"/>
                <a:cs typeface="Times New Roman"/>
                <a:sym typeface="Times New Roman"/>
              </a:rPr>
              <a:t>OLIVIA SCIALLA</a:t>
            </a:r>
            <a:endParaRPr b="0" i="0" sz="18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Times New Roman"/>
                <a:ea typeface="Times New Roman"/>
                <a:cs typeface="Times New Roman"/>
                <a:sym typeface="Times New Roman"/>
              </a:rPr>
              <a:t>Associate</a:t>
            </a:r>
            <a:r>
              <a:rPr b="0" i="0" lang="en-US" sz="14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Times New Roman"/>
                <a:ea typeface="Times New Roman"/>
                <a:cs typeface="Times New Roman"/>
                <a:sym typeface="Times New Roman"/>
              </a:rPr>
              <a:t>Real Estate Salesperson</a:t>
            </a:r>
            <a:r>
              <a:rPr b="0" i="0" lang="en-US" sz="14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Times New Roman"/>
                <a:ea typeface="Times New Roman"/>
                <a:cs typeface="Times New Roman"/>
                <a:sym typeface="Times New Roman"/>
              </a:rPr>
              <a:t>Office: (212) 430 - 5187</a:t>
            </a:r>
            <a:endParaRPr b="0" i="0" sz="1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Times New Roman"/>
                <a:ea typeface="Times New Roman"/>
                <a:cs typeface="Times New Roman"/>
                <a:sym typeface="Times New Roman"/>
              </a:rPr>
              <a:t>Cell-Phone: (973) 479 - 7505</a:t>
            </a:r>
            <a:r>
              <a:rPr b="0" i="0" lang="en-US" sz="14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Times New Roman"/>
                <a:ea typeface="Times New Roman"/>
                <a:cs typeface="Times New Roman"/>
                <a:sym typeface="Times New Roman"/>
              </a:rPr>
              <a:t>Olivia.Scialla@MarcusMillichap.com</a:t>
            </a:r>
            <a:endParaRPr b="0" i="0" sz="1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p:txBody>
      </p:sp>
      <p:sp>
        <p:nvSpPr>
          <p:cNvPr id="209" name="Google Shape;209;p11"/>
          <p:cNvSpPr txBox="1"/>
          <p:nvPr/>
        </p:nvSpPr>
        <p:spPr>
          <a:xfrm>
            <a:off x="4839361" y="3845632"/>
            <a:ext cx="3178206" cy="15696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37522"/>
                </a:solidFill>
                <a:latin typeface="Times New Roman"/>
                <a:ea typeface="Times New Roman"/>
                <a:cs typeface="Times New Roman"/>
                <a:sym typeface="Times New Roman"/>
              </a:rPr>
              <a:t>THOMAS WINDELS</a:t>
            </a:r>
            <a:endParaRPr b="0" i="0" sz="1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Times New Roman"/>
                <a:ea typeface="Times New Roman"/>
                <a:cs typeface="Times New Roman"/>
                <a:sym typeface="Times New Roman"/>
              </a:rPr>
              <a:t>Associate</a:t>
            </a:r>
            <a:r>
              <a:rPr b="0" i="0" lang="en-US" sz="14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Times New Roman"/>
                <a:ea typeface="Times New Roman"/>
                <a:cs typeface="Times New Roman"/>
                <a:sym typeface="Times New Roman"/>
              </a:rPr>
              <a:t>Real Estate Salesperson</a:t>
            </a:r>
            <a:r>
              <a:rPr b="0" i="0" lang="en-US" sz="14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Times New Roman"/>
                <a:ea typeface="Times New Roman"/>
                <a:cs typeface="Times New Roman"/>
                <a:sym typeface="Times New Roman"/>
              </a:rPr>
              <a:t>Office: (212) 430-5118</a:t>
            </a:r>
            <a:endParaRPr b="0" i="0" sz="1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Times New Roman"/>
                <a:ea typeface="Times New Roman"/>
                <a:cs typeface="Times New Roman"/>
                <a:sym typeface="Times New Roman"/>
              </a:rPr>
              <a:t>Cell-Phone: (347) 563-2284</a:t>
            </a:r>
            <a:endParaRPr b="0" i="0" sz="1400" u="none" cap="none" strike="noStrike">
              <a:solidFill>
                <a:srgbClr val="000000"/>
              </a:solidFill>
              <a:latin typeface="Quattrocento Sans"/>
              <a:ea typeface="Quattrocento Sans"/>
              <a:cs typeface="Quattrocento Sans"/>
              <a:sym typeface="Quattrocento Sans"/>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Times New Roman"/>
                <a:ea typeface="Times New Roman"/>
                <a:cs typeface="Times New Roman"/>
                <a:sym typeface="Times New Roman"/>
              </a:rPr>
              <a:t>Thomas.Windels@MarcusMillichap.com</a:t>
            </a:r>
            <a:endParaRPr b="0" i="0" sz="1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15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2016-07-25T15:17:53Z</dcterms:created>
  <dc:creator>Glaze, Margaret</dc:creator>
</cp:coreProperties>
</file>